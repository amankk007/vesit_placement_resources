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Advent Pro SemiBold"/>
      <p:regular r:id="rId24"/>
      <p:bold r:id="rId25"/>
      <p:italic r:id="rId26"/>
      <p:boldItalic r:id="rId27"/>
    </p:embeddedFont>
    <p:embeddedFont>
      <p:font typeface="Fira Sans Extra Condensed Medium"/>
      <p:regular r:id="rId28"/>
      <p:bold r:id="rId29"/>
      <p:italic r:id="rId30"/>
      <p:boldItalic r:id="rId31"/>
    </p:embeddedFont>
    <p:embeddedFont>
      <p:font typeface="Fira Sans Condensed Medium"/>
      <p:regular r:id="rId32"/>
      <p:bold r:id="rId33"/>
      <p:italic r:id="rId34"/>
      <p:boldItalic r:id="rId35"/>
    </p:embeddedFont>
    <p:embeddedFont>
      <p:font typeface="Maven Pro"/>
      <p:regular r:id="rId36"/>
      <p:bold r:id="rId37"/>
    </p:embeddedFont>
    <p:embeddedFont>
      <p:font typeface="Share Tech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E4FFB6-0174-41E3-A667-2C1791E316FC}">
  <a:tblStyle styleId="{3BE4FFB6-0174-41E3-A667-2C1791E316F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dventProSemiBold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dventProSemiBold-italic.fntdata"/><Relationship Id="rId25" Type="http://schemas.openxmlformats.org/officeDocument/2006/relationships/font" Target="fonts/AdventProSemiBold-bold.fntdata"/><Relationship Id="rId28" Type="http://schemas.openxmlformats.org/officeDocument/2006/relationships/font" Target="fonts/FiraSansExtraCondensedMedium-regular.fntdata"/><Relationship Id="rId27" Type="http://schemas.openxmlformats.org/officeDocument/2006/relationships/font" Target="fonts/AdventPro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ExtraCondensed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ExtraCondensedMedium-boldItalic.fntdata"/><Relationship Id="rId30" Type="http://schemas.openxmlformats.org/officeDocument/2006/relationships/font" Target="fonts/FiraSansExtraCondensedMedium-italic.fntdata"/><Relationship Id="rId11" Type="http://schemas.openxmlformats.org/officeDocument/2006/relationships/slide" Target="slides/slide5.xml"/><Relationship Id="rId33" Type="http://schemas.openxmlformats.org/officeDocument/2006/relationships/font" Target="fonts/FiraSansCondensedMedium-bold.fntdata"/><Relationship Id="rId10" Type="http://schemas.openxmlformats.org/officeDocument/2006/relationships/slide" Target="slides/slide4.xml"/><Relationship Id="rId32" Type="http://schemas.openxmlformats.org/officeDocument/2006/relationships/font" Target="fonts/FiraSansCondensedMedium-regular.fntdata"/><Relationship Id="rId13" Type="http://schemas.openxmlformats.org/officeDocument/2006/relationships/slide" Target="slides/slide7.xml"/><Relationship Id="rId35" Type="http://schemas.openxmlformats.org/officeDocument/2006/relationships/font" Target="fonts/FiraSansCondensed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FiraSansCondensedMedium-italic.fntdata"/><Relationship Id="rId15" Type="http://schemas.openxmlformats.org/officeDocument/2006/relationships/slide" Target="slides/slide9.xml"/><Relationship Id="rId37" Type="http://schemas.openxmlformats.org/officeDocument/2006/relationships/font" Target="fonts/MavenPro-bold.fntdata"/><Relationship Id="rId14" Type="http://schemas.openxmlformats.org/officeDocument/2006/relationships/slide" Target="slides/slide8.xml"/><Relationship Id="rId36" Type="http://schemas.openxmlformats.org/officeDocument/2006/relationships/font" Target="fonts/MavenPr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ShareTech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f38d8870d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1f38d8870d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10f2751367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10f2751367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f44b47d10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1f44b47d10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f38d8870d7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1f38d8870d7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f39178303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f39178303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f38d8870d7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1f38d8870d7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f3917830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1f3917830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f451e071e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1f451e071e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10f2751367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210f2751367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10f2751367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210f2751367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f39178303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1f39178303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f39178303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1f39178303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10f275136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210f275136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10f2751367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210f2751367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f44b47d1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1f44b47d1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10f2751367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10f2751367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f451e071e2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1f451e071e2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3"/>
          <p:cNvSpPr txBox="1"/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3"/>
          <p:cNvSpPr txBox="1"/>
          <p:nvPr>
            <p:ph hasCustomPrompt="1" idx="2" type="title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0" name="Google Shape;80;p5"/>
          <p:cNvSpPr txBox="1"/>
          <p:nvPr>
            <p:ph idx="1" type="subTitle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2" type="ctrTitle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2" name="Google Shape;82;p5"/>
          <p:cNvSpPr txBox="1"/>
          <p:nvPr>
            <p:ph idx="3" type="subTitle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3" name="Google Shape;83;p5"/>
          <p:cNvSpPr txBox="1"/>
          <p:nvPr>
            <p:ph idx="4" type="ctrTitle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7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08" name="Google Shape;108;p7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7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3" name="Google Shape;113;p7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7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8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26" name="Google Shape;126;p8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8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778504" y="2156778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8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133" name="Google Shape;133;p8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36" name="Google Shape;136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8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39" name="Google Shape;139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42" name="Google Shape;142;p8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8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47" name="Google Shape;147;p8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8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8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2" name="Google Shape;152;p8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55" name="Google Shape;155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8"/>
          <p:cNvSpPr/>
          <p:nvPr/>
        </p:nvSpPr>
        <p:spPr>
          <a:xfrm>
            <a:off x="2702019" y="1158651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8"/>
          <p:cNvGrpSpPr/>
          <p:nvPr/>
        </p:nvGrpSpPr>
        <p:grpSpPr>
          <a:xfrm>
            <a:off x="4095146" y="-859690"/>
            <a:ext cx="199001" cy="2139769"/>
            <a:chOff x="8008096" y="2108910"/>
            <a:chExt cx="199001" cy="2139769"/>
          </a:xfrm>
        </p:grpSpPr>
        <p:sp>
          <p:nvSpPr>
            <p:cNvPr id="159" name="Google Shape;159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8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2" name="Google Shape;162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8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5" name="Google Shape;165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8"/>
          <p:cNvSpPr/>
          <p:nvPr/>
        </p:nvSpPr>
        <p:spPr>
          <a:xfrm>
            <a:off x="5539523" y="4516718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994217" y="3378784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1" name="Google Shape;17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2" name="Google Shape;17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7" name="Google Shape;177;p11"/>
          <p:cNvSpPr txBox="1"/>
          <p:nvPr>
            <p:ph idx="1" type="subTitle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11"/>
          <p:cNvSpPr/>
          <p:nvPr/>
        </p:nvSpPr>
        <p:spPr>
          <a:xfrm>
            <a:off x="1621169" y="2890613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238740" y="210688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1"/>
          <p:cNvGrpSpPr/>
          <p:nvPr/>
        </p:nvGrpSpPr>
        <p:grpSpPr>
          <a:xfrm>
            <a:off x="8217007" y="3576772"/>
            <a:ext cx="188886" cy="1181531"/>
            <a:chOff x="2877432" y="975334"/>
            <a:chExt cx="188886" cy="1181531"/>
          </a:xfrm>
        </p:grpSpPr>
        <p:sp>
          <p:nvSpPr>
            <p:cNvPr id="184" name="Google Shape;184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1"/>
          <p:cNvSpPr/>
          <p:nvPr/>
        </p:nvSpPr>
        <p:spPr>
          <a:xfrm>
            <a:off x="8718796" y="116488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11"/>
          <p:cNvGrpSpPr/>
          <p:nvPr/>
        </p:nvGrpSpPr>
        <p:grpSpPr>
          <a:xfrm>
            <a:off x="7519346" y="3243318"/>
            <a:ext cx="98059" cy="1147596"/>
            <a:chOff x="3347921" y="16006"/>
            <a:chExt cx="98059" cy="1147596"/>
          </a:xfrm>
        </p:grpSpPr>
        <p:sp>
          <p:nvSpPr>
            <p:cNvPr id="189" name="Google Shape;189;p11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11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2" name="Google Shape;192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95" name="Google Shape;195;p11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11"/>
          <p:cNvSpPr/>
          <p:nvPr/>
        </p:nvSpPr>
        <p:spPr>
          <a:xfrm>
            <a:off x="8307214" y="-383977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11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2" name="Google Shape;202;p11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11"/>
          <p:cNvSpPr/>
          <p:nvPr/>
        </p:nvSpPr>
        <p:spPr>
          <a:xfrm>
            <a:off x="7582340" y="183453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11"/>
          <p:cNvGrpSpPr/>
          <p:nvPr/>
        </p:nvGrpSpPr>
        <p:grpSpPr>
          <a:xfrm>
            <a:off x="4920170" y="-496491"/>
            <a:ext cx="188886" cy="1181531"/>
            <a:chOff x="2877432" y="975334"/>
            <a:chExt cx="188886" cy="1181531"/>
          </a:xfrm>
        </p:grpSpPr>
        <p:sp>
          <p:nvSpPr>
            <p:cNvPr id="206" name="Google Shape;206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11"/>
          <p:cNvSpPr/>
          <p:nvPr/>
        </p:nvSpPr>
        <p:spPr>
          <a:xfrm>
            <a:off x="7084804" y="549572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11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1" name="Google Shape;211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11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4" name="Google Shape;214;p11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/>
          <p:nvPr>
            <p:ph hasCustomPrompt="1" type="title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9" name="Google Shape;219;p12"/>
          <p:cNvSpPr txBox="1"/>
          <p:nvPr>
            <p:ph idx="1" type="body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12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1" name="Google Shape;221;p12"/>
            <p:cNvSpPr/>
            <p:nvPr/>
          </p:nvSpPr>
          <p:spPr>
            <a:xfrm>
              <a:off x="6067275" y="838825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4703850" y="911275"/>
              <a:ext cx="2580700" cy="613375"/>
            </a:xfrm>
            <a:custGeom>
              <a:rect b="b" l="l" r="r" t="t"/>
              <a:pathLst>
                <a:path extrusionOk="0" h="24535" w="103228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4704175" y="930800"/>
              <a:ext cx="2582575" cy="595725"/>
            </a:xfrm>
            <a:custGeom>
              <a:rect b="b" l="l" r="r" t="t"/>
              <a:pathLst>
                <a:path extrusionOk="0" h="23829" w="103303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4904225" y="11459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5062350" y="1316075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5209475" y="1350400"/>
              <a:ext cx="39725" cy="39725"/>
            </a:xfrm>
            <a:custGeom>
              <a:rect b="b" l="l" r="r" t="t"/>
              <a:pathLst>
                <a:path extrusionOk="0" h="1589" w="1589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173875" y="12489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5352500" y="938375"/>
              <a:ext cx="46000" cy="39500"/>
            </a:xfrm>
            <a:custGeom>
              <a:rect b="b" l="l" r="r" t="t"/>
              <a:pathLst>
                <a:path extrusionOk="0" h="1580" w="184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5722650" y="1358275"/>
              <a:ext cx="46000" cy="39525"/>
            </a:xfrm>
            <a:custGeom>
              <a:rect b="b" l="l" r="r" t="t"/>
              <a:pathLst>
                <a:path extrusionOk="0" h="1581" w="184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5859350" y="11573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6131225" y="10609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6358050" y="91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6510200" y="11283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6708025" y="1051150"/>
              <a:ext cx="46025" cy="39425"/>
            </a:xfrm>
            <a:custGeom>
              <a:rect b="b" l="l" r="r" t="t"/>
              <a:pathLst>
                <a:path extrusionOk="0" h="1577" w="1841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7033125" y="12448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4898850" y="131355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5551575" y="12348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5887400" y="907725"/>
              <a:ext cx="45075" cy="39575"/>
            </a:xfrm>
            <a:custGeom>
              <a:rect b="b" l="l" r="r" t="t"/>
              <a:pathLst>
                <a:path extrusionOk="0" h="1583" w="1803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6166200" y="1209275"/>
              <a:ext cx="39700" cy="39725"/>
            </a:xfrm>
            <a:custGeom>
              <a:rect b="b" l="l" r="r" t="t"/>
              <a:pathLst>
                <a:path extrusionOk="0" h="1589" w="1588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6373800" y="138065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6594950" y="134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6731025" y="1382850"/>
              <a:ext cx="46025" cy="39475"/>
            </a:xfrm>
            <a:custGeom>
              <a:rect b="b" l="l" r="r" t="t"/>
              <a:pathLst>
                <a:path extrusionOk="0" h="1579" w="1841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6891700" y="11163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7059275" y="10354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4708275" y="856450"/>
              <a:ext cx="2575650" cy="667875"/>
            </a:xfrm>
            <a:custGeom>
              <a:rect b="b" l="l" r="r" t="t"/>
              <a:pathLst>
                <a:path extrusionOk="0" h="26715" w="103026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4558950" y="1523350"/>
              <a:ext cx="2813800" cy="3825"/>
            </a:xfrm>
            <a:custGeom>
              <a:rect b="b" l="l" r="r" t="t"/>
              <a:pathLst>
                <a:path extrusionOk="0" h="153" w="112552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4967225" y="14187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5101172" y="992325"/>
              <a:ext cx="42875" cy="39850"/>
            </a:xfrm>
            <a:custGeom>
              <a:rect b="b" l="l" r="r" t="t"/>
              <a:pathLst>
                <a:path extrusionOk="0" h="1594" w="1715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5364775" y="11362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5581825" y="976800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5838875" y="10360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6316150" y="113840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6675275" y="123007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6863325" y="967025"/>
              <a:ext cx="46350" cy="39350"/>
            </a:xfrm>
            <a:custGeom>
              <a:rect b="b" l="l" r="r" t="t"/>
              <a:pathLst>
                <a:path extrusionOk="0" h="1574" w="1854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6956275" y="132300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58" name="Google Shape;258;p13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69" name="Google Shape;269;p13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0" name="Google Shape;270;p13"/>
          <p:cNvSpPr txBox="1"/>
          <p:nvPr>
            <p:ph hasCustomPrompt="1"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2" name="Google Shape;272;p13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3" name="Google Shape;273;p13"/>
          <p:cNvSpPr txBox="1"/>
          <p:nvPr>
            <p:ph hasCustomPrompt="1"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5" name="Google Shape;275;p13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hasCustomPrompt="1"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/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0" name="Google Shape;280;p14"/>
          <p:cNvSpPr txBox="1"/>
          <p:nvPr>
            <p:ph idx="1" type="subTitle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1" name="Google Shape;281;p14"/>
          <p:cNvSpPr txBox="1"/>
          <p:nvPr>
            <p:ph idx="2" type="ctrTitle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2" name="Google Shape;282;p14"/>
          <p:cNvSpPr txBox="1"/>
          <p:nvPr>
            <p:ph idx="3" type="subTitle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3" name="Google Shape;283;p14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14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88" name="Google Shape;288;p1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14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 txBox="1"/>
          <p:nvPr>
            <p:ph idx="4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1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99" name="Google Shape;299;p1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1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 txBox="1"/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" type="subTitle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5" name="Google Shape;305;p15"/>
          <p:cNvSpPr txBox="1"/>
          <p:nvPr>
            <p:ph idx="2" type="ctrTitle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6" name="Google Shape;306;p15"/>
          <p:cNvSpPr txBox="1"/>
          <p:nvPr>
            <p:ph idx="3" type="subTitle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7" name="Google Shape;307;p15"/>
          <p:cNvSpPr txBox="1"/>
          <p:nvPr>
            <p:ph idx="4" type="ctrTitle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8" name="Google Shape;308;p15"/>
          <p:cNvSpPr txBox="1"/>
          <p:nvPr>
            <p:ph idx="5" type="subTitle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9" name="Google Shape;309;p15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2" name="Google Shape;312;p16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3" name="Google Shape;313;p16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4" name="Google Shape;314;p16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5" name="Google Shape;315;p16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6" name="Google Shape;316;p16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4" name="Google Shape;324;p1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/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5" name="Google Shape;335;p17"/>
          <p:cNvSpPr txBox="1"/>
          <p:nvPr>
            <p:ph idx="1" type="subTitle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6" name="Google Shape;336;p17"/>
          <p:cNvSpPr txBox="1"/>
          <p:nvPr>
            <p:ph idx="2" type="ctrTitle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7" name="Google Shape;337;p17"/>
          <p:cNvSpPr txBox="1"/>
          <p:nvPr>
            <p:ph idx="3" type="subTitle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8" name="Google Shape;338;p17"/>
          <p:cNvSpPr txBox="1"/>
          <p:nvPr>
            <p:ph idx="4" type="ctrTitle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9" name="Google Shape;339;p17"/>
          <p:cNvSpPr txBox="1"/>
          <p:nvPr>
            <p:ph idx="5" type="subTitle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0" name="Google Shape;340;p17"/>
          <p:cNvSpPr txBox="1"/>
          <p:nvPr>
            <p:ph idx="6" type="ctrTitle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7" type="subTitle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43" name="Google Shape;343;p17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 txBox="1"/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5" name="Google Shape;355;p18"/>
          <p:cNvSpPr txBox="1"/>
          <p:nvPr>
            <p:ph idx="1" type="subTitle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6" name="Google Shape;356;p18"/>
          <p:cNvSpPr txBox="1"/>
          <p:nvPr>
            <p:ph idx="2" type="ctrTitle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7" name="Google Shape;357;p18"/>
          <p:cNvSpPr txBox="1"/>
          <p:nvPr>
            <p:ph idx="3" type="subTitle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8" name="Google Shape;358;p18"/>
          <p:cNvSpPr txBox="1"/>
          <p:nvPr>
            <p:ph idx="4" type="ctrTitle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18"/>
          <p:cNvSpPr txBox="1"/>
          <p:nvPr>
            <p:ph idx="5" type="subTitle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p18"/>
          <p:cNvSpPr txBox="1"/>
          <p:nvPr>
            <p:ph idx="6" type="ctrTitle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p18"/>
          <p:cNvSpPr txBox="1"/>
          <p:nvPr>
            <p:ph idx="7" type="subTitle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2" name="Google Shape;362;p18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63" name="Google Shape;363;p18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"/>
          <p:cNvSpPr txBox="1"/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19"/>
          <p:cNvSpPr txBox="1"/>
          <p:nvPr>
            <p:ph idx="1" type="subTitle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19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000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858247" y="1380669"/>
            <a:ext cx="130760" cy="131015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1802448" y="4340187"/>
            <a:ext cx="131015" cy="131015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7196621" y="809541"/>
            <a:ext cx="131015" cy="131015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7826485" y="4005523"/>
            <a:ext cx="105796" cy="106050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6669747" y="3108456"/>
            <a:ext cx="62397" cy="62397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2127273" y="2530788"/>
            <a:ext cx="112298" cy="112553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7418926" y="3240515"/>
            <a:ext cx="112298" cy="112553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751274" y="1218584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19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6" name="Google Shape;386;p19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19"/>
          <p:cNvGrpSpPr/>
          <p:nvPr/>
        </p:nvGrpSpPr>
        <p:grpSpPr>
          <a:xfrm>
            <a:off x="1510029" y="507749"/>
            <a:ext cx="203534" cy="2663107"/>
            <a:chOff x="250617" y="2402301"/>
            <a:chExt cx="188650" cy="2468354"/>
          </a:xfrm>
        </p:grpSpPr>
        <p:sp>
          <p:nvSpPr>
            <p:cNvPr id="389" name="Google Shape;389;p1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19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4" name="Google Shape;394;p19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7" name="Google Shape;397;p19"/>
          <p:cNvSpPr/>
          <p:nvPr/>
        </p:nvSpPr>
        <p:spPr>
          <a:xfrm>
            <a:off x="1050592" y="3209646"/>
            <a:ext cx="9132" cy="2718457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7090326" y="2590809"/>
            <a:ext cx="9132" cy="1822361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19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0" name="Google Shape;400;p1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19"/>
          <p:cNvGrpSpPr/>
          <p:nvPr/>
        </p:nvGrpSpPr>
        <p:grpSpPr>
          <a:xfrm>
            <a:off x="8568723" y="2184809"/>
            <a:ext cx="214702" cy="2308597"/>
            <a:chOff x="8008096" y="2108910"/>
            <a:chExt cx="199001" cy="2139769"/>
          </a:xfrm>
        </p:grpSpPr>
        <p:sp>
          <p:nvSpPr>
            <p:cNvPr id="403" name="Google Shape;403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19"/>
          <p:cNvSpPr/>
          <p:nvPr/>
        </p:nvSpPr>
        <p:spPr>
          <a:xfrm>
            <a:off x="6423211" y="3192659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19"/>
          <p:cNvGrpSpPr/>
          <p:nvPr/>
        </p:nvGrpSpPr>
        <p:grpSpPr>
          <a:xfrm>
            <a:off x="8221223" y="9"/>
            <a:ext cx="214702" cy="2308597"/>
            <a:chOff x="8008096" y="2108910"/>
            <a:chExt cx="199001" cy="2139769"/>
          </a:xfrm>
        </p:grpSpPr>
        <p:sp>
          <p:nvSpPr>
            <p:cNvPr id="407" name="Google Shape;407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1" name="Google Shape;411;p20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12" name="Google Shape;412;p20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3" name="Google Shape;413;p20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3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28" name="Google Shape;428;p2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0" name="Google Shape;43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1" name="Google Shape;431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2" name="Google Shape;4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2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5" name="Google Shape;435;p2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7" name="Google Shape;43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8" name="Google Shape;4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3" name="Google Shape;4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4" name="Google Shape;44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3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7" name="Google Shape;447;p2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9" name="Google Shape;449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0" name="Google Shape;450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1" name="Google Shape;4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28"/>
          <p:cNvPicPr preferRelativeResize="0"/>
          <p:nvPr/>
        </p:nvPicPr>
        <p:blipFill rotWithShape="1">
          <a:blip r:embed="rId3">
            <a:alphaModFix/>
          </a:blip>
          <a:srcRect b="0" l="16861" r="28906" t="0"/>
          <a:stretch/>
        </p:blipFill>
        <p:spPr>
          <a:xfrm>
            <a:off x="1628350" y="1489275"/>
            <a:ext cx="1654200" cy="17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>
            <p:ph idx="4294967295" type="ctrTitle"/>
          </p:nvPr>
        </p:nvSpPr>
        <p:spPr>
          <a:xfrm>
            <a:off x="3387775" y="1635450"/>
            <a:ext cx="4870200" cy="17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4800"/>
              <a:t>Quantiphi Analytics Solutions</a:t>
            </a:r>
            <a:endParaRPr sz="4800"/>
          </a:p>
        </p:txBody>
      </p:sp>
      <p:sp>
        <p:nvSpPr>
          <p:cNvPr id="458" name="Google Shape;458;p28"/>
          <p:cNvSpPr txBox="1"/>
          <p:nvPr/>
        </p:nvSpPr>
        <p:spPr>
          <a:xfrm>
            <a:off x="3509400" y="3541000"/>
            <a:ext cx="2972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Neeharika Nagori</a:t>
            </a:r>
            <a:endParaRPr sz="220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Mrunmayee Waingankar </a:t>
            </a:r>
            <a:endParaRPr sz="220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Shubham Zope</a:t>
            </a:r>
            <a:endParaRPr sz="2200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29"/>
          <p:cNvPicPr preferRelativeResize="0"/>
          <p:nvPr/>
        </p:nvPicPr>
        <p:blipFill rotWithShape="1">
          <a:blip r:embed="rId3">
            <a:alphaModFix/>
          </a:blip>
          <a:srcRect b="28623" l="5723" r="6364" t="28623"/>
          <a:stretch/>
        </p:blipFill>
        <p:spPr>
          <a:xfrm>
            <a:off x="30138" y="2080675"/>
            <a:ext cx="9083726" cy="24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6150" y="0"/>
            <a:ext cx="4551701" cy="256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"/>
          <p:cNvSpPr txBox="1"/>
          <p:nvPr>
            <p:ph idx="2" type="ctrTitle"/>
          </p:nvPr>
        </p:nvSpPr>
        <p:spPr>
          <a:xfrm>
            <a:off x="764334" y="330175"/>
            <a:ext cx="6158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/>
              <a:t>About Quantiphi</a:t>
            </a:r>
            <a:endParaRPr sz="1700"/>
          </a:p>
        </p:txBody>
      </p:sp>
      <p:pic>
        <p:nvPicPr>
          <p:cNvPr id="470" name="Google Shape;470;p30"/>
          <p:cNvPicPr preferRelativeResize="0"/>
          <p:nvPr/>
        </p:nvPicPr>
        <p:blipFill rotWithShape="1">
          <a:blip r:embed="rId3">
            <a:alphaModFix/>
          </a:blip>
          <a:srcRect b="3707" l="0" r="0" t="14998"/>
          <a:stretch/>
        </p:blipFill>
        <p:spPr>
          <a:xfrm>
            <a:off x="225200" y="1000150"/>
            <a:ext cx="8693602" cy="39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"/>
          <p:cNvSpPr txBox="1"/>
          <p:nvPr>
            <p:ph type="title"/>
          </p:nvPr>
        </p:nvSpPr>
        <p:spPr>
          <a:xfrm>
            <a:off x="1297500" y="2433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/>
              <a:t>Company Details</a:t>
            </a:r>
            <a:endParaRPr sz="2800"/>
          </a:p>
        </p:txBody>
      </p:sp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1421850" y="892425"/>
            <a:ext cx="7038900" cy="3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Name of the Company:  </a:t>
            </a:r>
            <a:r>
              <a:rPr lang="en" sz="1700">
                <a:solidFill>
                  <a:srgbClr val="E8EAED"/>
                </a:solidFill>
                <a:latin typeface="Share Tech"/>
                <a:ea typeface="Share Tech"/>
                <a:cs typeface="Share Tech"/>
                <a:sym typeface="Share Tech"/>
              </a:rPr>
              <a:t>Quantiphi Analytics Solution Private Limited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Company status : Dream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Date of recruitment drive : 16th,17th and 18th August 2022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Branches Eligible: BE ( CMPN, INFT, EXTC, ETRX, INSTRU, MCA, M.E.)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Eligibility Criteria: CGPA 7.17 and  above and 60% in 10th &amp; 12th/Diploma, No live ATKT, Graduation score 65% and above for MCA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Salary: CTC: 8.5 LPA ( 6.5 FIXED + 2  QCDP REWARD) 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4 months internship compulsory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Position : </a:t>
            </a: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Framework Engineer / Business Analyst / Machine Learning Engineer</a:t>
            </a:r>
            <a:endParaRPr sz="2000">
              <a:solidFill>
                <a:schemeClr val="accent2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/>
          <p:nvPr>
            <p:ph idx="7" type="ctrTitle"/>
          </p:nvPr>
        </p:nvSpPr>
        <p:spPr>
          <a:xfrm>
            <a:off x="2283900" y="295350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Offered</a:t>
            </a:r>
            <a:endParaRPr/>
          </a:p>
        </p:txBody>
      </p:sp>
      <p:pic>
        <p:nvPicPr>
          <p:cNvPr id="482" name="Google Shape;482;p32"/>
          <p:cNvPicPr preferRelativeResize="0"/>
          <p:nvPr/>
        </p:nvPicPr>
        <p:blipFill rotWithShape="1">
          <a:blip r:embed="rId3">
            <a:alphaModFix/>
          </a:blip>
          <a:srcRect b="8124" l="6814" r="3644" t="17343"/>
          <a:stretch/>
        </p:blipFill>
        <p:spPr>
          <a:xfrm>
            <a:off x="633000" y="1092850"/>
            <a:ext cx="7877995" cy="36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3"/>
          <p:cNvSpPr txBox="1"/>
          <p:nvPr>
            <p:ph idx="4294967295" type="title"/>
          </p:nvPr>
        </p:nvSpPr>
        <p:spPr>
          <a:xfrm>
            <a:off x="1297500" y="5746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900">
                <a:latin typeface="Times New Roman"/>
                <a:ea typeface="Times New Roman"/>
                <a:cs typeface="Times New Roman"/>
                <a:sym typeface="Times New Roman"/>
              </a:rPr>
              <a:t>Placement Process</a:t>
            </a:r>
            <a:endParaRPr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8" name="Google Shape;488;p33"/>
          <p:cNvPicPr preferRelativeResize="0"/>
          <p:nvPr/>
        </p:nvPicPr>
        <p:blipFill rotWithShape="1">
          <a:blip r:embed="rId3">
            <a:alphaModFix/>
          </a:blip>
          <a:srcRect b="23610" l="0" r="19878" t="25083"/>
          <a:stretch/>
        </p:blipFill>
        <p:spPr>
          <a:xfrm>
            <a:off x="191175" y="1488700"/>
            <a:ext cx="8583802" cy="309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4"/>
          <p:cNvSpPr txBox="1"/>
          <p:nvPr>
            <p:ph type="title"/>
          </p:nvPr>
        </p:nvSpPr>
        <p:spPr>
          <a:xfrm>
            <a:off x="1297500" y="342050"/>
            <a:ext cx="7038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en">
                <a:solidFill>
                  <a:schemeClr val="accent5"/>
                </a:solidFill>
              </a:rPr>
              <a:t>Round 1 : </a:t>
            </a:r>
            <a:r>
              <a:rPr lang="en"/>
              <a:t>Aptitude and Coding Test</a:t>
            </a:r>
            <a:endParaRPr/>
          </a:p>
        </p:txBody>
      </p:sp>
      <p:sp>
        <p:nvSpPr>
          <p:cNvPr id="494" name="Google Shape;494;p34"/>
          <p:cNvSpPr txBox="1"/>
          <p:nvPr>
            <p:ph idx="1" type="body"/>
          </p:nvPr>
        </p:nvSpPr>
        <p:spPr>
          <a:xfrm>
            <a:off x="1122650" y="1130150"/>
            <a:ext cx="7281600" cy="3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Platform - </a:t>
            </a: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 Hackerearth.</a:t>
            </a:r>
            <a:endParaRPr>
              <a:latin typeface="Share Tech"/>
              <a:ea typeface="Share Tech"/>
              <a:cs typeface="Share Tech"/>
              <a:sym typeface="Share Tech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Test consisted of 7 sections for approx. 86 minutes.</a:t>
            </a:r>
            <a:endParaRPr>
              <a:latin typeface="Share Tech"/>
              <a:ea typeface="Share Tech"/>
              <a:cs typeface="Share Tech"/>
              <a:sym typeface="Share Tech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Quantitative, Verbal, Statistical, Technical, Probability, Web technology, SQL, Ml, OS, CN, DBMS, 2 Coding Questions.</a:t>
            </a:r>
            <a:endParaRPr>
              <a:latin typeface="Share Tech"/>
              <a:ea typeface="Share Tech"/>
              <a:cs typeface="Share Tech"/>
              <a:sym typeface="Share Tech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Level of the test was medium to high.</a:t>
            </a:r>
            <a:endParaRPr>
              <a:latin typeface="Share Tech"/>
              <a:ea typeface="Share Tech"/>
              <a:cs typeface="Share Tech"/>
              <a:sym typeface="Share Tech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One needs to solve the question as fast as possible as there is a sectional timer.</a:t>
            </a:r>
            <a:endParaRPr>
              <a:latin typeface="Share Tech"/>
              <a:ea typeface="Share Tech"/>
              <a:cs typeface="Share Tech"/>
              <a:sym typeface="Share Tech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hare Tech"/>
              <a:buChar char="●"/>
            </a:pP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After round 1 </a:t>
            </a:r>
            <a:r>
              <a:rPr lang="en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from 316 students, 86 were shortlisted</a:t>
            </a:r>
            <a:r>
              <a:rPr lang="en">
                <a:latin typeface="Share Tech"/>
                <a:ea typeface="Share Tech"/>
                <a:cs typeface="Share Tech"/>
                <a:sym typeface="Share Tech"/>
              </a:rPr>
              <a:t> for next round                                           </a:t>
            </a:r>
            <a:endParaRPr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 txBox="1"/>
          <p:nvPr>
            <p:ph type="title"/>
          </p:nvPr>
        </p:nvSpPr>
        <p:spPr>
          <a:xfrm>
            <a:off x="1297500" y="3460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accent5"/>
                </a:solidFill>
              </a:rPr>
              <a:t>Round 2 : </a:t>
            </a:r>
            <a:r>
              <a:rPr lang="en"/>
              <a:t>Group Discussion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lt2"/>
                </a:solidFill>
              </a:rPr>
              <a:t>(Business Analyst only)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00" name="Google Shape;500;p35"/>
          <p:cNvSpPr txBox="1"/>
          <p:nvPr>
            <p:ph idx="1" type="body"/>
          </p:nvPr>
        </p:nvSpPr>
        <p:spPr>
          <a:xfrm>
            <a:off x="1297500" y="1139675"/>
            <a:ext cx="7038900" cy="41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●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Topics: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Sports helps lower the tension between the boundaries.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Thoughts about the supply chain management.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●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Topic-&gt; 2 min prep -&gt; 6 min discussion -&gt; 1 min conclude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●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What to do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Put your point forward properly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Tackle at least 2 point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Conclude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●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Tips: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Formulate your thoughts and choose your side wisely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Convey your POV accurately and concisely.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Do not speak over other candidates and allow them to finish speaking.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hare Tech"/>
              <a:buChar char="○"/>
            </a:pPr>
            <a:r>
              <a:rPr lang="en" sz="1600">
                <a:latin typeface="Share Tech"/>
                <a:ea typeface="Share Tech"/>
                <a:cs typeface="Share Tech"/>
                <a:sym typeface="Share Tech"/>
              </a:rPr>
              <a:t>Refer to group discussions on youtube for practice. </a:t>
            </a:r>
            <a:endParaRPr sz="160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/>
          <p:nvPr>
            <p:ph type="title"/>
          </p:nvPr>
        </p:nvSpPr>
        <p:spPr>
          <a:xfrm>
            <a:off x="1326575" y="259600"/>
            <a:ext cx="77199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Mrunmayee W</a:t>
            </a:r>
            <a:r>
              <a:rPr lang="en"/>
              <a:t>aingankar</a:t>
            </a:r>
            <a:r>
              <a:rPr lang="en"/>
              <a:t> (Framework Engineer)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3: </a:t>
            </a:r>
            <a:r>
              <a:rPr lang="en" sz="2100"/>
              <a:t>Technical Interview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t/>
            </a:r>
            <a:endParaRPr sz="2800"/>
          </a:p>
        </p:txBody>
      </p:sp>
      <p:sp>
        <p:nvSpPr>
          <p:cNvPr id="506" name="Google Shape;506;p36"/>
          <p:cNvSpPr txBox="1"/>
          <p:nvPr>
            <p:ph idx="1" type="body"/>
          </p:nvPr>
        </p:nvSpPr>
        <p:spPr>
          <a:xfrm>
            <a:off x="1422450" y="1270725"/>
            <a:ext cx="7451400" cy="3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scheduled at 5:00 pm.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Platform used - Superset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latest 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for around 20-30 minutes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Introduction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Projects on which I have worked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Theory - OOPS, DSA, SQL and java related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Few riddles like 2 candles will burn in 30 mins each, How will you count 45 mins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Asked to write codes for 2-3 problems (basic)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Asked about why I want to join Quantiphi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Finally he asked if I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After round 2, </a:t>
            </a:r>
            <a:r>
              <a:rPr lang="en" sz="165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39 were shortlisted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from 86 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7"/>
          <p:cNvSpPr txBox="1"/>
          <p:nvPr>
            <p:ph idx="1" type="body"/>
          </p:nvPr>
        </p:nvSpPr>
        <p:spPr>
          <a:xfrm>
            <a:off x="1297500" y="1126750"/>
            <a:ext cx="7440900" cy="3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Introduction.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 u="sng">
                <a:latin typeface="Share Tech"/>
                <a:ea typeface="Share Tech"/>
                <a:cs typeface="Share Tech"/>
                <a:sym typeface="Share Tech"/>
              </a:rPr>
              <a:t>Detailed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discussion about projects 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Tech stack used and why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OOPS, DSA, SQL related questions were asked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Riddles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276225" lvl="1" marL="8001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If you are given X amount of money, cost of apple is A, cost of oranges is B and cost of bananas is C ,  in how many ways can you buy different fruits?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Given problems and asked to tell the approach of solving it or write the pseudocode for the same. (level average-good)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Recursion problem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Optional subjects and why you chose them.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 the end asked if you I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of  around 20-30 mins.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12" name="Google Shape;512;p37"/>
          <p:cNvSpPr txBox="1"/>
          <p:nvPr>
            <p:ph type="title"/>
          </p:nvPr>
        </p:nvSpPr>
        <p:spPr>
          <a:xfrm>
            <a:off x="1297500" y="212650"/>
            <a:ext cx="8097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Mrunmayee Waingankar (Framework Engineer)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4: </a:t>
            </a:r>
            <a:r>
              <a:rPr lang="en" sz="2100"/>
              <a:t>Technical + HR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 txBox="1"/>
          <p:nvPr>
            <p:ph type="title"/>
          </p:nvPr>
        </p:nvSpPr>
        <p:spPr>
          <a:xfrm>
            <a:off x="1326575" y="259600"/>
            <a:ext cx="70389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Shubham Zope (Framework Engineer)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3: </a:t>
            </a:r>
            <a:r>
              <a:rPr lang="en" sz="2100"/>
              <a:t>Technical Interview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t/>
            </a:r>
            <a:endParaRPr sz="2800"/>
          </a:p>
        </p:txBody>
      </p:sp>
      <p:sp>
        <p:nvSpPr>
          <p:cNvPr id="518" name="Google Shape;518;p38"/>
          <p:cNvSpPr txBox="1"/>
          <p:nvPr>
            <p:ph idx="1" type="body"/>
          </p:nvPr>
        </p:nvSpPr>
        <p:spPr>
          <a:xfrm>
            <a:off x="1422450" y="1270725"/>
            <a:ext cx="7038900" cy="4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My Interview was scheduled at 5:30 Pm. Slots of interview were between 3 to 9. They can ask you anytime to join the interview, so be ready.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Tell me about yourself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Projects on which I have worked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OOPS Concept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Asked to code inheritance concept in java.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SQL Queries on Joins, Procedure.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on Node.js.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What is Quantiphi.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Finally he asked if I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of 40 mins.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After round 2, </a:t>
            </a:r>
            <a:r>
              <a:rPr lang="en" sz="165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39 were shortlisted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from 86 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 txBox="1"/>
          <p:nvPr>
            <p:ph idx="1" type="body"/>
          </p:nvPr>
        </p:nvSpPr>
        <p:spPr>
          <a:xfrm>
            <a:off x="1297500" y="1126750"/>
            <a:ext cx="7038900" cy="3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Technical: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My best tech stack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Basics of DBMS Questions were asked like normalization, primary key etc.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Some questions were given and sql queries were asked to write for it.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about OOPS Concept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Puzzles were asked. For puzzles reger geeksforgeeks.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Finally he asked if you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of 30 mins.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HR: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Tell me about yourself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Hobbies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General conversation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1297500" y="2126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Shubham Zope (Framework Engineer)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4: </a:t>
            </a:r>
            <a:r>
              <a:rPr lang="en" sz="2100"/>
              <a:t>Technical + HR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0"/>
          <p:cNvSpPr txBox="1"/>
          <p:nvPr>
            <p:ph type="title"/>
          </p:nvPr>
        </p:nvSpPr>
        <p:spPr>
          <a:xfrm>
            <a:off x="1326575" y="259600"/>
            <a:ext cx="77199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Neeharika Nagori (Framework Engineer)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3: </a:t>
            </a:r>
            <a:r>
              <a:rPr lang="en" sz="2100"/>
              <a:t>Technical Interview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t/>
            </a:r>
            <a:endParaRPr sz="2800"/>
          </a:p>
        </p:txBody>
      </p:sp>
      <p:sp>
        <p:nvSpPr>
          <p:cNvPr id="530" name="Google Shape;530;p40"/>
          <p:cNvSpPr txBox="1"/>
          <p:nvPr>
            <p:ph idx="1" type="body"/>
          </p:nvPr>
        </p:nvSpPr>
        <p:spPr>
          <a:xfrm>
            <a:off x="1422450" y="1270725"/>
            <a:ext cx="7451400" cy="3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Platform used - Superset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latest for around 35-40 minutes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No introduction, project discussion was asked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on Java and OOPS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Many questions on sql commands were asked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were given and I was asked to type the MySQL query for it.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 was asked to code for basic java problems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Complete set of 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questions was taken form Interviewbit practice sets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After round 2, </a:t>
            </a:r>
            <a:r>
              <a:rPr lang="en" sz="165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rPr>
              <a:t>39 were shortlisted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from 86 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1"/>
          <p:cNvSpPr txBox="1"/>
          <p:nvPr>
            <p:ph idx="1" type="body"/>
          </p:nvPr>
        </p:nvSpPr>
        <p:spPr>
          <a:xfrm>
            <a:off x="1297500" y="1301250"/>
            <a:ext cx="7440900" cy="3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Introduction.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 u="sng">
                <a:latin typeface="Share Tech"/>
                <a:ea typeface="Share Tech"/>
                <a:cs typeface="Share Tech"/>
                <a:sym typeface="Share Tech"/>
              </a:rPr>
              <a:t>Detailed</a:t>
            </a: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 discussion about projects by looking at resume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Tech stack used and why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ML questions on ML project mentioned in resume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Permutations of strings - Mathematical approach and further questions on it.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Write pseudo code for the same. (level average-good)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1" marL="9144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○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Recursion problem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In the end asked if you I have any questions.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SzPts val="1650"/>
              <a:buFont typeface="Share Tech"/>
              <a:buChar char="●"/>
            </a:pPr>
            <a:r>
              <a:rPr lang="en" sz="1650">
                <a:latin typeface="Share Tech"/>
                <a:ea typeface="Share Tech"/>
                <a:cs typeface="Share Tech"/>
                <a:sym typeface="Share Tech"/>
              </a:rPr>
              <a:t>The interview was of  around 15-20 mins.</a:t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36" name="Google Shape;536;p41"/>
          <p:cNvSpPr txBox="1"/>
          <p:nvPr>
            <p:ph type="title"/>
          </p:nvPr>
        </p:nvSpPr>
        <p:spPr>
          <a:xfrm>
            <a:off x="1297500" y="212650"/>
            <a:ext cx="8097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Experience of Neeharika Nagori (Framework Engineer)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>
                <a:solidFill>
                  <a:schemeClr val="accent5"/>
                </a:solidFill>
              </a:rPr>
              <a:t>Round 4: </a:t>
            </a:r>
            <a:r>
              <a:rPr lang="en" sz="2100"/>
              <a:t>Technical + HR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"/>
          <p:cNvSpPr txBox="1"/>
          <p:nvPr>
            <p:ph idx="4294967295" type="title"/>
          </p:nvPr>
        </p:nvSpPr>
        <p:spPr>
          <a:xfrm>
            <a:off x="1219925" y="410675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/>
              <a:t>How to make your study plan?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500"/>
          </a:p>
        </p:txBody>
      </p:sp>
      <p:sp>
        <p:nvSpPr>
          <p:cNvPr id="542" name="Google Shape;542;p42"/>
          <p:cNvSpPr txBox="1"/>
          <p:nvPr>
            <p:ph idx="4294967295" type="body"/>
          </p:nvPr>
        </p:nvSpPr>
        <p:spPr>
          <a:xfrm>
            <a:off x="1219925" y="1049225"/>
            <a:ext cx="7464600" cy="4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For aptitude (quants, logical and verbal): 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RS Aggarwal, IndiaBix, GeeksForGeeks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Puzzles from GeeksForGeeks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For Coding test :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Leetcode, Hackerrank, GeeksForGeeks, Codechef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For theory concepts: Gate Smashers, 5 Minutes Engineering, GeeksforGeeks, Javatpoint, Semester syllabus.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Share Tech"/>
              <a:buChar char="●"/>
            </a:pP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Refer previous year </a:t>
            </a: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interview</a:t>
            </a:r>
            <a:r>
              <a:rPr lang="en" sz="1700">
                <a:latin typeface="Share Tech"/>
                <a:ea typeface="Share Tech"/>
                <a:cs typeface="Share Tech"/>
                <a:sym typeface="Share Tech"/>
              </a:rPr>
              <a:t> experiences from geeksforgeeks.</a:t>
            </a:r>
            <a:endParaRPr sz="1700"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3"/>
          <p:cNvSpPr txBox="1"/>
          <p:nvPr>
            <p:ph idx="4" type="ctrTitle"/>
          </p:nvPr>
        </p:nvSpPr>
        <p:spPr>
          <a:xfrm>
            <a:off x="1087075" y="3067600"/>
            <a:ext cx="2402100" cy="12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Framework Engineer</a:t>
            </a:r>
            <a:endParaRPr sz="3400"/>
          </a:p>
        </p:txBody>
      </p:sp>
      <p:sp>
        <p:nvSpPr>
          <p:cNvPr id="548" name="Google Shape;548;p43"/>
          <p:cNvSpPr txBox="1"/>
          <p:nvPr>
            <p:ph type="ctrTitle"/>
          </p:nvPr>
        </p:nvSpPr>
        <p:spPr>
          <a:xfrm>
            <a:off x="3826900" y="3067600"/>
            <a:ext cx="2152500" cy="12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Business Analyst</a:t>
            </a:r>
            <a:endParaRPr sz="3400"/>
          </a:p>
        </p:txBody>
      </p:sp>
      <p:sp>
        <p:nvSpPr>
          <p:cNvPr id="549" name="Google Shape;549;p43"/>
          <p:cNvSpPr txBox="1"/>
          <p:nvPr>
            <p:ph idx="3" type="title"/>
          </p:nvPr>
        </p:nvSpPr>
        <p:spPr>
          <a:xfrm>
            <a:off x="3826889" y="23357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5</a:t>
            </a:r>
            <a:endParaRPr sz="4200"/>
          </a:p>
        </p:txBody>
      </p:sp>
      <p:sp>
        <p:nvSpPr>
          <p:cNvPr id="550" name="Google Shape;550;p43"/>
          <p:cNvSpPr txBox="1"/>
          <p:nvPr>
            <p:ph idx="6" type="title"/>
          </p:nvPr>
        </p:nvSpPr>
        <p:spPr>
          <a:xfrm>
            <a:off x="1136716" y="23357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9</a:t>
            </a:r>
            <a:endParaRPr sz="4200"/>
          </a:p>
        </p:txBody>
      </p:sp>
      <p:sp>
        <p:nvSpPr>
          <p:cNvPr id="551" name="Google Shape;551;p43"/>
          <p:cNvSpPr txBox="1"/>
          <p:nvPr>
            <p:ph idx="7" type="ctrTitle"/>
          </p:nvPr>
        </p:nvSpPr>
        <p:spPr>
          <a:xfrm>
            <a:off x="2134325" y="1255300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17 people were </a:t>
            </a:r>
            <a:r>
              <a:rPr lang="en" sz="3300"/>
              <a:t>selected</a:t>
            </a:r>
            <a:r>
              <a:rPr lang="en" sz="3300"/>
              <a:t> </a:t>
            </a:r>
            <a:endParaRPr sz="3300"/>
          </a:p>
        </p:txBody>
      </p:sp>
      <p:sp>
        <p:nvSpPr>
          <p:cNvPr id="552" name="Google Shape;552;p43"/>
          <p:cNvSpPr txBox="1"/>
          <p:nvPr>
            <p:ph idx="8" type="ctrTitle"/>
          </p:nvPr>
        </p:nvSpPr>
        <p:spPr>
          <a:xfrm>
            <a:off x="6471975" y="3067600"/>
            <a:ext cx="2943000" cy="12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Machine Learning </a:t>
            </a:r>
            <a:endParaRPr sz="3400"/>
          </a:p>
        </p:txBody>
      </p:sp>
      <p:sp>
        <p:nvSpPr>
          <p:cNvPr id="553" name="Google Shape;553;p43"/>
          <p:cNvSpPr txBox="1"/>
          <p:nvPr>
            <p:ph idx="9" type="title"/>
          </p:nvPr>
        </p:nvSpPr>
        <p:spPr>
          <a:xfrm>
            <a:off x="6420286" y="23357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3</a:t>
            </a:r>
            <a:endParaRPr sz="4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4"/>
          <p:cNvSpPr txBox="1"/>
          <p:nvPr>
            <p:ph type="title"/>
          </p:nvPr>
        </p:nvSpPr>
        <p:spPr>
          <a:xfrm>
            <a:off x="1346025" y="172725"/>
            <a:ext cx="7092900" cy="12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/>
              <a:t>If you have any queries you can contact us </a:t>
            </a:r>
            <a:endParaRPr sz="3000"/>
          </a:p>
        </p:txBody>
      </p:sp>
      <p:graphicFrame>
        <p:nvGraphicFramePr>
          <p:cNvPr id="559" name="Google Shape;559;p44"/>
          <p:cNvGraphicFramePr/>
          <p:nvPr/>
        </p:nvGraphicFramePr>
        <p:xfrm>
          <a:off x="688113" y="107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{3BE4FFB6-0174-41E3-A667-2C1791E316FC}</a:tableStyleId>
              </a:tblPr>
              <a:tblGrid>
                <a:gridCol w="3464900"/>
                <a:gridCol w="4560175"/>
              </a:tblGrid>
              <a:tr h="74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Neeharika Nagori</a:t>
                      </a:r>
                      <a:r>
                        <a:rPr lang="en" sz="2200" u="none" cap="none" strike="noStrike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 </a:t>
                      </a:r>
                      <a:endParaRPr sz="22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201</a:t>
                      </a: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9neeharika.nagori@ves.ac.in </a:t>
                      </a:r>
                      <a:endParaRPr sz="22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T="91425" marB="91425" marR="91425" marL="91425"/>
                </a:tc>
              </a:tr>
              <a:tr h="74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Mrunmayee Waingankar</a:t>
                      </a:r>
                      <a:r>
                        <a:rPr lang="en" sz="2200" u="none" cap="none" strike="noStrike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 </a:t>
                      </a:r>
                      <a:endParaRPr sz="22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2019m</a:t>
                      </a: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runmayee.waingankar@ves.ac.in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T="91425" marB="91425" marR="91425" marL="91425"/>
                </a:tc>
              </a:tr>
              <a:tr h="105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Shubham Zope</a:t>
                      </a:r>
                      <a:endParaRPr sz="22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201</a:t>
                      </a:r>
                      <a:r>
                        <a:rPr lang="en" sz="2200">
                          <a:solidFill>
                            <a:schemeClr val="l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9shubham.zope@ves.ac.in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