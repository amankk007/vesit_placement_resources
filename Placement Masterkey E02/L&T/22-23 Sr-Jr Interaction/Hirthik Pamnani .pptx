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Nunito"/>
      <p:regular r:id="rId18"/>
      <p:bold r:id="rId19"/>
      <p:italic r:id="rId20"/>
      <p:boldItalic r:id="rId21"/>
    </p:embeddedFont>
    <p:embeddedFont>
      <p:font typeface="Lato"/>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0" roundtripDataSignature="AMtx7mho1ak+KJ3KVzLfYq0H7NT3VgKl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Lato-regular.fntdata"/><Relationship Id="rId21" Type="http://schemas.openxmlformats.org/officeDocument/2006/relationships/font" Target="fonts/Nunito-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regular.fntdata"/><Relationship Id="rId25" Type="http://schemas.openxmlformats.org/officeDocument/2006/relationships/font" Target="fonts/Lato-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 sz="1200">
                <a:solidFill>
                  <a:srgbClr val="1A1A1A"/>
                </a:solidFill>
                <a:highlight>
                  <a:schemeClr val="lt1"/>
                </a:highlight>
                <a:latin typeface="Merriweather"/>
                <a:ea typeface="Merriweather"/>
                <a:cs typeface="Merriweather"/>
                <a:sym typeface="Merriweather"/>
              </a:rPr>
              <a:t>Ans: </a:t>
            </a:r>
            <a:r>
              <a:rPr lang="en" sz="1200">
                <a:solidFill>
                  <a:srgbClr val="1A1A1A"/>
                </a:solidFill>
                <a:highlight>
                  <a:schemeClr val="lt1"/>
                </a:highlight>
                <a:latin typeface="Merriweather"/>
                <a:ea typeface="Merriweather"/>
                <a:cs typeface="Merriweather"/>
                <a:sym typeface="Merriweather"/>
              </a:rPr>
              <a:t>Use of 2 API one for detecting the location of the user and one for translating the data of the website which will be displayed to the User.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 sz="1200">
                <a:solidFill>
                  <a:srgbClr val="1A1A1A"/>
                </a:solidFill>
                <a:highlight>
                  <a:schemeClr val="lt1"/>
                </a:highlight>
                <a:latin typeface="Merriweather"/>
                <a:ea typeface="Merriweather"/>
                <a:cs typeface="Merriweather"/>
                <a:sym typeface="Merriweather"/>
              </a:rPr>
              <a:t>Ans: </a:t>
            </a:r>
            <a:r>
              <a:rPr lang="en" sz="1200">
                <a:solidFill>
                  <a:srgbClr val="1A1A1A"/>
                </a:solidFill>
                <a:highlight>
                  <a:schemeClr val="lt1"/>
                </a:highlight>
                <a:latin typeface="Merriweather"/>
                <a:ea typeface="Merriweather"/>
                <a:cs typeface="Merriweather"/>
                <a:sym typeface="Merriweather"/>
              </a:rPr>
              <a:t>Use of 2 API one for detecting the location of the user and one for translating the data of the website which will be displayed to the User.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10"/>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0"/>
          <p:cNvGrpSpPr/>
          <p:nvPr/>
        </p:nvGrpSpPr>
        <p:grpSpPr>
          <a:xfrm>
            <a:off x="830392" y="1191256"/>
            <a:ext cx="745763" cy="45826"/>
            <a:chOff x="4580561" y="2589004"/>
            <a:chExt cx="1064464" cy="25200"/>
          </a:xfrm>
        </p:grpSpPr>
        <p:sp>
          <p:nvSpPr>
            <p:cNvPr id="12" name="Google Shape;12;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10"/>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10"/>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11"/>
          <p:cNvGrpSpPr/>
          <p:nvPr/>
        </p:nvGrpSpPr>
        <p:grpSpPr>
          <a:xfrm>
            <a:off x="830392" y="1191256"/>
            <a:ext cx="745763" cy="45826"/>
            <a:chOff x="4580561" y="2589004"/>
            <a:chExt cx="1064464" cy="25200"/>
          </a:xfrm>
        </p:grpSpPr>
        <p:sp>
          <p:nvSpPr>
            <p:cNvPr id="19" name="Google Shape;1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11"/>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1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 name="Google Shape;25;p12"/>
          <p:cNvGrpSpPr/>
          <p:nvPr/>
        </p:nvGrpSpPr>
        <p:grpSpPr>
          <a:xfrm>
            <a:off x="830392" y="1191256"/>
            <a:ext cx="745763" cy="45826"/>
            <a:chOff x="4580561" y="2589004"/>
            <a:chExt cx="1064464" cy="25200"/>
          </a:xfrm>
        </p:grpSpPr>
        <p:sp>
          <p:nvSpPr>
            <p:cNvPr id="26" name="Google Shape;26;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9" name="Google Shape;29;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0" name="Google Shape;30;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1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13"/>
          <p:cNvGrpSpPr/>
          <p:nvPr/>
        </p:nvGrpSpPr>
        <p:grpSpPr>
          <a:xfrm>
            <a:off x="830392" y="1191256"/>
            <a:ext cx="745763" cy="45826"/>
            <a:chOff x="4580561" y="2589004"/>
            <a:chExt cx="1064464" cy="25200"/>
          </a:xfrm>
        </p:grpSpPr>
        <p:sp>
          <p:nvSpPr>
            <p:cNvPr id="34" name="Google Shape;34;p1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1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13"/>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13"/>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1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14"/>
          <p:cNvGrpSpPr/>
          <p:nvPr/>
        </p:nvGrpSpPr>
        <p:grpSpPr>
          <a:xfrm>
            <a:off x="830392" y="1191256"/>
            <a:ext cx="745763" cy="45826"/>
            <a:chOff x="4580561" y="2589004"/>
            <a:chExt cx="1064464" cy="25200"/>
          </a:xfrm>
        </p:grpSpPr>
        <p:sp>
          <p:nvSpPr>
            <p:cNvPr id="43" name="Google Shape;43;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14"/>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14"/>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15"/>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 name="Google Shape;50;p15"/>
          <p:cNvGrpSpPr/>
          <p:nvPr/>
        </p:nvGrpSpPr>
        <p:grpSpPr>
          <a:xfrm>
            <a:off x="830392" y="1191256"/>
            <a:ext cx="745763" cy="45826"/>
            <a:chOff x="4580561" y="2589004"/>
            <a:chExt cx="1064464" cy="25200"/>
          </a:xfrm>
        </p:grpSpPr>
        <p:sp>
          <p:nvSpPr>
            <p:cNvPr id="51" name="Google Shape;51;p1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1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4" name="Google Shape;54;p1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55" name="Google Shape;55;p1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 name="Google Shape;56;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 name="Google Shape;59;p16"/>
          <p:cNvGrpSpPr/>
          <p:nvPr/>
        </p:nvGrpSpPr>
        <p:grpSpPr>
          <a:xfrm>
            <a:off x="830392" y="1191256"/>
            <a:ext cx="745763" cy="45826"/>
            <a:chOff x="4580561" y="2589004"/>
            <a:chExt cx="1064464" cy="25200"/>
          </a:xfrm>
        </p:grpSpPr>
        <p:sp>
          <p:nvSpPr>
            <p:cNvPr id="60" name="Google Shape;60;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 name="Google Shape;62;p1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3" name="Google Shape;63;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17"/>
          <p:cNvGrpSpPr/>
          <p:nvPr/>
        </p:nvGrpSpPr>
        <p:grpSpPr>
          <a:xfrm>
            <a:off x="830392" y="4169130"/>
            <a:ext cx="745763" cy="45826"/>
            <a:chOff x="4580561" y="2589004"/>
            <a:chExt cx="1064464" cy="25200"/>
          </a:xfrm>
        </p:grpSpPr>
        <p:sp>
          <p:nvSpPr>
            <p:cNvPr id="66" name="Google Shape;66;p1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7"/>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8"/>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9"/>
          <p:cNvGrpSpPr/>
          <p:nvPr/>
        </p:nvGrpSpPr>
        <p:grpSpPr>
          <a:xfrm>
            <a:off x="830392" y="4169130"/>
            <a:ext cx="745763" cy="45826"/>
            <a:chOff x="4580561" y="2589004"/>
            <a:chExt cx="1064464" cy="25200"/>
          </a:xfrm>
        </p:grpSpPr>
        <p:sp>
          <p:nvSpPr>
            <p:cNvPr id="75" name="Google Shape;75;p1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9"/>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9"/>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indiabix.com/" TargetMode="External"/><Relationship Id="rId4" Type="http://schemas.openxmlformats.org/officeDocument/2006/relationships/hyperlink" Target="https://www.geeksforgeeks.org/quiz-corner-gq/"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2861425" y="1898338"/>
            <a:ext cx="6161100" cy="1504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4200"/>
              <a:buNone/>
            </a:pPr>
            <a:r>
              <a:rPr lang="en">
                <a:latin typeface="Bookman Old Style"/>
                <a:ea typeface="Bookman Old Style"/>
                <a:cs typeface="Bookman Old Style"/>
                <a:sym typeface="Bookman Old Style"/>
              </a:rPr>
              <a:t>Larsen &amp; Toubro Infotech</a:t>
            </a:r>
            <a:endParaRPr>
              <a:latin typeface="Bookman Old Style"/>
              <a:ea typeface="Bookman Old Style"/>
              <a:cs typeface="Bookman Old Style"/>
              <a:sym typeface="Bookman Old Style"/>
            </a:endParaRPr>
          </a:p>
        </p:txBody>
      </p:sp>
      <p:sp>
        <p:nvSpPr>
          <p:cNvPr id="87" name="Google Shape;87;p1"/>
          <p:cNvSpPr txBox="1"/>
          <p:nvPr>
            <p:ph idx="1" type="subTitle"/>
          </p:nvPr>
        </p:nvSpPr>
        <p:spPr>
          <a:xfrm>
            <a:off x="6219956" y="4119992"/>
            <a:ext cx="3280500" cy="1189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sz="2400">
                <a:latin typeface="Bookman Old Style"/>
                <a:ea typeface="Bookman Old Style"/>
                <a:cs typeface="Bookman Old Style"/>
                <a:sym typeface="Bookman Old Style"/>
              </a:rPr>
              <a:t>Hirthik Pamnani</a:t>
            </a:r>
            <a:br>
              <a:rPr lang="en" sz="2400">
                <a:latin typeface="Bookman Old Style"/>
                <a:ea typeface="Bookman Old Style"/>
                <a:cs typeface="Bookman Old Style"/>
                <a:sym typeface="Bookman Old Style"/>
              </a:rPr>
            </a:br>
            <a:r>
              <a:rPr lang="en">
                <a:latin typeface="Bookman Old Style"/>
                <a:ea typeface="Bookman Old Style"/>
                <a:cs typeface="Bookman Old Style"/>
                <a:sym typeface="Bookman Old Style"/>
              </a:rPr>
              <a:t>D20A INFT</a:t>
            </a:r>
            <a:br>
              <a:rPr lang="en">
                <a:latin typeface="Bookman Old Style"/>
                <a:ea typeface="Bookman Old Style"/>
                <a:cs typeface="Bookman Old Style"/>
                <a:sym typeface="Bookman Old Style"/>
              </a:rPr>
            </a:br>
            <a:endParaRPr>
              <a:latin typeface="Bookman Old Style"/>
              <a:ea typeface="Bookman Old Style"/>
              <a:cs typeface="Bookman Old Style"/>
              <a:sym typeface="Bookman Old Style"/>
            </a:endParaRPr>
          </a:p>
        </p:txBody>
      </p:sp>
      <p:pic>
        <p:nvPicPr>
          <p:cNvPr id="88" name="Google Shape;88;p1"/>
          <p:cNvPicPr preferRelativeResize="0"/>
          <p:nvPr/>
        </p:nvPicPr>
        <p:blipFill rotWithShape="1">
          <a:blip r:embed="rId3">
            <a:alphaModFix/>
          </a:blip>
          <a:srcRect b="0" l="0" r="0" t="0"/>
          <a:stretch/>
        </p:blipFill>
        <p:spPr>
          <a:xfrm>
            <a:off x="859363" y="1842105"/>
            <a:ext cx="2002068" cy="16166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29450" y="1322450"/>
            <a:ext cx="7688400" cy="885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
              <a:t>Placement Process :</a:t>
            </a:r>
            <a:endParaRPr/>
          </a:p>
        </p:txBody>
      </p:sp>
      <p:sp>
        <p:nvSpPr>
          <p:cNvPr id="94" name="Google Shape;94;p2"/>
          <p:cNvSpPr txBox="1"/>
          <p:nvPr/>
        </p:nvSpPr>
        <p:spPr>
          <a:xfrm>
            <a:off x="835825" y="2336000"/>
            <a:ext cx="3332400" cy="1477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chemeClr val="lt1"/>
              </a:buClr>
              <a:buSzPts val="2100"/>
              <a:buFont typeface="Lato"/>
              <a:buChar char="●"/>
            </a:pPr>
            <a:r>
              <a:rPr b="0" i="0" lang="en" sz="2100" u="none" cap="none" strike="noStrike">
                <a:solidFill>
                  <a:schemeClr val="lt1"/>
                </a:solidFill>
                <a:latin typeface="Lato"/>
                <a:ea typeface="Lato"/>
                <a:cs typeface="Lato"/>
                <a:sym typeface="Lato"/>
              </a:rPr>
              <a:t>Technical MCQ Round</a:t>
            </a:r>
            <a:endParaRPr b="0" i="0" sz="2100" u="none" cap="none" strike="noStrike">
              <a:solidFill>
                <a:schemeClr val="lt1"/>
              </a:solidFill>
              <a:latin typeface="Lato"/>
              <a:ea typeface="Lato"/>
              <a:cs typeface="Lato"/>
              <a:sym typeface="Lato"/>
            </a:endParaRPr>
          </a:p>
          <a:p>
            <a:pPr indent="-361950" lvl="0" marL="457200" marR="0" rtl="0" algn="l">
              <a:lnSpc>
                <a:spcPct val="100000"/>
              </a:lnSpc>
              <a:spcBef>
                <a:spcPts val="0"/>
              </a:spcBef>
              <a:spcAft>
                <a:spcPts val="0"/>
              </a:spcAft>
              <a:buClr>
                <a:schemeClr val="lt1"/>
              </a:buClr>
              <a:buSzPts val="2100"/>
              <a:buFont typeface="Lato"/>
              <a:buChar char="●"/>
            </a:pPr>
            <a:r>
              <a:rPr b="0" i="0" lang="en" sz="2100" u="none" cap="none" strike="noStrike">
                <a:solidFill>
                  <a:schemeClr val="lt1"/>
                </a:solidFill>
                <a:latin typeface="Lato"/>
                <a:ea typeface="Lato"/>
                <a:cs typeface="Lato"/>
                <a:sym typeface="Lato"/>
              </a:rPr>
              <a:t>Coding Round</a:t>
            </a:r>
            <a:endParaRPr b="0" i="0" sz="2100" u="none" cap="none" strike="noStrike">
              <a:solidFill>
                <a:schemeClr val="lt1"/>
              </a:solidFill>
              <a:latin typeface="Lato"/>
              <a:ea typeface="Lato"/>
              <a:cs typeface="Lato"/>
              <a:sym typeface="Lato"/>
            </a:endParaRPr>
          </a:p>
          <a:p>
            <a:pPr indent="-361950" lvl="0" marL="457200" marR="0" rtl="0" algn="l">
              <a:lnSpc>
                <a:spcPct val="100000"/>
              </a:lnSpc>
              <a:spcBef>
                <a:spcPts val="0"/>
              </a:spcBef>
              <a:spcAft>
                <a:spcPts val="0"/>
              </a:spcAft>
              <a:buClr>
                <a:schemeClr val="lt1"/>
              </a:buClr>
              <a:buSzPts val="2100"/>
              <a:buFont typeface="Lato"/>
              <a:buChar char="●"/>
            </a:pPr>
            <a:r>
              <a:rPr b="0" i="0" lang="en" sz="2100" u="none" cap="none" strike="noStrike">
                <a:solidFill>
                  <a:schemeClr val="lt1"/>
                </a:solidFill>
                <a:latin typeface="Lato"/>
                <a:ea typeface="Lato"/>
                <a:cs typeface="Lato"/>
                <a:sym typeface="Lato"/>
              </a:rPr>
              <a:t>Technical Interview</a:t>
            </a:r>
            <a:endParaRPr b="0" i="0" sz="2100" u="none" cap="none" strike="noStrike">
              <a:solidFill>
                <a:schemeClr val="lt1"/>
              </a:solidFill>
              <a:latin typeface="Lato"/>
              <a:ea typeface="Lato"/>
              <a:cs typeface="Lato"/>
              <a:sym typeface="Lato"/>
            </a:endParaRPr>
          </a:p>
          <a:p>
            <a:pPr indent="-361950" lvl="0" marL="457200" marR="0" rtl="0" algn="l">
              <a:lnSpc>
                <a:spcPct val="100000"/>
              </a:lnSpc>
              <a:spcBef>
                <a:spcPts val="0"/>
              </a:spcBef>
              <a:spcAft>
                <a:spcPts val="0"/>
              </a:spcAft>
              <a:buClr>
                <a:schemeClr val="lt1"/>
              </a:buClr>
              <a:buSzPts val="2100"/>
              <a:buFont typeface="Lato"/>
              <a:buChar char="●"/>
            </a:pPr>
            <a:r>
              <a:rPr b="0" i="0" lang="en" sz="2100" u="none" cap="none" strike="noStrike">
                <a:solidFill>
                  <a:schemeClr val="lt1"/>
                </a:solidFill>
                <a:latin typeface="Lato"/>
                <a:ea typeface="Lato"/>
                <a:cs typeface="Lato"/>
                <a:sym typeface="Lato"/>
              </a:rPr>
              <a:t>HR Interview</a:t>
            </a:r>
            <a:endParaRPr b="0" i="0" sz="2100" u="none" cap="none" strike="noStrike">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654450" y="6328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Round 1: Online Test</a:t>
            </a:r>
            <a:endParaRPr/>
          </a:p>
        </p:txBody>
      </p:sp>
      <p:sp>
        <p:nvSpPr>
          <p:cNvPr id="100" name="Google Shape;100;p3"/>
          <p:cNvSpPr txBox="1"/>
          <p:nvPr>
            <p:ph idx="1" type="body"/>
          </p:nvPr>
        </p:nvSpPr>
        <p:spPr>
          <a:xfrm>
            <a:off x="727650" y="1425225"/>
            <a:ext cx="7688700" cy="2014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n" sz="1500"/>
              <a:t>Technical MCQ: 40 questions/40 mins.</a:t>
            </a:r>
            <a:endParaRPr sz="1500"/>
          </a:p>
          <a:p>
            <a:pPr indent="0" lvl="0" marL="0" rtl="0" algn="l">
              <a:lnSpc>
                <a:spcPct val="115000"/>
              </a:lnSpc>
              <a:spcBef>
                <a:spcPts val="1200"/>
              </a:spcBef>
              <a:spcAft>
                <a:spcPts val="0"/>
              </a:spcAft>
              <a:buSzPts val="1300"/>
              <a:buNone/>
            </a:pPr>
            <a:r>
              <a:rPr lang="en" sz="1500"/>
              <a:t>Concepts:	OOPS &amp; Programming basics (Types of loops, Pseudo codes/algorithms)</a:t>
            </a:r>
            <a:endParaRPr sz="1500"/>
          </a:p>
          <a:p>
            <a:pPr indent="457200" lvl="0" marL="457200" rtl="0" algn="l">
              <a:lnSpc>
                <a:spcPct val="115000"/>
              </a:lnSpc>
              <a:spcBef>
                <a:spcPts val="1200"/>
              </a:spcBef>
              <a:spcAft>
                <a:spcPts val="0"/>
              </a:spcAft>
              <a:buSzPts val="1300"/>
              <a:buNone/>
            </a:pPr>
            <a:r>
              <a:rPr lang="en" sz="1500"/>
              <a:t>Basics of SQL &amp; PLSQL</a:t>
            </a:r>
            <a:endParaRPr sz="1500"/>
          </a:p>
          <a:p>
            <a:pPr indent="457200" lvl="0" marL="457200" rtl="0" algn="l">
              <a:lnSpc>
                <a:spcPct val="115000"/>
              </a:lnSpc>
              <a:spcBef>
                <a:spcPts val="1200"/>
              </a:spcBef>
              <a:spcAft>
                <a:spcPts val="0"/>
              </a:spcAft>
              <a:buSzPts val="1300"/>
              <a:buNone/>
            </a:pPr>
            <a:r>
              <a:rPr lang="en" sz="1500"/>
              <a:t>Operating system basics</a:t>
            </a:r>
            <a:endParaRPr sz="1500"/>
          </a:p>
          <a:p>
            <a:pPr indent="457200" lvl="0" marL="457200" rtl="0" algn="l">
              <a:lnSpc>
                <a:spcPct val="115000"/>
              </a:lnSpc>
              <a:spcBef>
                <a:spcPts val="1200"/>
              </a:spcBef>
              <a:spcAft>
                <a:spcPts val="1200"/>
              </a:spcAft>
              <a:buSzPts val="1300"/>
              <a:buNone/>
            </a:pPr>
            <a:r>
              <a:rPr lang="en" sz="1500"/>
              <a:t>Web Concepts &amp; SDLC</a:t>
            </a:r>
            <a:endParaRPr sz="1500"/>
          </a:p>
        </p:txBody>
      </p:sp>
      <p:sp>
        <p:nvSpPr>
          <p:cNvPr id="101" name="Google Shape;101;p3"/>
          <p:cNvSpPr txBox="1"/>
          <p:nvPr/>
        </p:nvSpPr>
        <p:spPr>
          <a:xfrm>
            <a:off x="342900" y="3579025"/>
            <a:ext cx="8197500" cy="1262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Lato"/>
              <a:buChar char="●"/>
            </a:pPr>
            <a:r>
              <a:rPr b="0" i="0" lang="en" sz="1400" u="none" cap="none" strike="noStrike">
                <a:solidFill>
                  <a:srgbClr val="000000"/>
                </a:solidFill>
                <a:latin typeface="Lato"/>
                <a:ea typeface="Lato"/>
                <a:cs typeface="Lato"/>
                <a:sym typeface="Lato"/>
              </a:rPr>
              <a:t>The test was conducted on mettl platform. Don’t worry, A day before they allow you to give mock test in order to get familiar with the platform.</a:t>
            </a:r>
            <a:br>
              <a:rPr b="0" i="0" lang="en" sz="1400" u="none" cap="none" strike="noStrike">
                <a:solidFill>
                  <a:srgbClr val="000000"/>
                </a:solidFill>
                <a:latin typeface="Lato"/>
                <a:ea typeface="Lato"/>
                <a:cs typeface="Lato"/>
                <a:sym typeface="Lato"/>
              </a:rPr>
            </a:br>
            <a:endParaRPr b="0" i="0" sz="1400" u="none" cap="none" strike="noStrike">
              <a:solidFill>
                <a:srgbClr val="000000"/>
              </a:solidFill>
              <a:latin typeface="Lato"/>
              <a:ea typeface="Lato"/>
              <a:cs typeface="Lato"/>
              <a:sym typeface="Lato"/>
            </a:endParaRPr>
          </a:p>
          <a:p>
            <a:pPr indent="-317500" lvl="0" marL="457200" marR="0" rtl="0" algn="l">
              <a:lnSpc>
                <a:spcPct val="100000"/>
              </a:lnSpc>
              <a:spcBef>
                <a:spcPts val="0"/>
              </a:spcBef>
              <a:spcAft>
                <a:spcPts val="0"/>
              </a:spcAft>
              <a:buClr>
                <a:srgbClr val="000000"/>
              </a:buClr>
              <a:buSzPts val="1400"/>
              <a:buFont typeface="Lato"/>
              <a:buChar char="●"/>
            </a:pPr>
            <a:r>
              <a:rPr b="0" i="0" lang="en" sz="1400" u="none" cap="none" strike="noStrike">
                <a:solidFill>
                  <a:srgbClr val="000000"/>
                </a:solidFill>
                <a:latin typeface="Lato"/>
                <a:ea typeface="Lato"/>
                <a:cs typeface="Lato"/>
                <a:sym typeface="Lato"/>
              </a:rPr>
              <a:t>Experience: Difficulty level was easy to medium. Personally I have practiced Technical MCQ questions from </a:t>
            </a:r>
            <a:r>
              <a:rPr b="0" i="0" lang="en" sz="1400" u="sng" cap="none" strike="noStrike">
                <a:solidFill>
                  <a:schemeClr val="hlink"/>
                </a:solidFill>
                <a:latin typeface="Lato"/>
                <a:ea typeface="Lato"/>
                <a:cs typeface="Lato"/>
                <a:sym typeface="Lato"/>
                <a:hlinkClick r:id="rId3"/>
              </a:rPr>
              <a:t>Indiabix</a:t>
            </a:r>
            <a:r>
              <a:rPr b="0" i="0" lang="en" sz="1400" u="none" cap="none" strike="noStrike">
                <a:solidFill>
                  <a:srgbClr val="000000"/>
                </a:solidFill>
                <a:latin typeface="Lato"/>
                <a:ea typeface="Lato"/>
                <a:cs typeface="Lato"/>
                <a:sym typeface="Lato"/>
              </a:rPr>
              <a:t> website and </a:t>
            </a:r>
            <a:r>
              <a:rPr b="0" i="0" lang="en" sz="1400" u="sng" cap="none" strike="noStrike">
                <a:solidFill>
                  <a:schemeClr val="hlink"/>
                </a:solidFill>
                <a:latin typeface="Lato"/>
                <a:ea typeface="Lato"/>
                <a:cs typeface="Lato"/>
                <a:sym typeface="Lato"/>
                <a:hlinkClick r:id="rId4"/>
              </a:rPr>
              <a:t>GFG.</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375825" y="525675"/>
            <a:ext cx="7688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Round 2: Coding Test</a:t>
            </a:r>
            <a:endParaRPr/>
          </a:p>
        </p:txBody>
      </p:sp>
      <p:sp>
        <p:nvSpPr>
          <p:cNvPr id="107" name="Google Shape;107;p4"/>
          <p:cNvSpPr txBox="1"/>
          <p:nvPr>
            <p:ph idx="1" type="body"/>
          </p:nvPr>
        </p:nvSpPr>
        <p:spPr>
          <a:xfrm>
            <a:off x="515025" y="1307225"/>
            <a:ext cx="3774300" cy="17895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1200"/>
              </a:spcAft>
              <a:buSzPct val="93693"/>
              <a:buNone/>
            </a:pPr>
            <a:r>
              <a:rPr lang="en" sz="1500"/>
              <a:t>Solve in any Prefered Coding Language. </a:t>
            </a:r>
            <a:br>
              <a:rPr lang="en" sz="1500"/>
            </a:br>
            <a:r>
              <a:rPr lang="en" sz="1500"/>
              <a:t>There are three levels of Coding Questions.</a:t>
            </a:r>
            <a:br>
              <a:rPr lang="en" sz="1500"/>
            </a:br>
            <a:br>
              <a:rPr lang="en" sz="1500"/>
            </a:br>
            <a:r>
              <a:rPr lang="en" sz="1500"/>
              <a:t>Level 1: 1 Question/30 mins</a:t>
            </a:r>
            <a:br>
              <a:rPr lang="en" sz="1500"/>
            </a:br>
            <a:r>
              <a:rPr lang="en" sz="1500"/>
              <a:t>Level 2: 1 Question/45 mins</a:t>
            </a:r>
            <a:br>
              <a:rPr lang="en" sz="1500"/>
            </a:br>
            <a:r>
              <a:rPr lang="en" sz="1500"/>
              <a:t>Level 3: 1 Question/45 mins</a:t>
            </a:r>
            <a:endParaRPr sz="1500"/>
          </a:p>
        </p:txBody>
      </p:sp>
      <p:sp>
        <p:nvSpPr>
          <p:cNvPr id="108" name="Google Shape;108;p4"/>
          <p:cNvSpPr txBox="1"/>
          <p:nvPr>
            <p:ph idx="2" type="body"/>
          </p:nvPr>
        </p:nvSpPr>
        <p:spPr>
          <a:xfrm>
            <a:off x="4461425" y="1409075"/>
            <a:ext cx="3774300" cy="15858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93693"/>
              <a:buNone/>
            </a:pPr>
            <a:r>
              <a:rPr lang="en" sz="1500"/>
              <a:t>Experience: Level 1 question was easy.</a:t>
            </a:r>
            <a:br>
              <a:rPr lang="en" sz="1500"/>
            </a:br>
            <a:r>
              <a:rPr lang="en" sz="1500"/>
              <a:t>	 Level 2 was Medium  </a:t>
            </a:r>
            <a:br>
              <a:rPr lang="en" sz="1500"/>
            </a:br>
            <a:r>
              <a:rPr lang="en" sz="1500"/>
              <a:t>	  Level 3 was Tough and lengthy.</a:t>
            </a:r>
            <a:br>
              <a:rPr lang="en" sz="1500"/>
            </a:br>
            <a:br>
              <a:rPr lang="en" sz="1500"/>
            </a:br>
            <a:r>
              <a:rPr lang="en" sz="1500"/>
              <a:t>I was able to get through first 2 levels.</a:t>
            </a:r>
            <a:endParaRPr sz="1500"/>
          </a:p>
        </p:txBody>
      </p:sp>
      <p:sp>
        <p:nvSpPr>
          <p:cNvPr id="109" name="Google Shape;109;p4"/>
          <p:cNvSpPr txBox="1"/>
          <p:nvPr/>
        </p:nvSpPr>
        <p:spPr>
          <a:xfrm>
            <a:off x="515025" y="3096725"/>
            <a:ext cx="75759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For Selection purpose, The company offers three packages 4LPA, 5 LPA and 6.5LPA.</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317500" lvl="0" marL="457200" marR="0" rtl="0" algn="l">
              <a:lnSpc>
                <a:spcPct val="100000"/>
              </a:lnSpc>
              <a:spcBef>
                <a:spcPts val="0"/>
              </a:spcBef>
              <a:spcAft>
                <a:spcPts val="0"/>
              </a:spcAft>
              <a:buClr>
                <a:srgbClr val="000000"/>
              </a:buClr>
              <a:buSzPts val="1400"/>
              <a:buFont typeface="Lato"/>
              <a:buChar char="●"/>
            </a:pPr>
            <a:r>
              <a:rPr b="0" i="0" lang="en" sz="1400" u="none" cap="none" strike="noStrike">
                <a:solidFill>
                  <a:srgbClr val="000000"/>
                </a:solidFill>
                <a:latin typeface="Lato"/>
                <a:ea typeface="Lato"/>
                <a:cs typeface="Lato"/>
                <a:sym typeface="Lato"/>
              </a:rPr>
              <a:t>To qualify for first package you need to clear MCQ + Level 1</a:t>
            </a:r>
            <a:endParaRPr b="0" i="0" sz="1400" u="none" cap="none" strike="noStrike">
              <a:solidFill>
                <a:srgbClr val="000000"/>
              </a:solidFill>
              <a:latin typeface="Lato"/>
              <a:ea typeface="Lato"/>
              <a:cs typeface="Lato"/>
              <a:sym typeface="Lato"/>
            </a:endParaRPr>
          </a:p>
          <a:p>
            <a:pPr indent="-317500" lvl="0" marL="457200" marR="0" rtl="0" algn="l">
              <a:lnSpc>
                <a:spcPct val="100000"/>
              </a:lnSpc>
              <a:spcBef>
                <a:spcPts val="0"/>
              </a:spcBef>
              <a:spcAft>
                <a:spcPts val="0"/>
              </a:spcAft>
              <a:buClr>
                <a:srgbClr val="000000"/>
              </a:buClr>
              <a:buSzPts val="1400"/>
              <a:buFont typeface="Lato"/>
              <a:buChar char="●"/>
            </a:pPr>
            <a:r>
              <a:rPr b="0" i="0" lang="en" sz="1400" u="none" cap="none" strike="noStrike">
                <a:solidFill>
                  <a:srgbClr val="000000"/>
                </a:solidFill>
                <a:latin typeface="Lato"/>
                <a:ea typeface="Lato"/>
                <a:cs typeface="Lato"/>
                <a:sym typeface="Lato"/>
              </a:rPr>
              <a:t>For second package MCQ + Level 1 + Level 2</a:t>
            </a:r>
            <a:endParaRPr b="0" i="0" sz="1400" u="none" cap="none" strike="noStrike">
              <a:solidFill>
                <a:srgbClr val="000000"/>
              </a:solidFill>
              <a:latin typeface="Lato"/>
              <a:ea typeface="Lato"/>
              <a:cs typeface="Lato"/>
              <a:sym typeface="Lato"/>
            </a:endParaRPr>
          </a:p>
          <a:p>
            <a:pPr indent="-317500" lvl="0" marL="457200" marR="0" rtl="0" algn="l">
              <a:lnSpc>
                <a:spcPct val="100000"/>
              </a:lnSpc>
              <a:spcBef>
                <a:spcPts val="0"/>
              </a:spcBef>
              <a:spcAft>
                <a:spcPts val="0"/>
              </a:spcAft>
              <a:buClr>
                <a:srgbClr val="000000"/>
              </a:buClr>
              <a:buSzPts val="1400"/>
              <a:buFont typeface="Lato"/>
              <a:buChar char="●"/>
            </a:pPr>
            <a:r>
              <a:rPr b="0" i="0" lang="en" sz="1400" u="none" cap="none" strike="noStrike">
                <a:solidFill>
                  <a:srgbClr val="000000"/>
                </a:solidFill>
                <a:latin typeface="Lato"/>
                <a:ea typeface="Lato"/>
                <a:cs typeface="Lato"/>
                <a:sym typeface="Lato"/>
              </a:rPr>
              <a:t>For Third package MCQ + Level 1 + Level2 + Level3</a:t>
            </a:r>
            <a:br>
              <a:rPr b="0" i="0" lang="en" sz="1400" u="none" cap="none" strike="noStrike">
                <a:solidFill>
                  <a:srgbClr val="000000"/>
                </a:solidFill>
                <a:latin typeface="Lato"/>
                <a:ea typeface="Lato"/>
                <a:cs typeface="Lato"/>
                <a:sym typeface="Lato"/>
              </a:rPr>
            </a:b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All these rounds were held on the same day as soon as you complete a round you will be notified on your registered emails. If you pass then you are required to start the next round on the same platform.</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721225" y="632850"/>
            <a:ext cx="5635200" cy="51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Round 3 : Technical Interview</a:t>
            </a:r>
            <a:endParaRPr/>
          </a:p>
        </p:txBody>
      </p:sp>
      <p:sp>
        <p:nvSpPr>
          <p:cNvPr id="115" name="Google Shape;115;p5"/>
          <p:cNvSpPr txBox="1"/>
          <p:nvPr>
            <p:ph idx="1" type="body"/>
          </p:nvPr>
        </p:nvSpPr>
        <p:spPr>
          <a:xfrm>
            <a:off x="584791" y="1356550"/>
            <a:ext cx="7848259" cy="3406836"/>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200">
                <a:solidFill>
                  <a:schemeClr val="dk2"/>
                </a:solidFill>
                <a:latin typeface="Merriweather"/>
                <a:ea typeface="Merriweather"/>
                <a:cs typeface="Merriweather"/>
                <a:sym typeface="Merriweather"/>
              </a:rPr>
              <a:t>Interview was held on Microsoft Teams Platform.</a:t>
            </a:r>
            <a:br>
              <a:rPr lang="en" sz="1200">
                <a:solidFill>
                  <a:schemeClr val="dk2"/>
                </a:solidFill>
                <a:latin typeface="Merriweather"/>
                <a:ea typeface="Merriweather"/>
                <a:cs typeface="Merriweather"/>
                <a:sym typeface="Merriweather"/>
              </a:rPr>
            </a:br>
            <a:r>
              <a:rPr lang="en" sz="1200">
                <a:solidFill>
                  <a:srgbClr val="666666"/>
                </a:solidFill>
                <a:latin typeface="Merriweather"/>
                <a:ea typeface="Merriweather"/>
                <a:cs typeface="Merriweather"/>
                <a:sym typeface="Merriweather"/>
              </a:rPr>
              <a:t>Interview started with the classic question:</a:t>
            </a:r>
            <a:br>
              <a:rPr lang="en" sz="1200">
                <a:solidFill>
                  <a:schemeClr val="dk2"/>
                </a:solidFill>
                <a:latin typeface="Merriweather"/>
                <a:ea typeface="Merriweather"/>
                <a:cs typeface="Merriweather"/>
                <a:sym typeface="Merriweather"/>
              </a:rPr>
            </a:br>
            <a:r>
              <a:rPr lang="en" sz="1200">
                <a:solidFill>
                  <a:schemeClr val="dk2"/>
                </a:solidFill>
                <a:latin typeface="Merriweather"/>
                <a:ea typeface="Merriweather"/>
                <a:cs typeface="Merriweather"/>
                <a:sym typeface="Merriweather"/>
              </a:rPr>
              <a:t>1. </a:t>
            </a:r>
            <a:r>
              <a:rPr lang="en" sz="1200">
                <a:solidFill>
                  <a:schemeClr val="dk2"/>
                </a:solidFill>
                <a:highlight>
                  <a:schemeClr val="lt1"/>
                </a:highlight>
                <a:latin typeface="Merriweather"/>
                <a:ea typeface="Merriweather"/>
                <a:cs typeface="Merriweather"/>
                <a:sym typeface="Merriweather"/>
              </a:rPr>
              <a:t>Tell me about yourself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2. Questions on the Projects and Internships mentioned in the Resume .</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3. Questions : </a:t>
            </a:r>
            <a:endParaRPr/>
          </a:p>
          <a:p>
            <a:pPr indent="-171450" lvl="0" marL="171450" rtl="0" algn="l">
              <a:lnSpc>
                <a:spcPct val="115000"/>
              </a:lnSpc>
              <a:spcBef>
                <a:spcPts val="1200"/>
              </a:spcBef>
              <a:spcAft>
                <a:spcPts val="0"/>
              </a:spcAft>
              <a:buSzPts val="1300"/>
              <a:buChar char="●"/>
            </a:pPr>
            <a:r>
              <a:rPr lang="en" sz="1200">
                <a:solidFill>
                  <a:schemeClr val="dk2"/>
                </a:solidFill>
                <a:highlight>
                  <a:schemeClr val="lt1"/>
                </a:highlight>
                <a:latin typeface="Merriweather"/>
                <a:ea typeface="Merriweather"/>
                <a:cs typeface="Merriweather"/>
                <a:sym typeface="Merriweather"/>
              </a:rPr>
              <a:t>which language you comfortable with? I said java,python,sql,c.</a:t>
            </a:r>
            <a:endParaRPr/>
          </a:p>
          <a:p>
            <a:pPr indent="-171450" lvl="0" marL="171450" rtl="0" algn="l">
              <a:lnSpc>
                <a:spcPct val="115000"/>
              </a:lnSpc>
              <a:spcBef>
                <a:spcPts val="1200"/>
              </a:spcBef>
              <a:spcAft>
                <a:spcPts val="0"/>
              </a:spcAft>
              <a:buSzPts val="1300"/>
              <a:buChar char="●"/>
            </a:pPr>
            <a:r>
              <a:rPr lang="en" sz="1200">
                <a:solidFill>
                  <a:schemeClr val="dk2"/>
                </a:solidFill>
                <a:highlight>
                  <a:schemeClr val="lt1"/>
                </a:highlight>
                <a:latin typeface="Merriweather"/>
                <a:ea typeface="Merriweather"/>
                <a:cs typeface="Merriweather"/>
                <a:sym typeface="Merriweather"/>
              </a:rPr>
              <a:t>Questions on java : what is class Loader?, Wrapper class in java?, OOPs Concept, Collection Framework</a:t>
            </a:r>
            <a:endParaRPr/>
          </a:p>
          <a:p>
            <a:pPr indent="-171450" lvl="0" marL="171450" rtl="0" algn="l">
              <a:lnSpc>
                <a:spcPct val="115000"/>
              </a:lnSpc>
              <a:spcBef>
                <a:spcPts val="1200"/>
              </a:spcBef>
              <a:spcAft>
                <a:spcPts val="0"/>
              </a:spcAft>
              <a:buSzPts val="1300"/>
              <a:buChar char="●"/>
            </a:pPr>
            <a:r>
              <a:rPr lang="en" sz="1200">
                <a:solidFill>
                  <a:schemeClr val="dk2"/>
                </a:solidFill>
                <a:highlight>
                  <a:schemeClr val="lt1"/>
                </a:highlight>
                <a:latin typeface="Merriweather"/>
                <a:ea typeface="Merriweather"/>
                <a:cs typeface="Merriweather"/>
                <a:sym typeface="Merriweather"/>
              </a:rPr>
              <a:t>Then they give me code and I have to tell output</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System.out.println(100+100+”LTI”); System.out.println(“LTI”+100+100);</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a:t>
            </a:r>
            <a:endParaRPr/>
          </a:p>
          <a:p>
            <a:pPr indent="0" lvl="0" marL="0" rtl="0" algn="l">
              <a:lnSpc>
                <a:spcPct val="115000"/>
              </a:lnSpc>
              <a:spcBef>
                <a:spcPts val="1200"/>
              </a:spcBef>
              <a:spcAft>
                <a:spcPts val="0"/>
              </a:spcAft>
              <a:buSzPts val="1300"/>
              <a:buNone/>
            </a:pPr>
            <a:r>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br>
              <a:rPr lang="en" sz="1200">
                <a:solidFill>
                  <a:schemeClr val="dk2"/>
                </a:solidFill>
                <a:highlight>
                  <a:schemeClr val="lt1"/>
                </a:highlight>
                <a:latin typeface="Merriweather"/>
                <a:ea typeface="Merriweather"/>
                <a:cs typeface="Merriweather"/>
                <a:sym typeface="Merriweather"/>
              </a:rPr>
            </a:br>
            <a:br>
              <a:rPr lang="en" sz="1200">
                <a:solidFill>
                  <a:schemeClr val="dk2"/>
                </a:solidFill>
                <a:highlight>
                  <a:schemeClr val="lt1"/>
                </a:highlight>
                <a:latin typeface="Merriweather"/>
                <a:ea typeface="Merriweather"/>
                <a:cs typeface="Merriweather"/>
                <a:sym typeface="Merriweather"/>
              </a:rPr>
            </a:br>
            <a:br>
              <a:rPr lang="en" sz="1200">
                <a:solidFill>
                  <a:schemeClr val="dk2"/>
                </a:solidFill>
                <a:highlight>
                  <a:schemeClr val="lt1"/>
                </a:highlight>
                <a:latin typeface="Merriweather"/>
                <a:ea typeface="Merriweather"/>
                <a:cs typeface="Merriweather"/>
                <a:sym typeface="Merriweather"/>
              </a:rPr>
            </a:br>
            <a:endParaRPr sz="1200">
              <a:solidFill>
                <a:schemeClr val="dk2"/>
              </a:solidFill>
              <a:highlight>
                <a:schemeClr val="lt1"/>
              </a:highlight>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721225" y="632850"/>
            <a:ext cx="5635200" cy="51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Round 3 : Technical Interview</a:t>
            </a:r>
            <a:endParaRPr/>
          </a:p>
        </p:txBody>
      </p:sp>
      <p:sp>
        <p:nvSpPr>
          <p:cNvPr id="121" name="Google Shape;121;p6"/>
          <p:cNvSpPr txBox="1"/>
          <p:nvPr>
            <p:ph idx="1" type="body"/>
          </p:nvPr>
        </p:nvSpPr>
        <p:spPr>
          <a:xfrm>
            <a:off x="584791" y="1356550"/>
            <a:ext cx="7848259" cy="3406836"/>
          </a:xfrm>
          <a:prstGeom prst="rect">
            <a:avLst/>
          </a:prstGeom>
          <a:noFill/>
          <a:ln>
            <a:noFill/>
          </a:ln>
        </p:spPr>
        <p:txBody>
          <a:bodyPr anchorCtr="0" anchor="t" bIns="91425" lIns="91425" spcFirstLastPara="1" rIns="91425" wrap="square" tIns="91425">
            <a:noAutofit/>
          </a:bodyPr>
          <a:lstStyle/>
          <a:p>
            <a:pPr indent="-171450" lvl="0" marL="171450" rtl="0" algn="l">
              <a:lnSpc>
                <a:spcPct val="115000"/>
              </a:lnSpc>
              <a:spcBef>
                <a:spcPts val="1200"/>
              </a:spcBef>
              <a:spcAft>
                <a:spcPts val="0"/>
              </a:spcAft>
              <a:buSzPts val="1300"/>
              <a:buChar char="●"/>
            </a:pPr>
            <a:r>
              <a:rPr lang="en" sz="1200">
                <a:solidFill>
                  <a:schemeClr val="dk2"/>
                </a:solidFill>
                <a:highlight>
                  <a:schemeClr val="lt1"/>
                </a:highlight>
                <a:latin typeface="Merriweather"/>
                <a:ea typeface="Merriweather"/>
                <a:cs typeface="Merriweather"/>
                <a:sym typeface="Merriweather"/>
              </a:rPr>
              <a:t>Questions on Python : </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what is List,tuple and difference?</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What is Slicing?</a:t>
            </a: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write Syntax of Slicing</a:t>
            </a:r>
            <a:endParaRPr/>
          </a:p>
          <a:p>
            <a:pPr indent="0" lvl="0" marL="0" rtl="0" algn="l">
              <a:lnSpc>
                <a:spcPct val="115000"/>
              </a:lnSpc>
              <a:spcBef>
                <a:spcPts val="1200"/>
              </a:spcBef>
              <a:spcAft>
                <a:spcPts val="0"/>
              </a:spcAft>
              <a:buSzPts val="1300"/>
              <a:buNone/>
            </a:pPr>
            <a:r>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rPr lang="en" sz="1200">
                <a:solidFill>
                  <a:schemeClr val="dk2"/>
                </a:solidFill>
                <a:latin typeface="Merriweather"/>
                <a:ea typeface="Merriweather"/>
                <a:cs typeface="Merriweather"/>
                <a:sym typeface="Merriweather"/>
              </a:rPr>
              <a:t>The Interview Lasted about 10 minutes.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rPr b="1" lang="en" sz="1400">
                <a:solidFill>
                  <a:schemeClr val="dk2"/>
                </a:solidFill>
                <a:latin typeface="Merriweather"/>
                <a:ea typeface="Merriweather"/>
                <a:cs typeface="Merriweather"/>
                <a:sym typeface="Merriweather"/>
              </a:rPr>
              <a:t>Note:</a:t>
            </a:r>
            <a:r>
              <a:rPr lang="en" sz="1400">
                <a:solidFill>
                  <a:schemeClr val="dk2"/>
                </a:solidFill>
                <a:latin typeface="Merriweather"/>
                <a:ea typeface="Merriweather"/>
                <a:cs typeface="Merriweather"/>
                <a:sym typeface="Merriweather"/>
              </a:rPr>
              <a:t> Just be confident about what you speak and if you don’t know anything just say it to them, they will help you out, and it will also show how honest you are and if possible always smile and don’t be nervous.</a:t>
            </a:r>
            <a:endParaRPr sz="14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t/>
            </a:r>
            <a:endParaRPr sz="14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rPr lang="en" sz="1200">
                <a:solidFill>
                  <a:schemeClr val="dk2"/>
                </a:solidFill>
                <a:highlight>
                  <a:schemeClr val="lt1"/>
                </a:highlight>
                <a:latin typeface="Merriweather"/>
                <a:ea typeface="Merriweather"/>
                <a:cs typeface="Merriweather"/>
                <a:sym typeface="Merriweather"/>
              </a:rPr>
              <a:t> </a:t>
            </a:r>
            <a:endParaRPr/>
          </a:p>
          <a:p>
            <a:pPr indent="0" lvl="0" marL="0" rtl="0" algn="l">
              <a:lnSpc>
                <a:spcPct val="115000"/>
              </a:lnSpc>
              <a:spcBef>
                <a:spcPts val="1200"/>
              </a:spcBef>
              <a:spcAft>
                <a:spcPts val="0"/>
              </a:spcAft>
              <a:buSzPts val="1300"/>
              <a:buNone/>
            </a:pPr>
            <a:r>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br>
              <a:rPr lang="en" sz="1200">
                <a:solidFill>
                  <a:schemeClr val="dk2"/>
                </a:solidFill>
                <a:highlight>
                  <a:schemeClr val="lt1"/>
                </a:highlight>
                <a:latin typeface="Merriweather"/>
                <a:ea typeface="Merriweather"/>
                <a:cs typeface="Merriweather"/>
                <a:sym typeface="Merriweather"/>
              </a:rPr>
            </a:br>
            <a:br>
              <a:rPr lang="en" sz="1200">
                <a:solidFill>
                  <a:schemeClr val="dk2"/>
                </a:solidFill>
                <a:highlight>
                  <a:schemeClr val="lt1"/>
                </a:highlight>
                <a:latin typeface="Merriweather"/>
                <a:ea typeface="Merriweather"/>
                <a:cs typeface="Merriweather"/>
                <a:sym typeface="Merriweather"/>
              </a:rPr>
            </a:b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r>
              <a:t/>
            </a:r>
            <a:endParaRPr sz="1200">
              <a:solidFill>
                <a:schemeClr val="dk2"/>
              </a:solidFill>
              <a:highlight>
                <a:schemeClr val="lt1"/>
              </a:highlight>
              <a:latin typeface="Merriweather"/>
              <a:ea typeface="Merriweather"/>
              <a:cs typeface="Merriweather"/>
              <a:sym typeface="Merriweather"/>
            </a:endParaRPr>
          </a:p>
          <a:p>
            <a:pPr indent="0" lvl="0" marL="0" rtl="0" algn="l">
              <a:lnSpc>
                <a:spcPct val="115000"/>
              </a:lnSpc>
              <a:spcBef>
                <a:spcPts val="1200"/>
              </a:spcBef>
              <a:spcAft>
                <a:spcPts val="0"/>
              </a:spcAft>
              <a:buSzPts val="1300"/>
              <a:buNone/>
            </a:pPr>
            <a:br>
              <a:rPr lang="en" sz="1200">
                <a:solidFill>
                  <a:schemeClr val="dk2"/>
                </a:solidFill>
                <a:highlight>
                  <a:schemeClr val="lt1"/>
                </a:highlight>
                <a:latin typeface="Merriweather"/>
                <a:ea typeface="Merriweather"/>
                <a:cs typeface="Merriweather"/>
                <a:sym typeface="Merriweather"/>
              </a:rPr>
            </a:br>
            <a:endParaRPr sz="1200">
              <a:solidFill>
                <a:schemeClr val="dk2"/>
              </a:solidFill>
              <a:highlight>
                <a:schemeClr val="lt1"/>
              </a:highlight>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721225" y="632850"/>
            <a:ext cx="5635200" cy="513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Round 4 : HR Interview</a:t>
            </a:r>
            <a:endParaRPr/>
          </a:p>
        </p:txBody>
      </p:sp>
      <p:sp>
        <p:nvSpPr>
          <p:cNvPr id="127" name="Google Shape;127;p7"/>
          <p:cNvSpPr txBox="1"/>
          <p:nvPr>
            <p:ph idx="1" type="body"/>
          </p:nvPr>
        </p:nvSpPr>
        <p:spPr>
          <a:xfrm>
            <a:off x="678350" y="1356550"/>
            <a:ext cx="7754700" cy="343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a:solidFill>
                  <a:schemeClr val="dk2"/>
                </a:solidFill>
                <a:latin typeface="Nunito"/>
                <a:ea typeface="Nunito"/>
                <a:cs typeface="Nunito"/>
                <a:sym typeface="Nunito"/>
              </a:rPr>
              <a:t>Interview was held on Microsoft Teams Platform.</a:t>
            </a:r>
            <a:br>
              <a:rPr lang="en">
                <a:solidFill>
                  <a:schemeClr val="dk2"/>
                </a:solidFill>
                <a:latin typeface="Nunito"/>
                <a:ea typeface="Nunito"/>
                <a:cs typeface="Nunito"/>
                <a:sym typeface="Nunito"/>
              </a:rPr>
            </a:br>
            <a:r>
              <a:rPr lang="en">
                <a:solidFill>
                  <a:srgbClr val="666666"/>
                </a:solidFill>
                <a:latin typeface="Nunito"/>
                <a:ea typeface="Nunito"/>
                <a:cs typeface="Nunito"/>
                <a:sym typeface="Nunito"/>
              </a:rPr>
              <a:t>Once Again Interview started with the classic question:</a:t>
            </a:r>
            <a:br>
              <a:rPr lang="en">
                <a:solidFill>
                  <a:schemeClr val="dk2"/>
                </a:solidFill>
                <a:latin typeface="Nunito"/>
                <a:ea typeface="Nunito"/>
                <a:cs typeface="Nunito"/>
                <a:sym typeface="Nunito"/>
              </a:rPr>
            </a:br>
            <a:r>
              <a:rPr lang="en">
                <a:solidFill>
                  <a:schemeClr val="dk2"/>
                </a:solidFill>
                <a:latin typeface="Nunito"/>
                <a:ea typeface="Nunito"/>
                <a:cs typeface="Nunito"/>
                <a:sym typeface="Nunito"/>
              </a:rPr>
              <a:t>1. </a:t>
            </a:r>
            <a:r>
              <a:rPr lang="en">
                <a:solidFill>
                  <a:schemeClr val="dk2"/>
                </a:solidFill>
                <a:highlight>
                  <a:schemeClr val="lt1"/>
                </a:highlight>
                <a:latin typeface="Nunito"/>
                <a:ea typeface="Nunito"/>
                <a:cs typeface="Nunito"/>
                <a:sym typeface="Nunito"/>
              </a:rPr>
              <a:t>Tell me about yourself ?</a:t>
            </a:r>
            <a:br>
              <a:rPr lang="en">
                <a:solidFill>
                  <a:schemeClr val="dk2"/>
                </a:solidFill>
                <a:highlight>
                  <a:schemeClr val="lt1"/>
                </a:highlight>
                <a:latin typeface="Nunito"/>
                <a:ea typeface="Nunito"/>
                <a:cs typeface="Nunito"/>
                <a:sym typeface="Nunito"/>
              </a:rPr>
            </a:br>
            <a:r>
              <a:rPr lang="en">
                <a:solidFill>
                  <a:schemeClr val="dk2"/>
                </a:solidFill>
                <a:highlight>
                  <a:schemeClr val="lt1"/>
                </a:highlight>
                <a:latin typeface="Nunito"/>
                <a:ea typeface="Nunito"/>
                <a:cs typeface="Nunito"/>
                <a:sym typeface="Nunito"/>
              </a:rPr>
              <a:t>2. If you got a chance to go another country then which 3 country you would go and why?</a:t>
            </a:r>
            <a:br>
              <a:rPr lang="en">
                <a:solidFill>
                  <a:schemeClr val="dk2"/>
                </a:solidFill>
                <a:highlight>
                  <a:schemeClr val="lt1"/>
                </a:highlight>
                <a:latin typeface="Nunito"/>
                <a:ea typeface="Nunito"/>
                <a:cs typeface="Nunito"/>
                <a:sym typeface="Nunito"/>
              </a:rPr>
            </a:br>
            <a:r>
              <a:rPr lang="en">
                <a:solidFill>
                  <a:schemeClr val="dk2"/>
                </a:solidFill>
                <a:highlight>
                  <a:schemeClr val="lt1"/>
                </a:highlight>
                <a:latin typeface="Nunito"/>
                <a:ea typeface="Nunito"/>
                <a:cs typeface="Nunito"/>
                <a:sym typeface="Nunito"/>
              </a:rPr>
              <a:t>3. If you became prime minister then what 3 things you would do?</a:t>
            </a:r>
            <a:endParaRPr/>
          </a:p>
          <a:p>
            <a:pPr indent="0" lvl="0" marL="0" rtl="0" algn="l">
              <a:lnSpc>
                <a:spcPct val="115000"/>
              </a:lnSpc>
              <a:spcBef>
                <a:spcPts val="0"/>
              </a:spcBef>
              <a:spcAft>
                <a:spcPts val="0"/>
              </a:spcAft>
              <a:buSzPts val="1300"/>
              <a:buNone/>
            </a:pPr>
            <a:r>
              <a:rPr lang="en">
                <a:solidFill>
                  <a:schemeClr val="dk2"/>
                </a:solidFill>
                <a:highlight>
                  <a:schemeClr val="lt1"/>
                </a:highlight>
                <a:latin typeface="Nunito"/>
                <a:ea typeface="Nunito"/>
                <a:cs typeface="Nunito"/>
                <a:sym typeface="Nunito"/>
              </a:rPr>
              <a:t>4. If You Were An Animal What Would You Be?</a:t>
            </a:r>
            <a:endParaRPr>
              <a:solidFill>
                <a:schemeClr val="dk2"/>
              </a:solidFill>
              <a:highlight>
                <a:schemeClr val="lt1"/>
              </a:highlight>
              <a:latin typeface="Nunito"/>
              <a:ea typeface="Nunito"/>
              <a:cs typeface="Nunito"/>
              <a:sym typeface="Nunito"/>
            </a:endParaRPr>
          </a:p>
          <a:p>
            <a:pPr indent="0" lvl="0" marL="0" rtl="0" algn="l">
              <a:lnSpc>
                <a:spcPct val="115000"/>
              </a:lnSpc>
              <a:spcBef>
                <a:spcPts val="0"/>
              </a:spcBef>
              <a:spcAft>
                <a:spcPts val="0"/>
              </a:spcAft>
              <a:buSzPts val="1300"/>
              <a:buNone/>
            </a:pPr>
            <a:r>
              <a:rPr lang="en">
                <a:solidFill>
                  <a:schemeClr val="dk2"/>
                </a:solidFill>
                <a:highlight>
                  <a:schemeClr val="lt1"/>
                </a:highlight>
                <a:latin typeface="Nunito"/>
                <a:ea typeface="Nunito"/>
                <a:cs typeface="Nunito"/>
                <a:sym typeface="Nunito"/>
              </a:rPr>
              <a:t>5. Comfortable for relocation?</a:t>
            </a:r>
            <a:endParaRPr/>
          </a:p>
          <a:p>
            <a:pPr indent="0" lvl="0" marL="0" rtl="0" algn="l">
              <a:lnSpc>
                <a:spcPct val="115000"/>
              </a:lnSpc>
              <a:spcBef>
                <a:spcPts val="0"/>
              </a:spcBef>
              <a:spcAft>
                <a:spcPts val="0"/>
              </a:spcAft>
              <a:buSzPts val="1300"/>
              <a:buNone/>
            </a:pPr>
            <a:r>
              <a:rPr lang="en">
                <a:solidFill>
                  <a:schemeClr val="dk2"/>
                </a:solidFill>
                <a:highlight>
                  <a:schemeClr val="lt1"/>
                </a:highlight>
                <a:latin typeface="Nunito"/>
                <a:ea typeface="Nunito"/>
                <a:cs typeface="Nunito"/>
                <a:sym typeface="Nunito"/>
              </a:rPr>
              <a:t>6. Any questions for us? (</a:t>
            </a:r>
            <a:r>
              <a:rPr lang="en">
                <a:solidFill>
                  <a:srgbClr val="000000"/>
                </a:solidFill>
                <a:latin typeface="Nunito"/>
                <a:ea typeface="Nunito"/>
                <a:cs typeface="Nunito"/>
                <a:sym typeface="Nunito"/>
              </a:rPr>
              <a:t>It is a good practice to ask questions just a subtle way of showing your interest in the company, so please ask</a:t>
            </a:r>
            <a:r>
              <a:rPr lang="en">
                <a:solidFill>
                  <a:schemeClr val="dk2"/>
                </a:solidFill>
                <a:highlight>
                  <a:schemeClr val="lt1"/>
                </a:highlight>
                <a:latin typeface="Nunito"/>
                <a:ea typeface="Nunito"/>
                <a:cs typeface="Nunito"/>
                <a:sym typeface="Nunito"/>
              </a:rPr>
              <a:t>).</a:t>
            </a:r>
            <a:endParaRPr/>
          </a:p>
          <a:p>
            <a:pPr indent="0" lvl="0" marL="0" rtl="0" algn="l">
              <a:lnSpc>
                <a:spcPct val="115000"/>
              </a:lnSpc>
              <a:spcBef>
                <a:spcPts val="0"/>
              </a:spcBef>
              <a:spcAft>
                <a:spcPts val="0"/>
              </a:spcAft>
              <a:buSzPts val="1300"/>
              <a:buNone/>
            </a:pPr>
            <a:r>
              <a:t/>
            </a:r>
            <a:endParaRPr>
              <a:solidFill>
                <a:schemeClr val="dk2"/>
              </a:solidFill>
              <a:highlight>
                <a:schemeClr val="lt1"/>
              </a:highlight>
              <a:latin typeface="Nunito"/>
              <a:ea typeface="Nunito"/>
              <a:cs typeface="Nunito"/>
              <a:sym typeface="Nunito"/>
            </a:endParaRPr>
          </a:p>
          <a:p>
            <a:pPr indent="0" lvl="0" marL="0" rtl="0" algn="l">
              <a:lnSpc>
                <a:spcPct val="115000"/>
              </a:lnSpc>
              <a:spcBef>
                <a:spcPts val="1200"/>
              </a:spcBef>
              <a:spcAft>
                <a:spcPts val="1200"/>
              </a:spcAft>
              <a:buSzPts val="1300"/>
              <a:buNone/>
            </a:pPr>
            <a:r>
              <a:rPr lang="en">
                <a:solidFill>
                  <a:schemeClr val="dk2"/>
                </a:solidFill>
                <a:highlight>
                  <a:schemeClr val="lt1"/>
                </a:highlight>
                <a:latin typeface="Nunito"/>
                <a:ea typeface="Nunito"/>
                <a:cs typeface="Nunito"/>
                <a:sym typeface="Nunito"/>
              </a:rPr>
              <a:t>AtLast, They just confirms that you are aware of all the terms and conditions about bond of 2 years and relocation( </a:t>
            </a:r>
            <a:r>
              <a:rPr lang="en">
                <a:solidFill>
                  <a:srgbClr val="000000"/>
                </a:solidFill>
                <a:highlight>
                  <a:schemeClr val="lt1"/>
                </a:highlight>
                <a:latin typeface="Nunito"/>
                <a:ea typeface="Nunito"/>
                <a:cs typeface="Nunito"/>
                <a:sym typeface="Nunito"/>
              </a:rPr>
              <a:t>Are you flexible for reallocation, night shifts, bonds, etc?, Are you sure that you are satisfying all the eligibility criteria? </a:t>
            </a:r>
            <a:r>
              <a:rPr lang="en">
                <a:solidFill>
                  <a:schemeClr val="dk2"/>
                </a:solidFill>
                <a:highlight>
                  <a:schemeClr val="lt1"/>
                </a:highlight>
                <a:latin typeface="Nunito"/>
                <a:ea typeface="Nunito"/>
                <a:cs typeface="Nunito"/>
                <a:sym typeface="Nunito"/>
              </a:rPr>
              <a:t>).</a:t>
            </a:r>
            <a:br>
              <a:rPr lang="en">
                <a:solidFill>
                  <a:schemeClr val="dk2"/>
                </a:solidFill>
                <a:highlight>
                  <a:schemeClr val="lt1"/>
                </a:highlight>
                <a:latin typeface="Nunito"/>
                <a:ea typeface="Nunito"/>
                <a:cs typeface="Nunito"/>
                <a:sym typeface="Nunito"/>
              </a:rPr>
            </a:br>
            <a:br>
              <a:rPr lang="en">
                <a:solidFill>
                  <a:schemeClr val="dk2"/>
                </a:solidFill>
                <a:highlight>
                  <a:schemeClr val="lt1"/>
                </a:highlight>
                <a:latin typeface="Nunito"/>
                <a:ea typeface="Nunito"/>
                <a:cs typeface="Nunito"/>
                <a:sym typeface="Nunito"/>
              </a:rPr>
            </a:br>
            <a:endParaRPr>
              <a:solidFill>
                <a:schemeClr val="dk2"/>
              </a:solidFill>
              <a:highlight>
                <a:schemeClr val="lt1"/>
              </a:highlight>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630350" y="1152475"/>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n"/>
              <a:t>Thank You </a:t>
            </a:r>
            <a:endParaRPr/>
          </a:p>
        </p:txBody>
      </p:sp>
      <p:sp>
        <p:nvSpPr>
          <p:cNvPr id="133" name="Google Shape;133;p8"/>
          <p:cNvSpPr txBox="1"/>
          <p:nvPr>
            <p:ph idx="1" type="subTitle"/>
          </p:nvPr>
        </p:nvSpPr>
        <p:spPr>
          <a:xfrm>
            <a:off x="630350" y="1891550"/>
            <a:ext cx="3661500" cy="7590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00000"/>
              </a:lnSpc>
              <a:spcBef>
                <a:spcPts val="0"/>
              </a:spcBef>
              <a:spcAft>
                <a:spcPts val="0"/>
              </a:spcAft>
              <a:buSzPct val="108108"/>
              <a:buNone/>
            </a:pPr>
            <a:r>
              <a:rPr lang="en"/>
              <a:t>Trust The Process and keep improvising; </a:t>
            </a:r>
            <a:br>
              <a:rPr lang="en"/>
            </a:br>
            <a:r>
              <a:rPr lang="en"/>
              <a:t>Sooner or later you will get the Job.</a:t>
            </a:r>
            <a:endParaRPr/>
          </a:p>
        </p:txBody>
      </p:sp>
      <p:pic>
        <p:nvPicPr>
          <p:cNvPr id="134" name="Google Shape;134;p8"/>
          <p:cNvPicPr preferRelativeResize="0"/>
          <p:nvPr/>
        </p:nvPicPr>
        <p:blipFill rotWithShape="1">
          <a:blip r:embed="rId3">
            <a:alphaModFix/>
          </a:blip>
          <a:srcRect b="0" l="0" r="0" t="15419"/>
          <a:stretch/>
        </p:blipFill>
        <p:spPr>
          <a:xfrm>
            <a:off x="5075625" y="396488"/>
            <a:ext cx="3429000" cy="4350526"/>
          </a:xfrm>
          <a:prstGeom prst="rect">
            <a:avLst/>
          </a:prstGeom>
          <a:noFill/>
          <a:ln>
            <a:noFill/>
          </a:ln>
        </p:spPr>
      </p:pic>
      <p:sp>
        <p:nvSpPr>
          <p:cNvPr id="135" name="Google Shape;135;p8"/>
          <p:cNvSpPr txBox="1"/>
          <p:nvPr/>
        </p:nvSpPr>
        <p:spPr>
          <a:xfrm>
            <a:off x="630350" y="2982100"/>
            <a:ext cx="3545100" cy="14772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For Any Queries you can reach out to me at:</a:t>
            </a:r>
            <a:br>
              <a:rPr b="0" i="0" lang="en" sz="1400" u="none" cap="none" strike="noStrike">
                <a:solidFill>
                  <a:srgbClr val="000000"/>
                </a:solidFill>
                <a:latin typeface="Lato"/>
                <a:ea typeface="Lato"/>
                <a:cs typeface="Lato"/>
                <a:sym typeface="Lato"/>
              </a:rPr>
            </a:b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ato"/>
                <a:ea typeface="Lato"/>
                <a:cs typeface="Lato"/>
                <a:sym typeface="Lato"/>
              </a:rPr>
              <a:t>Mail: </a:t>
            </a:r>
            <a:br>
              <a:rPr b="0" i="0" lang="en" sz="1400" u="none" cap="none" strike="noStrike">
                <a:solidFill>
                  <a:srgbClr val="000000"/>
                </a:solidFill>
                <a:latin typeface="Lato"/>
                <a:ea typeface="Lato"/>
                <a:cs typeface="Lato"/>
                <a:sym typeface="Lato"/>
              </a:rPr>
            </a:br>
            <a:r>
              <a:rPr b="0" i="0" lang="en" sz="1400" u="none" cap="none" strike="noStrike">
                <a:solidFill>
                  <a:srgbClr val="000000"/>
                </a:solidFill>
                <a:latin typeface="Lato"/>
                <a:ea typeface="Lato"/>
                <a:cs typeface="Lato"/>
                <a:sym typeface="Lato"/>
              </a:rPr>
              <a:t>d2019hirthik.pamnani@ves.ac.in</a:t>
            </a:r>
            <a:br>
              <a:rPr b="0" i="0" lang="en" sz="1400" u="none" cap="none" strike="noStrike">
                <a:solidFill>
                  <a:srgbClr val="000000"/>
                </a:solidFill>
                <a:latin typeface="Lato"/>
                <a:ea typeface="Lato"/>
                <a:cs typeface="Lato"/>
                <a:sym typeface="Lato"/>
              </a:rPr>
            </a:br>
            <a:endParaRPr b="0" i="0" sz="1400" u="none" cap="none" strike="noStrike">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Hirthik Pamnani</dc:creator>
</cp:coreProperties>
</file>