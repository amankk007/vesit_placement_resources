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Advent Pro SemiBold"/>
      <p:regular r:id="rId19"/>
      <p:bold r:id="rId20"/>
      <p:italic r:id="rId21"/>
      <p:boldItalic r:id="rId22"/>
    </p:embeddedFont>
    <p:embeddedFont>
      <p:font typeface="Montserrat"/>
      <p:regular r:id="rId23"/>
      <p:bold r:id="rId24"/>
      <p:italic r:id="rId25"/>
      <p:boldItalic r:id="rId26"/>
    </p:embeddedFont>
    <p:embeddedFont>
      <p:font typeface="Fira Sans Extra Condensed Medium"/>
      <p:regular r:id="rId27"/>
      <p:bold r:id="rId28"/>
      <p:italic r:id="rId29"/>
      <p:boldItalic r:id="rId30"/>
    </p:embeddedFont>
    <p:embeddedFont>
      <p:font typeface="Fira Sans Condensed Medium"/>
      <p:regular r:id="rId31"/>
      <p:bold r:id="rId32"/>
      <p:italic r:id="rId33"/>
      <p:boldItalic r:id="rId34"/>
    </p:embeddedFont>
    <p:embeddedFont>
      <p:font typeface="Maven Pro"/>
      <p:regular r:id="rId35"/>
      <p:bold r:id="rId36"/>
    </p:embeddedFont>
    <p:embeddedFont>
      <p:font typeface="Share Tech"/>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dventProSemiBold-bold.fntdata"/><Relationship Id="rId22" Type="http://schemas.openxmlformats.org/officeDocument/2006/relationships/font" Target="fonts/AdventProSemiBold-boldItalic.fntdata"/><Relationship Id="rId21" Type="http://schemas.openxmlformats.org/officeDocument/2006/relationships/font" Target="fonts/AdventProSemiBold-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FiraSansExtraCondensedMedium-bold.fntdata"/><Relationship Id="rId27" Type="http://schemas.openxmlformats.org/officeDocument/2006/relationships/font" Target="fonts/FiraSansExtraCondensed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raSansExtraCondensedMedium-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CondensedMedium-regular.fntdata"/><Relationship Id="rId30" Type="http://schemas.openxmlformats.org/officeDocument/2006/relationships/font" Target="fonts/FiraSansExtraCondensedMedium-boldItalic.fntdata"/><Relationship Id="rId11" Type="http://schemas.openxmlformats.org/officeDocument/2006/relationships/slide" Target="slides/slide6.xml"/><Relationship Id="rId33" Type="http://schemas.openxmlformats.org/officeDocument/2006/relationships/font" Target="fonts/FiraSansCondensedMedium-italic.fntdata"/><Relationship Id="rId10" Type="http://schemas.openxmlformats.org/officeDocument/2006/relationships/slide" Target="slides/slide5.xml"/><Relationship Id="rId32" Type="http://schemas.openxmlformats.org/officeDocument/2006/relationships/font" Target="fonts/FiraSansCondensedMedium-bold.fntdata"/><Relationship Id="rId13" Type="http://schemas.openxmlformats.org/officeDocument/2006/relationships/slide" Target="slides/slide8.xml"/><Relationship Id="rId35" Type="http://schemas.openxmlformats.org/officeDocument/2006/relationships/font" Target="fonts/MavenPro-regular.fntdata"/><Relationship Id="rId12" Type="http://schemas.openxmlformats.org/officeDocument/2006/relationships/slide" Target="slides/slide7.xml"/><Relationship Id="rId34" Type="http://schemas.openxmlformats.org/officeDocument/2006/relationships/font" Target="fonts/FiraSansCondensedMedium-boldItalic.fntdata"/><Relationship Id="rId15" Type="http://schemas.openxmlformats.org/officeDocument/2006/relationships/slide" Target="slides/slide10.xml"/><Relationship Id="rId37" Type="http://schemas.openxmlformats.org/officeDocument/2006/relationships/font" Target="fonts/ShareTech-regular.fntdata"/><Relationship Id="rId14" Type="http://schemas.openxmlformats.org/officeDocument/2006/relationships/slide" Target="slides/slide9.xml"/><Relationship Id="rId36" Type="http://schemas.openxmlformats.org/officeDocument/2006/relationships/font" Target="fonts/MavenPr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AdventProSemiBol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f4268f9f3e_2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f4268f9f3e_2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f4268f9f3e_2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f4268f9f3e_2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f4268f9f3e_2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f4268f9f3e_2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f4268f9f3e_2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f4268f9f3e_2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f4268f9f3e_2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f4268f9f3e_2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f4268f9f3e_2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f4268f9f3e_2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f4268f9f3e_2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f4268f9f3e_2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f4268f9f3e_2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f4268f9f3e_2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f4268f9f3e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1f4268f9f3e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f4268f9f3e_5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f4268f9f3e_5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100b2bcc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100b2bcc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100b2bcc4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100b2bcc4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2"/>
          <p:cNvGrpSpPr/>
          <p:nvPr/>
        </p:nvGrpSpPr>
        <p:grpSpPr>
          <a:xfrm>
            <a:off x="8263682" y="-434366"/>
            <a:ext cx="188886" cy="1181532"/>
            <a:chOff x="2877432" y="975334"/>
            <a:chExt cx="188886" cy="1181532"/>
          </a:xfrm>
        </p:grpSpPr>
        <p:sp>
          <p:nvSpPr>
            <p:cNvPr id="18" name="Google Shape;18;p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2"/>
          <p:cNvGrpSpPr/>
          <p:nvPr/>
        </p:nvGrpSpPr>
        <p:grpSpPr>
          <a:xfrm>
            <a:off x="3090746" y="-533657"/>
            <a:ext cx="98059" cy="1147595"/>
            <a:chOff x="3347921" y="16006"/>
            <a:chExt cx="98059" cy="1147595"/>
          </a:xfrm>
        </p:grpSpPr>
        <p:sp>
          <p:nvSpPr>
            <p:cNvPr id="23" name="Google Shape;23;p2"/>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2"/>
          <p:cNvGrpSpPr/>
          <p:nvPr/>
        </p:nvGrpSpPr>
        <p:grpSpPr>
          <a:xfrm>
            <a:off x="250617" y="2402301"/>
            <a:ext cx="188650" cy="2468355"/>
            <a:chOff x="250617" y="2402301"/>
            <a:chExt cx="188650" cy="2468355"/>
          </a:xfrm>
        </p:grpSpPr>
        <p:sp>
          <p:nvSpPr>
            <p:cNvPr id="29" name="Google Shape;29;p2"/>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2"/>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8" name="Shape 38"/>
        <p:cNvGrpSpPr/>
        <p:nvPr/>
      </p:nvGrpSpPr>
      <p:grpSpPr>
        <a:xfrm>
          <a:off x="0" y="0"/>
          <a:ext cx="0" cy="0"/>
          <a:chOff x="0" y="0"/>
          <a:chExt cx="0" cy="0"/>
        </a:xfrm>
      </p:grpSpPr>
      <p:sp>
        <p:nvSpPr>
          <p:cNvPr id="39" name="Google Shape;39;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0" name="Google Shape;40;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1" name="Google Shape;41;p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4"/>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 name="Google Shape;45;p4"/>
          <p:cNvGrpSpPr/>
          <p:nvPr/>
        </p:nvGrpSpPr>
        <p:grpSpPr>
          <a:xfrm>
            <a:off x="8263682" y="-434366"/>
            <a:ext cx="188886" cy="1181532"/>
            <a:chOff x="2877432" y="975334"/>
            <a:chExt cx="188886" cy="1181532"/>
          </a:xfrm>
        </p:grpSpPr>
        <p:sp>
          <p:nvSpPr>
            <p:cNvPr id="46" name="Google Shape;46;p4"/>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4"/>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 name="Google Shape;49;p4"/>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 name="Google Shape;50;p4"/>
          <p:cNvGrpSpPr/>
          <p:nvPr/>
        </p:nvGrpSpPr>
        <p:grpSpPr>
          <a:xfrm>
            <a:off x="3643898" y="-436198"/>
            <a:ext cx="133252" cy="1952377"/>
            <a:chOff x="6780548" y="337714"/>
            <a:chExt cx="133252" cy="1952377"/>
          </a:xfrm>
        </p:grpSpPr>
        <p:sp>
          <p:nvSpPr>
            <p:cNvPr id="51" name="Google Shape;51;p4"/>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4"/>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4" name="Google Shape;54;p4"/>
          <p:cNvGrpSpPr/>
          <p:nvPr/>
        </p:nvGrpSpPr>
        <p:grpSpPr>
          <a:xfrm>
            <a:off x="8008096" y="2108910"/>
            <a:ext cx="199001" cy="2139770"/>
            <a:chOff x="8008096" y="2108910"/>
            <a:chExt cx="199001" cy="2139770"/>
          </a:xfrm>
        </p:grpSpPr>
        <p:sp>
          <p:nvSpPr>
            <p:cNvPr id="55" name="Google Shape;55;p4"/>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4"/>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 name="Google Shape;57;p4"/>
          <p:cNvGrpSpPr/>
          <p:nvPr/>
        </p:nvGrpSpPr>
        <p:grpSpPr>
          <a:xfrm>
            <a:off x="520996" y="1091548"/>
            <a:ext cx="199001" cy="2139770"/>
            <a:chOff x="8008096" y="2108910"/>
            <a:chExt cx="199001" cy="2139770"/>
          </a:xfrm>
        </p:grpSpPr>
        <p:sp>
          <p:nvSpPr>
            <p:cNvPr id="58" name="Google Shape;58;p4"/>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 name="Google Shape;60;p4"/>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200"/>
              <a:buNone/>
              <a:defRPr sz="4800">
                <a:solidFill>
                  <a:schemeClr val="lt1"/>
                </a:solidFill>
              </a:defRPr>
            </a:lvl1pPr>
            <a:lvl2pPr lvl="1" algn="l">
              <a:lnSpc>
                <a:spcPct val="100000"/>
              </a:lnSpc>
              <a:spcBef>
                <a:spcPts val="0"/>
              </a:spcBef>
              <a:spcAft>
                <a:spcPts val="0"/>
              </a:spcAft>
              <a:buClr>
                <a:srgbClr val="000000"/>
              </a:buClr>
              <a:buSzPts val="1200"/>
              <a:buNone/>
              <a:defRPr sz="1200">
                <a:solidFill>
                  <a:srgbClr val="000000"/>
                </a:solidFill>
              </a:defRPr>
            </a:lvl2pPr>
            <a:lvl3pPr lvl="2" algn="l">
              <a:lnSpc>
                <a:spcPct val="100000"/>
              </a:lnSpc>
              <a:spcBef>
                <a:spcPts val="0"/>
              </a:spcBef>
              <a:spcAft>
                <a:spcPts val="0"/>
              </a:spcAft>
              <a:buClr>
                <a:srgbClr val="000000"/>
              </a:buClr>
              <a:buSzPts val="1200"/>
              <a:buNone/>
              <a:defRPr sz="1200">
                <a:solidFill>
                  <a:srgbClr val="000000"/>
                </a:solidFill>
              </a:defRPr>
            </a:lvl3pPr>
            <a:lvl4pPr lvl="3" algn="l">
              <a:lnSpc>
                <a:spcPct val="100000"/>
              </a:lnSpc>
              <a:spcBef>
                <a:spcPts val="0"/>
              </a:spcBef>
              <a:spcAft>
                <a:spcPts val="0"/>
              </a:spcAft>
              <a:buClr>
                <a:srgbClr val="000000"/>
              </a:buClr>
              <a:buSzPts val="1200"/>
              <a:buNone/>
              <a:defRPr sz="1200">
                <a:solidFill>
                  <a:srgbClr val="000000"/>
                </a:solidFill>
              </a:defRPr>
            </a:lvl4pPr>
            <a:lvl5pPr lvl="4" algn="l">
              <a:lnSpc>
                <a:spcPct val="100000"/>
              </a:lnSpc>
              <a:spcBef>
                <a:spcPts val="0"/>
              </a:spcBef>
              <a:spcAft>
                <a:spcPts val="0"/>
              </a:spcAft>
              <a:buClr>
                <a:srgbClr val="000000"/>
              </a:buClr>
              <a:buSzPts val="1200"/>
              <a:buNone/>
              <a:defRPr sz="1200">
                <a:solidFill>
                  <a:srgbClr val="000000"/>
                </a:solidFill>
              </a:defRPr>
            </a:lvl5pPr>
            <a:lvl6pPr lvl="5" algn="l">
              <a:lnSpc>
                <a:spcPct val="100000"/>
              </a:lnSpc>
              <a:spcBef>
                <a:spcPts val="0"/>
              </a:spcBef>
              <a:spcAft>
                <a:spcPts val="0"/>
              </a:spcAft>
              <a:buClr>
                <a:srgbClr val="000000"/>
              </a:buClr>
              <a:buSzPts val="1200"/>
              <a:buNone/>
              <a:defRPr sz="1200">
                <a:solidFill>
                  <a:srgbClr val="000000"/>
                </a:solidFill>
              </a:defRPr>
            </a:lvl6pPr>
            <a:lvl7pPr lvl="6" algn="l">
              <a:lnSpc>
                <a:spcPct val="100000"/>
              </a:lnSpc>
              <a:spcBef>
                <a:spcPts val="0"/>
              </a:spcBef>
              <a:spcAft>
                <a:spcPts val="0"/>
              </a:spcAft>
              <a:buClr>
                <a:srgbClr val="000000"/>
              </a:buClr>
              <a:buSzPts val="1200"/>
              <a:buNone/>
              <a:defRPr sz="1200">
                <a:solidFill>
                  <a:srgbClr val="000000"/>
                </a:solidFill>
              </a:defRPr>
            </a:lvl7pPr>
            <a:lvl8pPr lvl="7" algn="l">
              <a:lnSpc>
                <a:spcPct val="100000"/>
              </a:lnSpc>
              <a:spcBef>
                <a:spcPts val="0"/>
              </a:spcBef>
              <a:spcAft>
                <a:spcPts val="0"/>
              </a:spcAft>
              <a:buClr>
                <a:srgbClr val="000000"/>
              </a:buClr>
              <a:buSzPts val="1200"/>
              <a:buNone/>
              <a:defRPr sz="1200">
                <a:solidFill>
                  <a:srgbClr val="000000"/>
                </a:solidFill>
              </a:defRPr>
            </a:lvl8pPr>
            <a:lvl9pPr lvl="8" algn="l">
              <a:lnSpc>
                <a:spcPct val="100000"/>
              </a:lnSpc>
              <a:spcBef>
                <a:spcPts val="0"/>
              </a:spcBef>
              <a:spcAft>
                <a:spcPts val="0"/>
              </a:spcAft>
              <a:buClr>
                <a:srgbClr val="000000"/>
              </a:buClr>
              <a:buSzPts val="1200"/>
              <a:buNone/>
              <a:defRPr sz="1200">
                <a:solidFill>
                  <a:srgbClr val="000000"/>
                </a:solidFill>
              </a:defRPr>
            </a:lvl9pPr>
          </a:lstStyle>
          <a:p/>
        </p:txBody>
      </p:sp>
      <p:sp>
        <p:nvSpPr>
          <p:cNvPr id="61" name="Google Shape;61;p4"/>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62" name="Google Shape;62;p4"/>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800"/>
              <a:buNone/>
              <a:defRPr sz="6000"/>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5"/>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5" name="Google Shape;65;p5"/>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66" name="Google Shape;66;p5"/>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5"/>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5"/>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5"/>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1" name="Google Shape;71;p5"/>
          <p:cNvGrpSpPr/>
          <p:nvPr/>
        </p:nvGrpSpPr>
        <p:grpSpPr>
          <a:xfrm>
            <a:off x="8148521" y="3004593"/>
            <a:ext cx="98059" cy="1147595"/>
            <a:chOff x="3347921" y="16006"/>
            <a:chExt cx="98059" cy="1147595"/>
          </a:xfrm>
        </p:grpSpPr>
        <p:sp>
          <p:nvSpPr>
            <p:cNvPr id="72" name="Google Shape;72;p5"/>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5"/>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 name="Google Shape;74;p5"/>
          <p:cNvGrpSpPr/>
          <p:nvPr/>
        </p:nvGrpSpPr>
        <p:grpSpPr>
          <a:xfrm>
            <a:off x="281421" y="3769263"/>
            <a:ext cx="121172" cy="760495"/>
            <a:chOff x="5245196" y="3136513"/>
            <a:chExt cx="121172" cy="760495"/>
          </a:xfrm>
        </p:grpSpPr>
        <p:sp>
          <p:nvSpPr>
            <p:cNvPr id="75" name="Google Shape;75;p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5"/>
          <p:cNvGrpSpPr/>
          <p:nvPr/>
        </p:nvGrpSpPr>
        <p:grpSpPr>
          <a:xfrm>
            <a:off x="8534739" y="4069632"/>
            <a:ext cx="57599" cy="831799"/>
            <a:chOff x="2038689" y="173907"/>
            <a:chExt cx="57599" cy="831799"/>
          </a:xfrm>
        </p:grpSpPr>
        <p:sp>
          <p:nvSpPr>
            <p:cNvPr id="78" name="Google Shape;78;p5"/>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5"/>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5"/>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5"/>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2" name="Shape 82"/>
        <p:cNvGrpSpPr/>
        <p:nvPr/>
      </p:nvGrpSpPr>
      <p:grpSpPr>
        <a:xfrm>
          <a:off x="0" y="0"/>
          <a:ext cx="0" cy="0"/>
          <a:chOff x="0" y="0"/>
          <a:chExt cx="0" cy="0"/>
        </a:xfrm>
      </p:grpSpPr>
      <p:sp>
        <p:nvSpPr>
          <p:cNvPr id="83" name="Google Shape;83;p6"/>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4" name="Google Shape;84;p6"/>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85" name="Google Shape;85;p6"/>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6" name="Google Shape;86;p6"/>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87" name="Google Shape;87;p6"/>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88" name="Google Shape;88;p6"/>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6"/>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6"/>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6"/>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2" name="Google Shape;92;p6"/>
          <p:cNvGrpSpPr/>
          <p:nvPr/>
        </p:nvGrpSpPr>
        <p:grpSpPr>
          <a:xfrm>
            <a:off x="6626134" y="-164562"/>
            <a:ext cx="121172" cy="760495"/>
            <a:chOff x="5245196" y="3136513"/>
            <a:chExt cx="121172" cy="760495"/>
          </a:xfrm>
        </p:grpSpPr>
        <p:sp>
          <p:nvSpPr>
            <p:cNvPr id="93" name="Google Shape;93;p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6"/>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7" name="Shape 97"/>
        <p:cNvGrpSpPr/>
        <p:nvPr/>
      </p:nvGrpSpPr>
      <p:grpSpPr>
        <a:xfrm>
          <a:off x="0" y="0"/>
          <a:ext cx="0" cy="0"/>
          <a:chOff x="0" y="0"/>
          <a:chExt cx="0" cy="0"/>
        </a:xfrm>
      </p:grpSpPr>
      <p:sp>
        <p:nvSpPr>
          <p:cNvPr id="98" name="Google Shape;98;p7"/>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99" name="Google Shape;99;p7"/>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7"/>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7"/>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7"/>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9" name="Shape 109"/>
        <p:cNvGrpSpPr/>
        <p:nvPr/>
      </p:nvGrpSpPr>
      <p:grpSpPr>
        <a:xfrm>
          <a:off x="0" y="0"/>
          <a:ext cx="0" cy="0"/>
          <a:chOff x="0" y="0"/>
          <a:chExt cx="0" cy="0"/>
        </a:xfrm>
      </p:grpSpPr>
      <p:sp>
        <p:nvSpPr>
          <p:cNvPr id="110" name="Google Shape;110;p8"/>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11" name="Google Shape;111;p8"/>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12" name="Google Shape;112;p8"/>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8"/>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8"/>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8"/>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6" name="Google Shape;116;p8"/>
          <p:cNvGrpSpPr/>
          <p:nvPr/>
        </p:nvGrpSpPr>
        <p:grpSpPr>
          <a:xfrm>
            <a:off x="6626134" y="-164562"/>
            <a:ext cx="121172" cy="760495"/>
            <a:chOff x="5245196" y="3136513"/>
            <a:chExt cx="121172" cy="760495"/>
          </a:xfrm>
        </p:grpSpPr>
        <p:sp>
          <p:nvSpPr>
            <p:cNvPr id="117" name="Google Shape;117;p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8"/>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8"/>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1" name="Shape 121"/>
        <p:cNvGrpSpPr/>
        <p:nvPr/>
      </p:nvGrpSpPr>
      <p:grpSpPr>
        <a:xfrm>
          <a:off x="0" y="0"/>
          <a:ext cx="0" cy="0"/>
          <a:chOff x="0" y="0"/>
          <a:chExt cx="0" cy="0"/>
        </a:xfrm>
      </p:grpSpPr>
      <p:sp>
        <p:nvSpPr>
          <p:cNvPr id="122" name="Google Shape;122;p9"/>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3" name="Google Shape;123;p9"/>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9"/>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9"/>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9"/>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9"/>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9"/>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9" name="Google Shape;129;p9"/>
          <p:cNvGrpSpPr/>
          <p:nvPr/>
        </p:nvGrpSpPr>
        <p:grpSpPr>
          <a:xfrm>
            <a:off x="8263682" y="-434366"/>
            <a:ext cx="188886" cy="1181532"/>
            <a:chOff x="2877432" y="975334"/>
            <a:chExt cx="188886" cy="1181532"/>
          </a:xfrm>
        </p:grpSpPr>
        <p:sp>
          <p:nvSpPr>
            <p:cNvPr id="130" name="Google Shape;130;p9"/>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9"/>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9"/>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 name="Google Shape;133;p9"/>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9"/>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9"/>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6" name="Google Shape;136;p9"/>
          <p:cNvGrpSpPr/>
          <p:nvPr/>
        </p:nvGrpSpPr>
        <p:grpSpPr>
          <a:xfrm>
            <a:off x="3090746" y="-533657"/>
            <a:ext cx="98059" cy="1147595"/>
            <a:chOff x="3347921" y="16006"/>
            <a:chExt cx="98059" cy="1147595"/>
          </a:xfrm>
        </p:grpSpPr>
        <p:sp>
          <p:nvSpPr>
            <p:cNvPr id="137" name="Google Shape;137;p9"/>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9"/>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 name="Google Shape;139;p9"/>
          <p:cNvGrpSpPr/>
          <p:nvPr/>
        </p:nvGrpSpPr>
        <p:grpSpPr>
          <a:xfrm>
            <a:off x="4892771" y="-340112"/>
            <a:ext cx="121172" cy="760495"/>
            <a:chOff x="5245196" y="3136513"/>
            <a:chExt cx="121172" cy="760495"/>
          </a:xfrm>
        </p:grpSpPr>
        <p:sp>
          <p:nvSpPr>
            <p:cNvPr id="140" name="Google Shape;140;p9"/>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9"/>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 name="Google Shape;142;p9"/>
          <p:cNvGrpSpPr/>
          <p:nvPr/>
        </p:nvGrpSpPr>
        <p:grpSpPr>
          <a:xfrm>
            <a:off x="6967836" y="85439"/>
            <a:ext cx="133252" cy="1952377"/>
            <a:chOff x="6780548" y="337714"/>
            <a:chExt cx="133252" cy="1952377"/>
          </a:xfrm>
        </p:grpSpPr>
        <p:sp>
          <p:nvSpPr>
            <p:cNvPr id="143" name="Google Shape;143;p9"/>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9"/>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 name="Google Shape;145;p9"/>
          <p:cNvGrpSpPr/>
          <p:nvPr/>
        </p:nvGrpSpPr>
        <p:grpSpPr>
          <a:xfrm>
            <a:off x="250617" y="2402301"/>
            <a:ext cx="188650" cy="2468355"/>
            <a:chOff x="250617" y="2402301"/>
            <a:chExt cx="188650" cy="2468355"/>
          </a:xfrm>
        </p:grpSpPr>
        <p:sp>
          <p:nvSpPr>
            <p:cNvPr id="146" name="Google Shape;146;p9"/>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9"/>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9"/>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9"/>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 name="Google Shape;150;p9"/>
          <p:cNvGrpSpPr/>
          <p:nvPr/>
        </p:nvGrpSpPr>
        <p:grpSpPr>
          <a:xfrm>
            <a:off x="982417" y="1695096"/>
            <a:ext cx="199237" cy="2828935"/>
            <a:chOff x="1608717" y="1280046"/>
            <a:chExt cx="199237" cy="2828935"/>
          </a:xfrm>
        </p:grpSpPr>
        <p:sp>
          <p:nvSpPr>
            <p:cNvPr id="151" name="Google Shape;151;p9"/>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9"/>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9"/>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4" name="Google Shape;154;p9"/>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5" name="Google Shape;155;p9"/>
          <p:cNvGrpSpPr/>
          <p:nvPr/>
        </p:nvGrpSpPr>
        <p:grpSpPr>
          <a:xfrm>
            <a:off x="2038689" y="173907"/>
            <a:ext cx="57599" cy="831799"/>
            <a:chOff x="2038689" y="173907"/>
            <a:chExt cx="57599" cy="831799"/>
          </a:xfrm>
        </p:grpSpPr>
        <p:sp>
          <p:nvSpPr>
            <p:cNvPr id="156" name="Google Shape;156;p9"/>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9"/>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 name="Google Shape;158;p9"/>
          <p:cNvGrpSpPr/>
          <p:nvPr/>
        </p:nvGrpSpPr>
        <p:grpSpPr>
          <a:xfrm>
            <a:off x="8008096" y="2108910"/>
            <a:ext cx="199001" cy="2139770"/>
            <a:chOff x="8008096" y="2108910"/>
            <a:chExt cx="199001" cy="2139770"/>
          </a:xfrm>
        </p:grpSpPr>
        <p:sp>
          <p:nvSpPr>
            <p:cNvPr id="159" name="Google Shape;159;p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1" name="Google Shape;161;p9"/>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2" name="Google Shape;162;p9"/>
          <p:cNvGrpSpPr/>
          <p:nvPr/>
        </p:nvGrpSpPr>
        <p:grpSpPr>
          <a:xfrm>
            <a:off x="4095146" y="-859690"/>
            <a:ext cx="199001" cy="2139770"/>
            <a:chOff x="8008096" y="2108910"/>
            <a:chExt cx="199001" cy="2139770"/>
          </a:xfrm>
        </p:grpSpPr>
        <p:sp>
          <p:nvSpPr>
            <p:cNvPr id="163" name="Google Shape;163;p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 name="Google Shape;165;p9"/>
          <p:cNvGrpSpPr/>
          <p:nvPr/>
        </p:nvGrpSpPr>
        <p:grpSpPr>
          <a:xfrm>
            <a:off x="6333286" y="3704939"/>
            <a:ext cx="133252" cy="1952377"/>
            <a:chOff x="6780548" y="337714"/>
            <a:chExt cx="133252" cy="1952377"/>
          </a:xfrm>
        </p:grpSpPr>
        <p:sp>
          <p:nvSpPr>
            <p:cNvPr id="166" name="Google Shape;166;p9"/>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9"/>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 name="Google Shape;168;p9"/>
          <p:cNvGrpSpPr/>
          <p:nvPr/>
        </p:nvGrpSpPr>
        <p:grpSpPr>
          <a:xfrm>
            <a:off x="2702021" y="3612763"/>
            <a:ext cx="121172" cy="760495"/>
            <a:chOff x="5245196" y="3136513"/>
            <a:chExt cx="121172" cy="760495"/>
          </a:xfrm>
        </p:grpSpPr>
        <p:sp>
          <p:nvSpPr>
            <p:cNvPr id="169" name="Google Shape;169;p9"/>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9"/>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1" name="Google Shape;171;p9"/>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9"/>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3" name="Shape 173"/>
        <p:cNvGrpSpPr/>
        <p:nvPr/>
      </p:nvGrpSpPr>
      <p:grpSpPr>
        <a:xfrm>
          <a:off x="0" y="0"/>
          <a:ext cx="0" cy="0"/>
          <a:chOff x="0" y="0"/>
          <a:chExt cx="0" cy="0"/>
        </a:xfrm>
      </p:grpSpPr>
      <p:sp>
        <p:nvSpPr>
          <p:cNvPr id="174" name="Google Shape;174;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75" name="Google Shape;175;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6" name="Google Shape;176;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7" name="Shape 177"/>
        <p:cNvGrpSpPr/>
        <p:nvPr/>
      </p:nvGrpSpPr>
      <p:grpSpPr>
        <a:xfrm>
          <a:off x="0" y="0"/>
          <a:ext cx="0" cy="0"/>
          <a:chOff x="0" y="0"/>
          <a:chExt cx="0" cy="0"/>
        </a:xfrm>
      </p:grpSpPr>
      <p:sp>
        <p:nvSpPr>
          <p:cNvPr id="178" name="Google Shape;178;p11"/>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79" name="Shape 179"/>
        <p:cNvGrpSpPr/>
        <p:nvPr/>
      </p:nvGrpSpPr>
      <p:grpSpPr>
        <a:xfrm>
          <a:off x="0" y="0"/>
          <a:ext cx="0" cy="0"/>
          <a:chOff x="0" y="0"/>
          <a:chExt cx="0" cy="0"/>
        </a:xfrm>
      </p:grpSpPr>
      <p:sp>
        <p:nvSpPr>
          <p:cNvPr id="180" name="Google Shape;180;p12"/>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1" name="Google Shape;181;p12"/>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2" name="Google Shape;182;p12"/>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2"/>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2"/>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7" name="Google Shape;187;p12"/>
          <p:cNvGrpSpPr/>
          <p:nvPr/>
        </p:nvGrpSpPr>
        <p:grpSpPr>
          <a:xfrm>
            <a:off x="8217007" y="3576772"/>
            <a:ext cx="188886" cy="1181532"/>
            <a:chOff x="2877432" y="975334"/>
            <a:chExt cx="188886" cy="1181532"/>
          </a:xfrm>
        </p:grpSpPr>
        <p:sp>
          <p:nvSpPr>
            <p:cNvPr id="188" name="Google Shape;188;p1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1" name="Google Shape;191;p12"/>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 name="Google Shape;192;p12"/>
          <p:cNvGrpSpPr/>
          <p:nvPr/>
        </p:nvGrpSpPr>
        <p:grpSpPr>
          <a:xfrm>
            <a:off x="7519346" y="3243318"/>
            <a:ext cx="98059" cy="1147595"/>
            <a:chOff x="3347921" y="16006"/>
            <a:chExt cx="98059" cy="1147595"/>
          </a:xfrm>
        </p:grpSpPr>
        <p:sp>
          <p:nvSpPr>
            <p:cNvPr id="193" name="Google Shape;193;p12"/>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2"/>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5" name="Google Shape;195;p12"/>
          <p:cNvGrpSpPr/>
          <p:nvPr/>
        </p:nvGrpSpPr>
        <p:grpSpPr>
          <a:xfrm>
            <a:off x="805821" y="2953663"/>
            <a:ext cx="121172" cy="760495"/>
            <a:chOff x="5245196" y="3136513"/>
            <a:chExt cx="121172" cy="760495"/>
          </a:xfrm>
        </p:grpSpPr>
        <p:sp>
          <p:nvSpPr>
            <p:cNvPr id="196" name="Google Shape;196;p1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12"/>
          <p:cNvGrpSpPr/>
          <p:nvPr/>
        </p:nvGrpSpPr>
        <p:grpSpPr>
          <a:xfrm>
            <a:off x="250617" y="2402301"/>
            <a:ext cx="188650" cy="2468355"/>
            <a:chOff x="250617" y="2402301"/>
            <a:chExt cx="188650" cy="2468355"/>
          </a:xfrm>
        </p:grpSpPr>
        <p:sp>
          <p:nvSpPr>
            <p:cNvPr id="199" name="Google Shape;199;p12"/>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2"/>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2"/>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2"/>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3" name="Google Shape;203;p12"/>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2"/>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5" name="Google Shape;205;p12"/>
          <p:cNvGrpSpPr/>
          <p:nvPr/>
        </p:nvGrpSpPr>
        <p:grpSpPr>
          <a:xfrm>
            <a:off x="2038689" y="173907"/>
            <a:ext cx="57599" cy="831799"/>
            <a:chOff x="2038689" y="173907"/>
            <a:chExt cx="57599" cy="831799"/>
          </a:xfrm>
        </p:grpSpPr>
        <p:sp>
          <p:nvSpPr>
            <p:cNvPr id="206" name="Google Shape;206;p12"/>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2"/>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8" name="Google Shape;208;p12"/>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9" name="Google Shape;209;p12"/>
          <p:cNvGrpSpPr/>
          <p:nvPr/>
        </p:nvGrpSpPr>
        <p:grpSpPr>
          <a:xfrm>
            <a:off x="4920170" y="-496491"/>
            <a:ext cx="188886" cy="1181532"/>
            <a:chOff x="2877432" y="975334"/>
            <a:chExt cx="188886" cy="1181532"/>
          </a:xfrm>
        </p:grpSpPr>
        <p:sp>
          <p:nvSpPr>
            <p:cNvPr id="210" name="Google Shape;210;p1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3" name="Google Shape;213;p12"/>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4" name="Google Shape;214;p12"/>
          <p:cNvGrpSpPr/>
          <p:nvPr/>
        </p:nvGrpSpPr>
        <p:grpSpPr>
          <a:xfrm>
            <a:off x="3030471" y="-223849"/>
            <a:ext cx="121172" cy="760495"/>
            <a:chOff x="5245196" y="3136513"/>
            <a:chExt cx="121172" cy="760495"/>
          </a:xfrm>
        </p:grpSpPr>
        <p:sp>
          <p:nvSpPr>
            <p:cNvPr id="215" name="Google Shape;215;p1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7" name="Google Shape;217;p12"/>
          <p:cNvGrpSpPr/>
          <p:nvPr/>
        </p:nvGrpSpPr>
        <p:grpSpPr>
          <a:xfrm>
            <a:off x="2306292" y="2569221"/>
            <a:ext cx="199237" cy="2828935"/>
            <a:chOff x="1608717" y="1280046"/>
            <a:chExt cx="199237" cy="2828935"/>
          </a:xfrm>
        </p:grpSpPr>
        <p:sp>
          <p:nvSpPr>
            <p:cNvPr id="218" name="Google Shape;218;p12"/>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2"/>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2"/>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1" name="Shape 221"/>
        <p:cNvGrpSpPr/>
        <p:nvPr/>
      </p:nvGrpSpPr>
      <p:grpSpPr>
        <a:xfrm>
          <a:off x="0" y="0"/>
          <a:ext cx="0" cy="0"/>
          <a:chOff x="0" y="0"/>
          <a:chExt cx="0" cy="0"/>
        </a:xfrm>
      </p:grpSpPr>
      <p:sp>
        <p:nvSpPr>
          <p:cNvPr id="222" name="Google Shape;222;p13"/>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23" name="Google Shape;223;p13"/>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grpSp>
        <p:nvGrpSpPr>
          <p:cNvPr id="224" name="Google Shape;224;p13"/>
          <p:cNvGrpSpPr/>
          <p:nvPr/>
        </p:nvGrpSpPr>
        <p:grpSpPr>
          <a:xfrm>
            <a:off x="722445" y="3412541"/>
            <a:ext cx="7699120" cy="1883463"/>
            <a:chOff x="4558950" y="838825"/>
            <a:chExt cx="2813800" cy="688350"/>
          </a:xfrm>
        </p:grpSpPr>
        <p:sp>
          <p:nvSpPr>
            <p:cNvPr id="225" name="Google Shape;225;p13"/>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3"/>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3"/>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3"/>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3"/>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3"/>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3"/>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3"/>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3"/>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3"/>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3"/>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3"/>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3"/>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3"/>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3"/>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3"/>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3"/>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3"/>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3"/>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3"/>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3"/>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3"/>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3"/>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3"/>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3"/>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3"/>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3"/>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3"/>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3"/>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3"/>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3"/>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3"/>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3"/>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3"/>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3"/>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60" name="Shape 260"/>
        <p:cNvGrpSpPr/>
        <p:nvPr/>
      </p:nvGrpSpPr>
      <p:grpSpPr>
        <a:xfrm>
          <a:off x="0" y="0"/>
          <a:ext cx="0" cy="0"/>
          <a:chOff x="0" y="0"/>
          <a:chExt cx="0" cy="0"/>
        </a:xfrm>
      </p:grpSpPr>
      <p:sp>
        <p:nvSpPr>
          <p:cNvPr id="261" name="Google Shape;261;p14"/>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62" name="Google Shape;262;p14"/>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4"/>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4"/>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4"/>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4"/>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4"/>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4"/>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4"/>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4"/>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4"/>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4"/>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3" name="Google Shape;273;p14"/>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74" name="Google Shape;274;p14"/>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2"/>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5" name="Google Shape;275;p14"/>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14"/>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77" name="Google Shape;277;p14"/>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3"/>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8" name="Google Shape;278;p14"/>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279" name="Google Shape;279;p14"/>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80" name="Google Shape;280;p14"/>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1"/>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1" name="Google Shape;281;p14"/>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82" name="Shape 282"/>
        <p:cNvGrpSpPr/>
        <p:nvPr/>
      </p:nvGrpSpPr>
      <p:grpSpPr>
        <a:xfrm>
          <a:off x="0" y="0"/>
          <a:ext cx="0" cy="0"/>
          <a:chOff x="0" y="0"/>
          <a:chExt cx="0" cy="0"/>
        </a:xfrm>
      </p:grpSpPr>
      <p:sp>
        <p:nvSpPr>
          <p:cNvPr id="283" name="Google Shape;283;p15"/>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4" name="Google Shape;284;p15"/>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85" name="Google Shape;285;p15"/>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6" name="Google Shape;286;p15"/>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87" name="Google Shape;287;p15"/>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5"/>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5"/>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5"/>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1" name="Google Shape;291;p15"/>
          <p:cNvGrpSpPr/>
          <p:nvPr/>
        </p:nvGrpSpPr>
        <p:grpSpPr>
          <a:xfrm>
            <a:off x="6626134" y="-164562"/>
            <a:ext cx="121172" cy="760495"/>
            <a:chOff x="5245196" y="3136513"/>
            <a:chExt cx="121172" cy="760495"/>
          </a:xfrm>
        </p:grpSpPr>
        <p:sp>
          <p:nvSpPr>
            <p:cNvPr id="292" name="Google Shape;292;p1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4" name="Google Shape;294;p15"/>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5"/>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5"/>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297" name="Shape 297"/>
        <p:cNvGrpSpPr/>
        <p:nvPr/>
      </p:nvGrpSpPr>
      <p:grpSpPr>
        <a:xfrm>
          <a:off x="0" y="0"/>
          <a:ext cx="0" cy="0"/>
          <a:chOff x="0" y="0"/>
          <a:chExt cx="0" cy="0"/>
        </a:xfrm>
      </p:grpSpPr>
      <p:sp>
        <p:nvSpPr>
          <p:cNvPr id="298" name="Google Shape;298;p16"/>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6"/>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6"/>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6"/>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2" name="Google Shape;302;p16"/>
          <p:cNvGrpSpPr/>
          <p:nvPr/>
        </p:nvGrpSpPr>
        <p:grpSpPr>
          <a:xfrm>
            <a:off x="6626134" y="-164562"/>
            <a:ext cx="121172" cy="760495"/>
            <a:chOff x="5245196" y="3136513"/>
            <a:chExt cx="121172" cy="760495"/>
          </a:xfrm>
        </p:grpSpPr>
        <p:sp>
          <p:nvSpPr>
            <p:cNvPr id="303" name="Google Shape;303;p1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5" name="Google Shape;305;p16"/>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6"/>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6"/>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8" name="Google Shape;308;p16"/>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09" name="Google Shape;309;p16"/>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0" name="Google Shape;310;p16"/>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1" name="Google Shape;311;p16"/>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2" name="Google Shape;312;p16"/>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3" name="Google Shape;313;p16"/>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4" name="Shape 314"/>
        <p:cNvGrpSpPr/>
        <p:nvPr/>
      </p:nvGrpSpPr>
      <p:grpSpPr>
        <a:xfrm>
          <a:off x="0" y="0"/>
          <a:ext cx="0" cy="0"/>
          <a:chOff x="0" y="0"/>
          <a:chExt cx="0" cy="0"/>
        </a:xfrm>
      </p:grpSpPr>
      <p:sp>
        <p:nvSpPr>
          <p:cNvPr id="315" name="Google Shape;315;p17"/>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6" name="Google Shape;316;p17"/>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7" name="Google Shape;317;p17"/>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8" name="Google Shape;318;p17"/>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9" name="Google Shape;319;p17"/>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0" name="Google Shape;320;p17"/>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1" name="Google Shape;321;p17"/>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22" name="Google Shape;322;p17"/>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17"/>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17"/>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5" name="Google Shape;325;p17"/>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6" name="Google Shape;326;p17"/>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7" name="Google Shape;327;p17"/>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8" name="Google Shape;328;p17"/>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7"/>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7"/>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37" name="Shape 337"/>
        <p:cNvGrpSpPr/>
        <p:nvPr/>
      </p:nvGrpSpPr>
      <p:grpSpPr>
        <a:xfrm>
          <a:off x="0" y="0"/>
          <a:ext cx="0" cy="0"/>
          <a:chOff x="0" y="0"/>
          <a:chExt cx="0" cy="0"/>
        </a:xfrm>
      </p:grpSpPr>
      <p:sp>
        <p:nvSpPr>
          <p:cNvPr id="338" name="Google Shape;338;p18"/>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9" name="Google Shape;339;p18"/>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0" name="Google Shape;340;p18"/>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1" name="Google Shape;341;p18"/>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2" name="Google Shape;342;p18"/>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3" name="Google Shape;343;p18"/>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4" name="Google Shape;344;p18"/>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5" name="Google Shape;345;p18"/>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6" name="Google Shape;346;p18"/>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47" name="Google Shape;347;p18"/>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8"/>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8"/>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8"/>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57" name="Shape 357"/>
        <p:cNvGrpSpPr/>
        <p:nvPr/>
      </p:nvGrpSpPr>
      <p:grpSpPr>
        <a:xfrm>
          <a:off x="0" y="0"/>
          <a:ext cx="0" cy="0"/>
          <a:chOff x="0" y="0"/>
          <a:chExt cx="0" cy="0"/>
        </a:xfrm>
      </p:grpSpPr>
      <p:sp>
        <p:nvSpPr>
          <p:cNvPr id="358" name="Google Shape;358;p19"/>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59" name="Google Shape;359;p19"/>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0" name="Google Shape;360;p19"/>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1" name="Google Shape;361;p19"/>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2" name="Google Shape;362;p19"/>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3" name="Google Shape;363;p19"/>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4" name="Google Shape;364;p19"/>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5" name="Google Shape;365;p19"/>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6" name="Google Shape;366;p19"/>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67" name="Google Shape;367;p19"/>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9"/>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9"/>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9"/>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9"/>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9"/>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9"/>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9"/>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9"/>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9"/>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77" name="Shape 377"/>
        <p:cNvGrpSpPr/>
        <p:nvPr/>
      </p:nvGrpSpPr>
      <p:grpSpPr>
        <a:xfrm>
          <a:off x="0" y="0"/>
          <a:ext cx="0" cy="0"/>
          <a:chOff x="0" y="0"/>
          <a:chExt cx="0" cy="0"/>
        </a:xfrm>
      </p:grpSpPr>
      <p:sp>
        <p:nvSpPr>
          <p:cNvPr id="378" name="Google Shape;378;p20"/>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72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79" name="Google Shape;379;p20"/>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0" name="Google Shape;380;p20"/>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hlink"/>
                </a:solidFill>
                <a:uFill>
                  <a:noFill/>
                </a:uFill>
                <a:latin typeface="Maven Pro"/>
                <a:ea typeface="Maven Pro"/>
                <a:cs typeface="Maven Pro"/>
                <a:sym typeface="Maven Pro"/>
                <a:hlinkClick r:id="rId2"/>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hlink"/>
                </a:solidFill>
                <a:uFill>
                  <a:noFill/>
                </a:uFill>
                <a:latin typeface="Maven Pro"/>
                <a:ea typeface="Maven Pro"/>
                <a:cs typeface="Maven Pro"/>
                <a:sym typeface="Maven Pro"/>
                <a:hlinkClick r:id="rId3"/>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hlink"/>
                </a:solidFill>
                <a:uFill>
                  <a:noFill/>
                </a:uFill>
                <a:latin typeface="Maven Pro"/>
                <a:ea typeface="Maven Pro"/>
                <a:cs typeface="Maven Pro"/>
                <a:sym typeface="Maven Pro"/>
                <a:hlinkClick r:id="rId4"/>
              </a:rPr>
              <a:t>Freepik</a:t>
            </a:r>
            <a:endParaRPr b="0" i="0" sz="1000" u="none" cap="none" strike="noStrike">
              <a:solidFill>
                <a:schemeClr val="accent3"/>
              </a:solidFill>
              <a:latin typeface="Maven Pro"/>
              <a:ea typeface="Maven Pro"/>
              <a:cs typeface="Maven Pro"/>
              <a:sym typeface="Maven Pro"/>
            </a:endParaRPr>
          </a:p>
        </p:txBody>
      </p:sp>
      <p:sp>
        <p:nvSpPr>
          <p:cNvPr id="381" name="Google Shape;381;p20"/>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0"/>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20"/>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20"/>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0"/>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0"/>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0"/>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0"/>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9" name="Google Shape;389;p20"/>
          <p:cNvGrpSpPr/>
          <p:nvPr/>
        </p:nvGrpSpPr>
        <p:grpSpPr>
          <a:xfrm>
            <a:off x="6669726" y="-389684"/>
            <a:ext cx="143766" cy="2106420"/>
            <a:chOff x="6780548" y="337714"/>
            <a:chExt cx="133252" cy="1952377"/>
          </a:xfrm>
        </p:grpSpPr>
        <p:sp>
          <p:nvSpPr>
            <p:cNvPr id="390" name="Google Shape;390;p20"/>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0"/>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2" name="Google Shape;392;p20"/>
          <p:cNvGrpSpPr/>
          <p:nvPr/>
        </p:nvGrpSpPr>
        <p:grpSpPr>
          <a:xfrm>
            <a:off x="1510030" y="507749"/>
            <a:ext cx="203534" cy="2663108"/>
            <a:chOff x="250617" y="2402301"/>
            <a:chExt cx="188650" cy="2468355"/>
          </a:xfrm>
        </p:grpSpPr>
        <p:sp>
          <p:nvSpPr>
            <p:cNvPr id="393" name="Google Shape;393;p2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2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2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7" name="Google Shape;397;p20"/>
          <p:cNvGrpSpPr/>
          <p:nvPr/>
        </p:nvGrpSpPr>
        <p:grpSpPr>
          <a:xfrm>
            <a:off x="385355" y="1380671"/>
            <a:ext cx="199237" cy="2828935"/>
            <a:chOff x="1608717" y="1280046"/>
            <a:chExt cx="199237" cy="2828935"/>
          </a:xfrm>
        </p:grpSpPr>
        <p:sp>
          <p:nvSpPr>
            <p:cNvPr id="398" name="Google Shape;398;p20"/>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0"/>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0"/>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1" name="Google Shape;401;p20"/>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20"/>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3" name="Google Shape;403;p20"/>
          <p:cNvGrpSpPr/>
          <p:nvPr/>
        </p:nvGrpSpPr>
        <p:grpSpPr>
          <a:xfrm>
            <a:off x="989025" y="-389666"/>
            <a:ext cx="62143" cy="897428"/>
            <a:chOff x="2038689" y="173907"/>
            <a:chExt cx="57599" cy="831799"/>
          </a:xfrm>
        </p:grpSpPr>
        <p:sp>
          <p:nvSpPr>
            <p:cNvPr id="404" name="Google Shape;404;p2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2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6" name="Google Shape;406;p20"/>
          <p:cNvGrpSpPr/>
          <p:nvPr/>
        </p:nvGrpSpPr>
        <p:grpSpPr>
          <a:xfrm>
            <a:off x="8568730" y="2184809"/>
            <a:ext cx="214702" cy="2308597"/>
            <a:chOff x="8008096" y="2108910"/>
            <a:chExt cx="199001" cy="2139770"/>
          </a:xfrm>
        </p:grpSpPr>
        <p:sp>
          <p:nvSpPr>
            <p:cNvPr id="407" name="Google Shape;407;p2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9" name="Google Shape;409;p20"/>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0" name="Google Shape;410;p20"/>
          <p:cNvGrpSpPr/>
          <p:nvPr/>
        </p:nvGrpSpPr>
        <p:grpSpPr>
          <a:xfrm>
            <a:off x="8221230" y="9"/>
            <a:ext cx="214702" cy="2308597"/>
            <a:chOff x="8008096" y="2108910"/>
            <a:chExt cx="199001" cy="2139770"/>
          </a:xfrm>
        </p:grpSpPr>
        <p:sp>
          <p:nvSpPr>
            <p:cNvPr id="411" name="Google Shape;411;p2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13" name="Shape 413"/>
        <p:cNvGrpSpPr/>
        <p:nvPr/>
      </p:nvGrpSpPr>
      <p:grpSpPr>
        <a:xfrm>
          <a:off x="0" y="0"/>
          <a:ext cx="0" cy="0"/>
          <a:chOff x="0" y="0"/>
          <a:chExt cx="0" cy="0"/>
        </a:xfrm>
      </p:grpSpPr>
      <p:sp>
        <p:nvSpPr>
          <p:cNvPr id="414" name="Google Shape;414;p21"/>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Font typeface="Livvic Light"/>
              <a:buChar char="●"/>
              <a:defRPr sz="1200"/>
            </a:lvl1pPr>
            <a:lvl2pPr indent="-292100" lvl="1" marL="914400" algn="l">
              <a:lnSpc>
                <a:spcPct val="115000"/>
              </a:lnSpc>
              <a:spcBef>
                <a:spcPts val="1600"/>
              </a:spcBef>
              <a:spcAft>
                <a:spcPts val="0"/>
              </a:spcAft>
              <a:buSzPts val="1000"/>
              <a:buFont typeface="Nunito Light"/>
              <a:buChar char="○"/>
              <a:defRPr/>
            </a:lvl2pPr>
            <a:lvl3pPr indent="-292100" lvl="2" marL="1371600" algn="l">
              <a:lnSpc>
                <a:spcPct val="115000"/>
              </a:lnSpc>
              <a:spcBef>
                <a:spcPts val="1600"/>
              </a:spcBef>
              <a:spcAft>
                <a:spcPts val="0"/>
              </a:spcAft>
              <a:buSzPts val="1000"/>
              <a:buFont typeface="Nunito Light"/>
              <a:buChar char="■"/>
              <a:defRPr/>
            </a:lvl3pPr>
            <a:lvl4pPr indent="-292100" lvl="3" marL="1828800" algn="l">
              <a:lnSpc>
                <a:spcPct val="115000"/>
              </a:lnSpc>
              <a:spcBef>
                <a:spcPts val="1600"/>
              </a:spcBef>
              <a:spcAft>
                <a:spcPts val="0"/>
              </a:spcAft>
              <a:buSzPts val="1000"/>
              <a:buFont typeface="Nunito Light"/>
              <a:buChar char="●"/>
              <a:defRPr/>
            </a:lvl4pPr>
            <a:lvl5pPr indent="-292100" lvl="4" marL="2286000" algn="l">
              <a:lnSpc>
                <a:spcPct val="115000"/>
              </a:lnSpc>
              <a:spcBef>
                <a:spcPts val="1600"/>
              </a:spcBef>
              <a:spcAft>
                <a:spcPts val="0"/>
              </a:spcAft>
              <a:buSzPts val="1000"/>
              <a:buFont typeface="Nunito Light"/>
              <a:buChar char="○"/>
              <a:defRPr/>
            </a:lvl5pPr>
            <a:lvl6pPr indent="-292100" lvl="5" marL="2743200" algn="l">
              <a:lnSpc>
                <a:spcPct val="115000"/>
              </a:lnSpc>
              <a:spcBef>
                <a:spcPts val="1600"/>
              </a:spcBef>
              <a:spcAft>
                <a:spcPts val="0"/>
              </a:spcAft>
              <a:buSzPts val="1000"/>
              <a:buFont typeface="Nunito Light"/>
              <a:buChar char="■"/>
              <a:defRPr/>
            </a:lvl6pPr>
            <a:lvl7pPr indent="-292100" lvl="6" marL="3200400" algn="l">
              <a:lnSpc>
                <a:spcPct val="115000"/>
              </a:lnSpc>
              <a:spcBef>
                <a:spcPts val="1600"/>
              </a:spcBef>
              <a:spcAft>
                <a:spcPts val="0"/>
              </a:spcAft>
              <a:buSzPts val="1000"/>
              <a:buFont typeface="Nunito Light"/>
              <a:buChar char="●"/>
              <a:defRPr/>
            </a:lvl7pPr>
            <a:lvl8pPr indent="-292100" lvl="7" marL="3657600" algn="l">
              <a:lnSpc>
                <a:spcPct val="115000"/>
              </a:lnSpc>
              <a:spcBef>
                <a:spcPts val="1600"/>
              </a:spcBef>
              <a:spcAft>
                <a:spcPts val="0"/>
              </a:spcAft>
              <a:buSzPts val="1000"/>
              <a:buFont typeface="Nunito Light"/>
              <a:buChar char="○"/>
              <a:defRPr/>
            </a:lvl8pPr>
            <a:lvl9pPr indent="-292100" lvl="8" marL="4114800" algn="l">
              <a:lnSpc>
                <a:spcPct val="115000"/>
              </a:lnSpc>
              <a:spcBef>
                <a:spcPts val="1600"/>
              </a:spcBef>
              <a:spcAft>
                <a:spcPts val="1600"/>
              </a:spcAft>
              <a:buSzPts val="1000"/>
              <a:buFont typeface="Nunito Light"/>
              <a:buChar char="■"/>
              <a:defRPr/>
            </a:lvl9pPr>
          </a:lstStyle>
          <a:p/>
        </p:txBody>
      </p:sp>
      <p:sp>
        <p:nvSpPr>
          <p:cNvPr id="415" name="Google Shape;415;p21"/>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416" name="Google Shape;416;p21"/>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rgbClr val="EC5D37"/>
              </a:buClr>
              <a:buSzPts val="1000"/>
              <a:buFont typeface="Livvic Light"/>
              <a:buChar char="●"/>
              <a:defRPr sz="1200"/>
            </a:lvl1pPr>
            <a:lvl2pPr indent="-292100" lvl="1" marL="914400" algn="l">
              <a:lnSpc>
                <a:spcPct val="115000"/>
              </a:lnSpc>
              <a:spcBef>
                <a:spcPts val="1600"/>
              </a:spcBef>
              <a:spcAft>
                <a:spcPts val="0"/>
              </a:spcAft>
              <a:buClr>
                <a:srgbClr val="FFC800"/>
              </a:buClr>
              <a:buSzPts val="1000"/>
              <a:buFont typeface="Nunito Light"/>
              <a:buChar char="○"/>
              <a:defRPr/>
            </a:lvl2pPr>
            <a:lvl3pPr indent="-292100" lvl="2" marL="1371600" algn="l">
              <a:lnSpc>
                <a:spcPct val="115000"/>
              </a:lnSpc>
              <a:spcBef>
                <a:spcPts val="1600"/>
              </a:spcBef>
              <a:spcAft>
                <a:spcPts val="0"/>
              </a:spcAft>
              <a:buClr>
                <a:srgbClr val="FFC800"/>
              </a:buClr>
              <a:buSzPts val="1000"/>
              <a:buFont typeface="Nunito Light"/>
              <a:buChar char="■"/>
              <a:defRPr/>
            </a:lvl3pPr>
            <a:lvl4pPr indent="-292100" lvl="3" marL="1828800" algn="l">
              <a:lnSpc>
                <a:spcPct val="115000"/>
              </a:lnSpc>
              <a:spcBef>
                <a:spcPts val="1600"/>
              </a:spcBef>
              <a:spcAft>
                <a:spcPts val="0"/>
              </a:spcAft>
              <a:buClr>
                <a:srgbClr val="FFC800"/>
              </a:buClr>
              <a:buSzPts val="1000"/>
              <a:buFont typeface="Nunito Light"/>
              <a:buChar char="●"/>
              <a:defRPr/>
            </a:lvl4pPr>
            <a:lvl5pPr indent="-292100" lvl="4" marL="2286000" algn="l">
              <a:lnSpc>
                <a:spcPct val="115000"/>
              </a:lnSpc>
              <a:spcBef>
                <a:spcPts val="1600"/>
              </a:spcBef>
              <a:spcAft>
                <a:spcPts val="0"/>
              </a:spcAft>
              <a:buClr>
                <a:srgbClr val="434343"/>
              </a:buClr>
              <a:buSzPts val="1000"/>
              <a:buFont typeface="Nunito Light"/>
              <a:buChar char="○"/>
              <a:defRPr/>
            </a:lvl5pPr>
            <a:lvl6pPr indent="-292100" lvl="5" marL="2743200" algn="l">
              <a:lnSpc>
                <a:spcPct val="115000"/>
              </a:lnSpc>
              <a:spcBef>
                <a:spcPts val="1600"/>
              </a:spcBef>
              <a:spcAft>
                <a:spcPts val="0"/>
              </a:spcAft>
              <a:buClr>
                <a:srgbClr val="434343"/>
              </a:buClr>
              <a:buSzPts val="1000"/>
              <a:buFont typeface="Nunito Light"/>
              <a:buChar char="■"/>
              <a:defRPr/>
            </a:lvl6pPr>
            <a:lvl7pPr indent="-292100" lvl="6" marL="3200400" algn="l">
              <a:lnSpc>
                <a:spcPct val="115000"/>
              </a:lnSpc>
              <a:spcBef>
                <a:spcPts val="1600"/>
              </a:spcBef>
              <a:spcAft>
                <a:spcPts val="0"/>
              </a:spcAft>
              <a:buClr>
                <a:srgbClr val="434343"/>
              </a:buClr>
              <a:buSzPts val="1000"/>
              <a:buFont typeface="Nunito Light"/>
              <a:buChar char="●"/>
              <a:defRPr/>
            </a:lvl7pPr>
            <a:lvl8pPr indent="-292100" lvl="7" marL="3657600" algn="l">
              <a:lnSpc>
                <a:spcPct val="115000"/>
              </a:lnSpc>
              <a:spcBef>
                <a:spcPts val="1600"/>
              </a:spcBef>
              <a:spcAft>
                <a:spcPts val="0"/>
              </a:spcAft>
              <a:buClr>
                <a:srgbClr val="434343"/>
              </a:buClr>
              <a:buSzPts val="1000"/>
              <a:buFont typeface="Nunito Light"/>
              <a:buChar char="○"/>
              <a:defRPr/>
            </a:lvl8pPr>
            <a:lvl9pPr indent="-292100" lvl="8" marL="4114800" algn="l">
              <a:lnSpc>
                <a:spcPct val="115000"/>
              </a:lnSpc>
              <a:spcBef>
                <a:spcPts val="1600"/>
              </a:spcBef>
              <a:spcAft>
                <a:spcPts val="1600"/>
              </a:spcAft>
              <a:buClr>
                <a:srgbClr val="434343"/>
              </a:buClr>
              <a:buSzPts val="1000"/>
              <a:buFont typeface="Nunito Light"/>
              <a:buChar char="■"/>
              <a:defRPr/>
            </a:lvl9pPr>
          </a:lstStyle>
          <a:p/>
        </p:txBody>
      </p:sp>
      <p:sp>
        <p:nvSpPr>
          <p:cNvPr id="417" name="Google Shape;417;p21"/>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1"/>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1"/>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1"/>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1"/>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1"/>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1"/>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1"/>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1"/>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1"/>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1"/>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28" name="Shape 428"/>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29" name="Shape 4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drive.google.com/file/d/1UlE1FCLBCnLgGlyfv0GrfLoM6FADJlqx/view?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mailto:2019prithvi.kumar@ves.ac.in" TargetMode="External"/><Relationship Id="rId4" Type="http://schemas.openxmlformats.org/officeDocument/2006/relationships/hyperlink" Target="mailto:2019guruakaash.janthalur@ves.ac.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4"/>
          <p:cNvSpPr txBox="1"/>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500">
                <a:solidFill>
                  <a:srgbClr val="FFFFFF"/>
                </a:solidFill>
                <a:latin typeface="Share Tech"/>
                <a:ea typeface="Share Tech"/>
                <a:cs typeface="Share Tech"/>
                <a:sym typeface="Share Tech"/>
              </a:rPr>
              <a:t>Dolat Capital</a:t>
            </a:r>
            <a:endParaRPr sz="7500">
              <a:solidFill>
                <a:srgbClr val="FFFFFF"/>
              </a:solidFill>
              <a:latin typeface="Share Tech"/>
              <a:ea typeface="Share Tech"/>
              <a:cs typeface="Share Tech"/>
              <a:sym typeface="Share Tech"/>
            </a:endParaRPr>
          </a:p>
        </p:txBody>
      </p:sp>
      <p:sp>
        <p:nvSpPr>
          <p:cNvPr id="435" name="Google Shape;435;p24"/>
          <p:cNvSpPr txBox="1"/>
          <p:nvPr/>
        </p:nvSpPr>
        <p:spPr>
          <a:xfrm>
            <a:off x="671250" y="3174874"/>
            <a:ext cx="7801500" cy="139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Maven Pro"/>
                <a:ea typeface="Maven Pro"/>
                <a:cs typeface="Maven Pro"/>
                <a:sym typeface="Maven Pro"/>
              </a:rPr>
              <a:t>Placement Interview Experience by</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Shruti Koku D17A</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Aashutosh Baraskar D17A</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Computer Engineering Department, 2023 Batch</a:t>
            </a:r>
            <a:endParaRPr sz="1800">
              <a:solidFill>
                <a:srgbClr val="FFFFFF"/>
              </a:solidFill>
              <a:latin typeface="Maven Pro"/>
              <a:ea typeface="Maven Pro"/>
              <a:cs typeface="Maven Pro"/>
              <a:sym typeface="Maven Pro"/>
            </a:endParaRPr>
          </a:p>
        </p:txBody>
      </p:sp>
      <p:pic>
        <p:nvPicPr>
          <p:cNvPr id="436" name="Google Shape;436;p24"/>
          <p:cNvPicPr preferRelativeResize="0"/>
          <p:nvPr/>
        </p:nvPicPr>
        <p:blipFill rotWithShape="1">
          <a:blip r:embed="rId3">
            <a:alphaModFix/>
          </a:blip>
          <a:srcRect b="0" l="0" r="0" t="0"/>
          <a:stretch/>
        </p:blipFill>
        <p:spPr>
          <a:xfrm>
            <a:off x="7584350" y="504475"/>
            <a:ext cx="587375" cy="948350"/>
          </a:xfrm>
          <a:prstGeom prst="rect">
            <a:avLst/>
          </a:prstGeom>
          <a:noFill/>
          <a:ln>
            <a:noFill/>
          </a:ln>
        </p:spPr>
      </p:pic>
      <p:sp>
        <p:nvSpPr>
          <p:cNvPr id="437" name="Google Shape;437;p24"/>
          <p:cNvSpPr txBox="1"/>
          <p:nvPr/>
        </p:nvSpPr>
        <p:spPr>
          <a:xfrm>
            <a:off x="2029650" y="455300"/>
            <a:ext cx="50847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FFFF"/>
                </a:solidFill>
                <a:latin typeface="Montserrat"/>
                <a:ea typeface="Montserrat"/>
                <a:cs typeface="Montserrat"/>
                <a:sym typeface="Montserrat"/>
              </a:rPr>
              <a:t>VIVEKANAND EDUCATION SOCIETY INSTITUTE OF TECHNOLOGY (MUMBAI UNIVERSITY)</a:t>
            </a:r>
            <a:endParaRPr b="1">
              <a:solidFill>
                <a:srgbClr val="FFFFFF"/>
              </a:solidFill>
              <a:latin typeface="Montserrat"/>
              <a:ea typeface="Montserrat"/>
              <a:cs typeface="Montserrat"/>
              <a:sym typeface="Montserrat"/>
            </a:endParaRPr>
          </a:p>
          <a:p>
            <a:pPr indent="0" lvl="0" marL="0" rtl="0" algn="ctr">
              <a:spcBef>
                <a:spcPts val="0"/>
              </a:spcBef>
              <a:spcAft>
                <a:spcPts val="0"/>
              </a:spcAft>
              <a:buNone/>
            </a:pPr>
            <a:r>
              <a:rPr lang="en">
                <a:solidFill>
                  <a:srgbClr val="FFFFFF"/>
                </a:solidFill>
                <a:latin typeface="Montserrat"/>
                <a:ea typeface="Montserrat"/>
                <a:cs typeface="Montserrat"/>
                <a:sym typeface="Montserrat"/>
              </a:rPr>
              <a:t>Department of Computer Engineering</a:t>
            </a:r>
            <a:endParaRPr>
              <a:solidFill>
                <a:srgbClr val="FFFFFF"/>
              </a:solidFill>
              <a:latin typeface="Montserrat"/>
              <a:ea typeface="Montserrat"/>
              <a:cs typeface="Montserrat"/>
              <a:sym typeface="Montserrat"/>
            </a:endParaRPr>
          </a:p>
          <a:p>
            <a:pPr indent="0" lvl="0" marL="0" rtl="0" algn="l">
              <a:spcBef>
                <a:spcPts val="0"/>
              </a:spcBef>
              <a:spcAft>
                <a:spcPts val="0"/>
              </a:spcAft>
              <a:buNone/>
            </a:pPr>
            <a:r>
              <a:t/>
            </a:r>
            <a:endParaRPr b="1">
              <a:solidFill>
                <a:srgbClr val="FFFFFF"/>
              </a:solidFill>
              <a:latin typeface="Montserrat"/>
              <a:ea typeface="Montserrat"/>
              <a:cs typeface="Montserrat"/>
              <a:sym typeface="Montserrat"/>
            </a:endParaRPr>
          </a:p>
        </p:txBody>
      </p:sp>
      <p:pic>
        <p:nvPicPr>
          <p:cNvPr id="438" name="Google Shape;438;p24"/>
          <p:cNvPicPr preferRelativeResize="0"/>
          <p:nvPr/>
        </p:nvPicPr>
        <p:blipFill>
          <a:blip r:embed="rId4">
            <a:alphaModFix/>
          </a:blip>
          <a:stretch>
            <a:fillRect/>
          </a:stretch>
        </p:blipFill>
        <p:spPr>
          <a:xfrm>
            <a:off x="545775" y="310225"/>
            <a:ext cx="1483875" cy="1483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5"/>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FFFFFF"/>
                </a:solidFill>
                <a:latin typeface="Share Tech"/>
                <a:ea typeface="Share Tech"/>
                <a:cs typeface="Share Tech"/>
                <a:sym typeface="Share Tech"/>
              </a:rPr>
              <a:t>About The Company</a:t>
            </a:r>
            <a:endParaRPr sz="2800">
              <a:solidFill>
                <a:srgbClr val="FFFFFF"/>
              </a:solidFill>
              <a:latin typeface="Share Tech"/>
              <a:ea typeface="Share Tech"/>
              <a:cs typeface="Share Tech"/>
              <a:sym typeface="Share Tech"/>
            </a:endParaRPr>
          </a:p>
        </p:txBody>
      </p:sp>
      <p:sp>
        <p:nvSpPr>
          <p:cNvPr id="444" name="Google Shape;444;p25"/>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A Company dealing in the financial markets for various asset classes / derivatives . Established in 1970 . </a:t>
            </a:r>
            <a:endParaRPr sz="1200">
              <a:solidFill>
                <a:srgbClr val="FFFFFF"/>
              </a:solidFill>
              <a:latin typeface="Maven Pro"/>
              <a:ea typeface="Maven Pro"/>
              <a:cs typeface="Maven Pro"/>
              <a:sym typeface="Maven Pro"/>
            </a:endParaRPr>
          </a:p>
          <a:p>
            <a:pPr indent="-304800" lvl="0" marL="457200" rtl="0" algn="l">
              <a:lnSpc>
                <a:spcPct val="115000"/>
              </a:lnSpc>
              <a:spcBef>
                <a:spcPts val="160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There are multiple teams , that support and develop applications to facilitate the company’s business in these domains .</a:t>
            </a:r>
            <a:endParaRPr sz="1200">
              <a:solidFill>
                <a:srgbClr val="FFFFFF"/>
              </a:solidFill>
              <a:latin typeface="Maven Pro"/>
              <a:ea typeface="Maven Pro"/>
              <a:cs typeface="Maven Pro"/>
              <a:sym typeface="Maven Pro"/>
            </a:endParaRPr>
          </a:p>
          <a:p>
            <a:pPr indent="-304800" lvl="0" marL="457200" rtl="0" algn="l">
              <a:lnSpc>
                <a:spcPct val="115000"/>
              </a:lnSpc>
              <a:spcBef>
                <a:spcPts val="160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To consistently deliver actionable ideas through differentiated and in depth understanding of businesses, indicate market trends through Derivatives and strive to highlight critical variables first in the market all in pursuit of the benefit of our clients.</a:t>
            </a:r>
            <a:endParaRPr sz="1200">
              <a:solidFill>
                <a:srgbClr val="FFFFFF"/>
              </a:solidFill>
              <a:latin typeface="Maven Pro"/>
              <a:ea typeface="Maven Pro"/>
              <a:cs typeface="Maven Pro"/>
              <a:sym typeface="Maven Pro"/>
            </a:endParaRPr>
          </a:p>
          <a:p>
            <a:pPr indent="-304800" lvl="0" marL="457200" rtl="0" algn="l">
              <a:lnSpc>
                <a:spcPct val="115000"/>
              </a:lnSpc>
              <a:spcBef>
                <a:spcPts val="160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Note : You don’t need any financial knowledge about markets , although it’s good to have , it’s not necessary . </a:t>
            </a:r>
            <a:endParaRPr sz="1200">
              <a:solidFill>
                <a:srgbClr val="FFFFFF"/>
              </a:solidFill>
              <a:latin typeface="Maven Pro"/>
              <a:ea typeface="Maven Pro"/>
              <a:cs typeface="Maven Pro"/>
              <a:sym typeface="Maven Pro"/>
            </a:endParaRPr>
          </a:p>
          <a:p>
            <a:pPr indent="-304800" lvl="0" marL="457200" rtl="0" algn="l">
              <a:lnSpc>
                <a:spcPct val="115000"/>
              </a:lnSpc>
              <a:spcBef>
                <a:spcPts val="1600"/>
              </a:spcBef>
              <a:spcAft>
                <a:spcPts val="0"/>
              </a:spcAft>
              <a:buClr>
                <a:srgbClr val="FFFFFF"/>
              </a:buClr>
              <a:buSzPts val="1200"/>
              <a:buFont typeface="Maven Pro"/>
              <a:buChar char="●"/>
            </a:pPr>
            <a:r>
              <a:rPr lang="en" sz="1200">
                <a:solidFill>
                  <a:srgbClr val="FFFFFF"/>
                </a:solidFill>
                <a:latin typeface="Maven Pro"/>
                <a:ea typeface="Maven Pro"/>
                <a:cs typeface="Maven Pro"/>
                <a:sym typeface="Maven Pro"/>
              </a:rPr>
              <a:t>The company’s values are as follows :- </a:t>
            </a:r>
            <a:endParaRPr sz="1200">
              <a:solidFill>
                <a:srgbClr val="FFFFFF"/>
              </a:solidFill>
              <a:latin typeface="Maven Pro"/>
              <a:ea typeface="Maven Pro"/>
              <a:cs typeface="Maven Pro"/>
              <a:sym typeface="Maven Pro"/>
            </a:endParaRPr>
          </a:p>
          <a:p>
            <a:pPr indent="0" lvl="0" marL="457200" rtl="0" algn="l">
              <a:lnSpc>
                <a:spcPct val="115000"/>
              </a:lnSpc>
              <a:spcBef>
                <a:spcPts val="1600"/>
              </a:spcBef>
              <a:spcAft>
                <a:spcPts val="0"/>
              </a:spcAft>
              <a:buNone/>
            </a:pPr>
            <a:r>
              <a:rPr lang="en" sz="1800">
                <a:solidFill>
                  <a:srgbClr val="FFFFFF"/>
                </a:solidFill>
                <a:highlight>
                  <a:srgbClr val="1155CC"/>
                </a:highlight>
                <a:latin typeface="Maven Pro"/>
                <a:ea typeface="Maven Pro"/>
                <a:cs typeface="Maven Pro"/>
                <a:sym typeface="Maven Pro"/>
              </a:rPr>
              <a:t>Trading</a:t>
            </a:r>
            <a:r>
              <a:rPr lang="en" sz="1800">
                <a:solidFill>
                  <a:srgbClr val="FFFFFF"/>
                </a:solidFill>
                <a:highlight>
                  <a:srgbClr val="1155CC"/>
                </a:highlight>
                <a:latin typeface="Maven Pro"/>
                <a:ea typeface="Maven Pro"/>
                <a:cs typeface="Maven Pro"/>
                <a:sym typeface="Maven Pro"/>
              </a:rPr>
              <a:t>  </a:t>
            </a:r>
            <a:r>
              <a:rPr lang="en" sz="1800">
                <a:solidFill>
                  <a:srgbClr val="002845"/>
                </a:solidFill>
                <a:highlight>
                  <a:srgbClr val="F9CB9C"/>
                </a:highlight>
                <a:latin typeface="Maven Pro"/>
                <a:ea typeface="Maven Pro"/>
                <a:cs typeface="Maven Pro"/>
                <a:sym typeface="Maven Pro"/>
              </a:rPr>
              <a:t>Sophisticated Technology</a:t>
            </a:r>
            <a:r>
              <a:rPr lang="en" sz="1800">
                <a:solidFill>
                  <a:srgbClr val="002845"/>
                </a:solidFill>
                <a:highlight>
                  <a:srgbClr val="F9CB9C"/>
                </a:highlight>
                <a:latin typeface="Maven Pro"/>
                <a:ea typeface="Maven Pro"/>
                <a:cs typeface="Maven Pro"/>
                <a:sym typeface="Maven Pro"/>
              </a:rPr>
              <a:t> </a:t>
            </a:r>
            <a:r>
              <a:rPr lang="en" sz="1800">
                <a:solidFill>
                  <a:srgbClr val="FFFFFF"/>
                </a:solidFill>
                <a:highlight>
                  <a:srgbClr val="134F5C"/>
                </a:highlight>
                <a:latin typeface="Maven Pro"/>
                <a:ea typeface="Maven Pro"/>
                <a:cs typeface="Maven Pro"/>
                <a:sym typeface="Maven Pro"/>
              </a:rPr>
              <a:t>Talent</a:t>
            </a:r>
            <a:r>
              <a:rPr lang="en" sz="1800">
                <a:solidFill>
                  <a:srgbClr val="FFFFFF"/>
                </a:solidFill>
                <a:highlight>
                  <a:srgbClr val="134F5C"/>
                </a:highlight>
                <a:latin typeface="Maven Pro"/>
                <a:ea typeface="Maven Pro"/>
                <a:cs typeface="Maven Pro"/>
                <a:sym typeface="Maven Pro"/>
              </a:rPr>
              <a:t>  </a:t>
            </a:r>
            <a:r>
              <a:rPr lang="en" sz="1800">
                <a:solidFill>
                  <a:srgbClr val="002845"/>
                </a:solidFill>
                <a:highlight>
                  <a:srgbClr val="D5A6BD"/>
                </a:highlight>
                <a:latin typeface="Maven Pro"/>
                <a:ea typeface="Maven Pro"/>
                <a:cs typeface="Maven Pro"/>
                <a:sym typeface="Maven Pro"/>
              </a:rPr>
              <a:t> Strategic  </a:t>
            </a:r>
            <a:endParaRPr sz="1800">
              <a:solidFill>
                <a:srgbClr val="002845"/>
              </a:solidFill>
              <a:highlight>
                <a:srgbClr val="EA9999"/>
              </a:highlight>
              <a:latin typeface="Maven Pro"/>
              <a:ea typeface="Maven Pro"/>
              <a:cs typeface="Maven Pro"/>
              <a:sym typeface="Maven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6"/>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FFFFFF"/>
                </a:solidFill>
                <a:latin typeface="Share Tech"/>
                <a:ea typeface="Share Tech"/>
                <a:cs typeface="Share Tech"/>
                <a:sym typeface="Share Tech"/>
              </a:rPr>
              <a:t>Placement Drive Company Details</a:t>
            </a:r>
            <a:endParaRPr sz="2800">
              <a:solidFill>
                <a:srgbClr val="FFFFFF"/>
              </a:solidFill>
              <a:latin typeface="Share Tech"/>
              <a:ea typeface="Share Tech"/>
              <a:cs typeface="Share Tech"/>
              <a:sym typeface="Share Tech"/>
            </a:endParaRPr>
          </a:p>
        </p:txBody>
      </p:sp>
      <p:sp>
        <p:nvSpPr>
          <p:cNvPr id="450" name="Google Shape;450;p26"/>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17500" lvl="1" marL="457200" rtl="0" algn="l">
              <a:lnSpc>
                <a:spcPct val="115000"/>
              </a:lnSpc>
              <a:spcBef>
                <a:spcPts val="0"/>
              </a:spcBef>
              <a:spcAft>
                <a:spcPts val="0"/>
              </a:spcAft>
              <a:buClr>
                <a:srgbClr val="B7B7B7"/>
              </a:buClr>
              <a:buSzPts val="1400"/>
              <a:buFont typeface="Maven Pro"/>
              <a:buAutoNum type="alphaLcPeriod"/>
            </a:pPr>
            <a:r>
              <a:rPr lang="en">
                <a:solidFill>
                  <a:srgbClr val="B7B7B7"/>
                </a:solidFill>
                <a:latin typeface="Maven Pro"/>
                <a:ea typeface="Maven Pro"/>
                <a:cs typeface="Maven Pro"/>
                <a:sym typeface="Maven Pro"/>
              </a:rPr>
              <a:t>Name of the Company: Dolat Capital</a:t>
            </a:r>
            <a:endParaRPr>
              <a:solidFill>
                <a:srgbClr val="B7B7B7"/>
              </a:solidFill>
              <a:latin typeface="Maven Pro"/>
              <a:ea typeface="Maven Pro"/>
              <a:cs typeface="Maven Pro"/>
              <a:sym typeface="Maven Pro"/>
            </a:endParaRPr>
          </a:p>
          <a:p>
            <a:pPr indent="-317500" lvl="1" marL="457200" rtl="0" algn="l">
              <a:lnSpc>
                <a:spcPct val="115000"/>
              </a:lnSpc>
              <a:spcBef>
                <a:spcPts val="0"/>
              </a:spcBef>
              <a:spcAft>
                <a:spcPts val="0"/>
              </a:spcAft>
              <a:buClr>
                <a:srgbClr val="B7B7B7"/>
              </a:buClr>
              <a:buSzPts val="1400"/>
              <a:buFont typeface="Maven Pro"/>
              <a:buAutoNum type="alphaLcPeriod"/>
            </a:pPr>
            <a:r>
              <a:rPr lang="en">
                <a:solidFill>
                  <a:srgbClr val="B7B7B7"/>
                </a:solidFill>
                <a:latin typeface="Maven Pro"/>
                <a:ea typeface="Maven Pro"/>
                <a:cs typeface="Maven Pro"/>
                <a:sym typeface="Maven Pro"/>
              </a:rPr>
              <a:t>Company Status: Dream</a:t>
            </a:r>
            <a:endParaRPr>
              <a:solidFill>
                <a:srgbClr val="B7B7B7"/>
              </a:solidFill>
              <a:latin typeface="Maven Pro"/>
              <a:ea typeface="Maven Pro"/>
              <a:cs typeface="Maven Pro"/>
              <a:sym typeface="Maven Pro"/>
            </a:endParaRPr>
          </a:p>
          <a:p>
            <a:pPr indent="-317500" lvl="1" marL="457200" rtl="0" algn="l">
              <a:lnSpc>
                <a:spcPct val="115000"/>
              </a:lnSpc>
              <a:spcBef>
                <a:spcPts val="0"/>
              </a:spcBef>
              <a:spcAft>
                <a:spcPts val="0"/>
              </a:spcAft>
              <a:buClr>
                <a:srgbClr val="B7B7B7"/>
              </a:buClr>
              <a:buSzPts val="1400"/>
              <a:buFont typeface="Maven Pro"/>
              <a:buAutoNum type="alphaLcPeriod"/>
            </a:pPr>
            <a:r>
              <a:rPr lang="en">
                <a:solidFill>
                  <a:srgbClr val="B7B7B7"/>
                </a:solidFill>
                <a:latin typeface="Maven Pro"/>
                <a:ea typeface="Maven Pro"/>
                <a:cs typeface="Maven Pro"/>
                <a:sym typeface="Maven Pro"/>
              </a:rPr>
              <a:t>Date of drive: 26th July and 27th July</a:t>
            </a:r>
            <a:endParaRPr>
              <a:solidFill>
                <a:srgbClr val="B7B7B7"/>
              </a:solidFill>
              <a:latin typeface="Maven Pro"/>
              <a:ea typeface="Maven Pro"/>
              <a:cs typeface="Maven Pro"/>
              <a:sym typeface="Maven Pro"/>
            </a:endParaRPr>
          </a:p>
          <a:p>
            <a:pPr indent="-317500" lvl="1" marL="457200" rtl="0" algn="l">
              <a:lnSpc>
                <a:spcPct val="115000"/>
              </a:lnSpc>
              <a:spcBef>
                <a:spcPts val="0"/>
              </a:spcBef>
              <a:spcAft>
                <a:spcPts val="0"/>
              </a:spcAft>
              <a:buClr>
                <a:srgbClr val="B7B7B7"/>
              </a:buClr>
              <a:buSzPts val="1400"/>
              <a:buFont typeface="Maven Pro"/>
              <a:buAutoNum type="alphaLcPeriod"/>
            </a:pPr>
            <a:r>
              <a:rPr lang="en">
                <a:solidFill>
                  <a:srgbClr val="B7B7B7"/>
                </a:solidFill>
                <a:latin typeface="Maven Pro"/>
                <a:ea typeface="Maven Pro"/>
                <a:cs typeface="Maven Pro"/>
                <a:sym typeface="Maven Pro"/>
              </a:rPr>
              <a:t>Branches Eligible: BE (CMPN and INFT)</a:t>
            </a:r>
            <a:endParaRPr>
              <a:solidFill>
                <a:srgbClr val="B7B7B7"/>
              </a:solidFill>
              <a:latin typeface="Maven Pro"/>
              <a:ea typeface="Maven Pro"/>
              <a:cs typeface="Maven Pro"/>
              <a:sym typeface="Maven Pro"/>
            </a:endParaRPr>
          </a:p>
          <a:p>
            <a:pPr indent="-317500" lvl="1" marL="457200" rtl="0" algn="l">
              <a:lnSpc>
                <a:spcPct val="115000"/>
              </a:lnSpc>
              <a:spcBef>
                <a:spcPts val="0"/>
              </a:spcBef>
              <a:spcAft>
                <a:spcPts val="0"/>
              </a:spcAft>
              <a:buClr>
                <a:srgbClr val="B7B7B7"/>
              </a:buClr>
              <a:buSzPts val="1400"/>
              <a:buFont typeface="Maven Pro"/>
              <a:buAutoNum type="alphaLcPeriod"/>
            </a:pPr>
            <a:r>
              <a:rPr lang="en">
                <a:solidFill>
                  <a:srgbClr val="B7B7B7"/>
                </a:solidFill>
                <a:latin typeface="Maven Pro"/>
                <a:ea typeface="Maven Pro"/>
                <a:cs typeface="Maven Pro"/>
                <a:sym typeface="Maven Pro"/>
              </a:rPr>
              <a:t>Salary offered: 14.5 lpa CTC</a:t>
            </a:r>
            <a:endParaRPr>
              <a:solidFill>
                <a:srgbClr val="B7B7B7"/>
              </a:solidFill>
              <a:latin typeface="Maven Pro"/>
              <a:ea typeface="Maven Pro"/>
              <a:cs typeface="Maven Pro"/>
              <a:sym typeface="Maven Pro"/>
            </a:endParaRPr>
          </a:p>
          <a:p>
            <a:pPr indent="-317500" lvl="1" marL="457200" rtl="0" algn="l">
              <a:lnSpc>
                <a:spcPct val="115000"/>
              </a:lnSpc>
              <a:spcBef>
                <a:spcPts val="0"/>
              </a:spcBef>
              <a:spcAft>
                <a:spcPts val="0"/>
              </a:spcAft>
              <a:buClr>
                <a:srgbClr val="B7B7B7"/>
              </a:buClr>
              <a:buSzPts val="1400"/>
              <a:buFont typeface="Maven Pro"/>
              <a:buAutoNum type="alphaLcPeriod"/>
            </a:pPr>
            <a:r>
              <a:rPr lang="en">
                <a:solidFill>
                  <a:srgbClr val="B7B7B7"/>
                </a:solidFill>
                <a:latin typeface="Maven Pro"/>
                <a:ea typeface="Maven Pro"/>
                <a:cs typeface="Maven Pro"/>
                <a:sym typeface="Maven Pro"/>
              </a:rPr>
              <a:t>Role: Strategic Developer </a:t>
            </a:r>
            <a:r>
              <a:rPr lang="en">
                <a:solidFill>
                  <a:srgbClr val="B7B7B7"/>
                </a:solidFill>
                <a:latin typeface="Maven Pro"/>
                <a:ea typeface="Maven Pro"/>
                <a:cs typeface="Maven Pro"/>
                <a:sym typeface="Maven Pro"/>
              </a:rPr>
              <a:t>( </a:t>
            </a:r>
            <a:r>
              <a:rPr lang="en" u="sng">
                <a:solidFill>
                  <a:schemeClr val="hlink"/>
                </a:solidFill>
                <a:latin typeface="Maven Pro"/>
                <a:ea typeface="Maven Pro"/>
                <a:cs typeface="Maven Pro"/>
                <a:sym typeface="Maven Pro"/>
                <a:hlinkClick r:id="rId3"/>
              </a:rPr>
              <a:t>Job Description</a:t>
            </a:r>
            <a:r>
              <a:rPr lang="en">
                <a:solidFill>
                  <a:srgbClr val="B7B7B7"/>
                </a:solidFill>
                <a:latin typeface="Maven Pro"/>
                <a:ea typeface="Maven Pro"/>
                <a:cs typeface="Maven Pro"/>
                <a:sym typeface="Maven Pro"/>
              </a:rPr>
              <a:t>) </a:t>
            </a:r>
            <a:endParaRPr>
              <a:solidFill>
                <a:srgbClr val="B7B7B7"/>
              </a:solidFill>
              <a:latin typeface="Maven Pro"/>
              <a:ea typeface="Maven Pro"/>
              <a:cs typeface="Maven Pro"/>
              <a:sym typeface="Maven Pro"/>
            </a:endParaRPr>
          </a:p>
          <a:p>
            <a:pPr indent="-317500" lvl="1" marL="457200" rtl="0" algn="l">
              <a:lnSpc>
                <a:spcPct val="115000"/>
              </a:lnSpc>
              <a:spcBef>
                <a:spcPts val="0"/>
              </a:spcBef>
              <a:spcAft>
                <a:spcPts val="0"/>
              </a:spcAft>
              <a:buClr>
                <a:srgbClr val="B7B7B7"/>
              </a:buClr>
              <a:buSzPts val="1400"/>
              <a:buFont typeface="Maven Pro"/>
              <a:buAutoNum type="alphaLcPeriod"/>
            </a:pPr>
            <a:r>
              <a:rPr lang="en">
                <a:solidFill>
                  <a:srgbClr val="B7B7B7"/>
                </a:solidFill>
                <a:latin typeface="Maven Pro"/>
                <a:ea typeface="Maven Pro"/>
                <a:cs typeface="Maven Pro"/>
                <a:sym typeface="Maven Pro"/>
              </a:rPr>
              <a:t>Eligibility Criteria</a:t>
            </a:r>
            <a:endParaRPr>
              <a:solidFill>
                <a:srgbClr val="B7B7B7"/>
              </a:solidFill>
              <a:latin typeface="Maven Pro"/>
              <a:ea typeface="Maven Pro"/>
              <a:cs typeface="Maven Pro"/>
              <a:sym typeface="Maven Pro"/>
            </a:endParaRPr>
          </a:p>
          <a:p>
            <a:pPr indent="-317500" lvl="2" marL="1371600" rtl="0" algn="l">
              <a:lnSpc>
                <a:spcPct val="115000"/>
              </a:lnSpc>
              <a:spcBef>
                <a:spcPts val="0"/>
              </a:spcBef>
              <a:spcAft>
                <a:spcPts val="0"/>
              </a:spcAft>
              <a:buClr>
                <a:srgbClr val="B7B7B7"/>
              </a:buClr>
              <a:buSzPts val="1400"/>
              <a:buFont typeface="Maven Pro"/>
              <a:buAutoNum type="romanLcPeriod"/>
            </a:pPr>
            <a:r>
              <a:rPr lang="en">
                <a:solidFill>
                  <a:srgbClr val="B7B7B7"/>
                </a:solidFill>
                <a:latin typeface="Maven Pro"/>
                <a:ea typeface="Maven Pro"/>
                <a:cs typeface="Maven Pro"/>
                <a:sym typeface="Maven Pro"/>
              </a:rPr>
              <a:t>BE (CMPN and INFT)</a:t>
            </a:r>
            <a:endParaRPr>
              <a:solidFill>
                <a:srgbClr val="B7B7B7"/>
              </a:solidFill>
              <a:latin typeface="Maven Pro"/>
              <a:ea typeface="Maven Pro"/>
              <a:cs typeface="Maven Pro"/>
              <a:sym typeface="Maven Pro"/>
            </a:endParaRPr>
          </a:p>
          <a:p>
            <a:pPr indent="-317500" lvl="2" marL="1371600" rtl="0" algn="l">
              <a:lnSpc>
                <a:spcPct val="115000"/>
              </a:lnSpc>
              <a:spcBef>
                <a:spcPts val="0"/>
              </a:spcBef>
              <a:spcAft>
                <a:spcPts val="0"/>
              </a:spcAft>
              <a:buClr>
                <a:srgbClr val="B7B7B7"/>
              </a:buClr>
              <a:buSzPts val="1400"/>
              <a:buFont typeface="Maven Pro"/>
              <a:buAutoNum type="romanLcPeriod"/>
            </a:pPr>
            <a:r>
              <a:rPr lang="en">
                <a:solidFill>
                  <a:srgbClr val="B7B7B7"/>
                </a:solidFill>
                <a:latin typeface="Maven Pro"/>
                <a:ea typeface="Maven Pro"/>
                <a:cs typeface="Maven Pro"/>
                <a:sym typeface="Maven Pro"/>
              </a:rPr>
              <a:t>Aggregate CGPA above 7</a:t>
            </a:r>
            <a:endParaRPr>
              <a:solidFill>
                <a:srgbClr val="B7B7B7"/>
              </a:solidFill>
              <a:latin typeface="Maven Pro"/>
              <a:ea typeface="Maven Pro"/>
              <a:cs typeface="Maven Pro"/>
              <a:sym typeface="Maven Pro"/>
            </a:endParaRPr>
          </a:p>
          <a:p>
            <a:pPr indent="-317500" lvl="2" marL="1371600" rtl="0" algn="l">
              <a:lnSpc>
                <a:spcPct val="115000"/>
              </a:lnSpc>
              <a:spcBef>
                <a:spcPts val="0"/>
              </a:spcBef>
              <a:spcAft>
                <a:spcPts val="0"/>
              </a:spcAft>
              <a:buClr>
                <a:srgbClr val="B7B7B7"/>
              </a:buClr>
              <a:buSzPts val="1400"/>
              <a:buFont typeface="Maven Pro"/>
              <a:buAutoNum type="romanLcPeriod"/>
            </a:pPr>
            <a:r>
              <a:rPr lang="en">
                <a:solidFill>
                  <a:srgbClr val="B7B7B7"/>
                </a:solidFill>
                <a:latin typeface="Maven Pro"/>
                <a:ea typeface="Maven Pro"/>
                <a:cs typeface="Maven Pro"/>
                <a:sym typeface="Maven Pro"/>
              </a:rPr>
              <a:t>Min 65% in 12th/diploma</a:t>
            </a:r>
            <a:endParaRPr>
              <a:solidFill>
                <a:srgbClr val="B7B7B7"/>
              </a:solidFill>
              <a:latin typeface="Maven Pro"/>
              <a:ea typeface="Maven Pro"/>
              <a:cs typeface="Maven Pro"/>
              <a:sym typeface="Maven Pro"/>
            </a:endParaRPr>
          </a:p>
          <a:p>
            <a:pPr indent="-317500" lvl="2" marL="1371600" rtl="0" algn="l">
              <a:lnSpc>
                <a:spcPct val="115000"/>
              </a:lnSpc>
              <a:spcBef>
                <a:spcPts val="0"/>
              </a:spcBef>
              <a:spcAft>
                <a:spcPts val="0"/>
              </a:spcAft>
              <a:buClr>
                <a:srgbClr val="B7B7B7"/>
              </a:buClr>
              <a:buSzPts val="1400"/>
              <a:buFont typeface="Maven Pro"/>
              <a:buAutoNum type="romanLcPeriod"/>
            </a:pPr>
            <a:r>
              <a:rPr lang="en">
                <a:solidFill>
                  <a:srgbClr val="B7B7B7"/>
                </a:solidFill>
                <a:latin typeface="Maven Pro"/>
                <a:ea typeface="Maven Pro"/>
                <a:cs typeface="Maven Pro"/>
                <a:sym typeface="Maven Pro"/>
              </a:rPr>
              <a:t>Min 65% in 10th</a:t>
            </a:r>
            <a:endParaRPr>
              <a:solidFill>
                <a:srgbClr val="B7B7B7"/>
              </a:solidFill>
              <a:latin typeface="Maven Pro"/>
              <a:ea typeface="Maven Pro"/>
              <a:cs typeface="Maven Pro"/>
              <a:sym typeface="Maven Pro"/>
            </a:endParaRPr>
          </a:p>
          <a:p>
            <a:pPr indent="-317500" lvl="2" marL="1371600" rtl="0" algn="l">
              <a:lnSpc>
                <a:spcPct val="115000"/>
              </a:lnSpc>
              <a:spcBef>
                <a:spcPts val="0"/>
              </a:spcBef>
              <a:spcAft>
                <a:spcPts val="0"/>
              </a:spcAft>
              <a:buClr>
                <a:srgbClr val="B7B7B7"/>
              </a:buClr>
              <a:buSzPts val="1400"/>
              <a:buFont typeface="Maven Pro"/>
              <a:buAutoNum type="romanLcPeriod"/>
            </a:pPr>
            <a:r>
              <a:rPr lang="en">
                <a:solidFill>
                  <a:srgbClr val="B7B7B7"/>
                </a:solidFill>
                <a:latin typeface="Maven Pro"/>
                <a:ea typeface="Maven Pro"/>
                <a:cs typeface="Maven Pro"/>
                <a:sym typeface="Maven Pro"/>
              </a:rPr>
              <a:t>No Live KT</a:t>
            </a:r>
            <a:endParaRPr>
              <a:solidFill>
                <a:srgbClr val="B7B7B7"/>
              </a:solidFill>
              <a:latin typeface="Maven Pro"/>
              <a:ea typeface="Maven Pro"/>
              <a:cs typeface="Maven Pro"/>
              <a:sym typeface="Maven Pro"/>
            </a:endParaRPr>
          </a:p>
          <a:p>
            <a:pPr indent="-317500" lvl="2" marL="1371600" rtl="0" algn="l">
              <a:lnSpc>
                <a:spcPct val="115000"/>
              </a:lnSpc>
              <a:spcBef>
                <a:spcPts val="0"/>
              </a:spcBef>
              <a:spcAft>
                <a:spcPts val="0"/>
              </a:spcAft>
              <a:buClr>
                <a:srgbClr val="B7B7B7"/>
              </a:buClr>
              <a:buSzPts val="1400"/>
              <a:buFont typeface="Maven Pro"/>
              <a:buAutoNum type="romanLcPeriod"/>
            </a:pPr>
            <a:r>
              <a:rPr lang="en">
                <a:solidFill>
                  <a:srgbClr val="B7B7B7"/>
                </a:solidFill>
                <a:latin typeface="Maven Pro"/>
                <a:ea typeface="Maven Pro"/>
                <a:cs typeface="Maven Pro"/>
                <a:sym typeface="Maven Pro"/>
              </a:rPr>
              <a:t>Around (120) students were eligible for further Forcepoint Placement Drive Processes.</a:t>
            </a:r>
            <a:endParaRPr>
              <a:solidFill>
                <a:srgbClr val="B7B7B7"/>
              </a:solidFill>
              <a:latin typeface="Maven Pro"/>
              <a:ea typeface="Maven Pro"/>
              <a:cs typeface="Maven Pro"/>
              <a:sym typeface="Maven Pro"/>
            </a:endParaRPr>
          </a:p>
          <a:p>
            <a:pPr indent="0" lvl="0" marL="0" rtl="0" algn="l">
              <a:lnSpc>
                <a:spcPct val="115000"/>
              </a:lnSpc>
              <a:spcBef>
                <a:spcPts val="0"/>
              </a:spcBef>
              <a:spcAft>
                <a:spcPts val="1600"/>
              </a:spcAft>
              <a:buNone/>
            </a:pPr>
            <a:r>
              <a:t/>
            </a:r>
            <a:endParaRPr>
              <a:solidFill>
                <a:srgbClr val="B7B7B7"/>
              </a:solidFill>
              <a:latin typeface="Maven Pro"/>
              <a:ea typeface="Maven Pro"/>
              <a:cs typeface="Maven Pro"/>
              <a:sym typeface="Maven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cxnSp>
        <p:nvCxnSpPr>
          <p:cNvPr id="455" name="Google Shape;455;p27"/>
          <p:cNvCxnSpPr/>
          <p:nvPr/>
        </p:nvCxnSpPr>
        <p:spPr>
          <a:xfrm>
            <a:off x="1551088" y="2404550"/>
            <a:ext cx="0" cy="455100"/>
          </a:xfrm>
          <a:prstGeom prst="straightConnector1">
            <a:avLst/>
          </a:prstGeom>
          <a:noFill/>
          <a:ln cap="flat" cmpd="sng" w="19050">
            <a:solidFill>
              <a:srgbClr val="FFD6E1"/>
            </a:solidFill>
            <a:prstDash val="solid"/>
            <a:round/>
            <a:headEnd len="med" w="med" type="none"/>
            <a:tailEnd len="med" w="med" type="none"/>
          </a:ln>
        </p:spPr>
      </p:cxnSp>
      <p:cxnSp>
        <p:nvCxnSpPr>
          <p:cNvPr id="456" name="Google Shape;456;p27"/>
          <p:cNvCxnSpPr/>
          <p:nvPr/>
        </p:nvCxnSpPr>
        <p:spPr>
          <a:xfrm>
            <a:off x="3587838" y="2976550"/>
            <a:ext cx="0" cy="455100"/>
          </a:xfrm>
          <a:prstGeom prst="straightConnector1">
            <a:avLst/>
          </a:prstGeom>
          <a:noFill/>
          <a:ln cap="flat" cmpd="sng" w="19050">
            <a:solidFill>
              <a:srgbClr val="FFD6E1"/>
            </a:solidFill>
            <a:prstDash val="solid"/>
            <a:round/>
            <a:headEnd len="med" w="med" type="none"/>
            <a:tailEnd len="med" w="med" type="none"/>
          </a:ln>
        </p:spPr>
      </p:cxnSp>
      <p:cxnSp>
        <p:nvCxnSpPr>
          <p:cNvPr id="457" name="Google Shape;457;p27"/>
          <p:cNvCxnSpPr/>
          <p:nvPr/>
        </p:nvCxnSpPr>
        <p:spPr>
          <a:xfrm>
            <a:off x="5624588" y="2404550"/>
            <a:ext cx="0" cy="455100"/>
          </a:xfrm>
          <a:prstGeom prst="straightConnector1">
            <a:avLst/>
          </a:prstGeom>
          <a:noFill/>
          <a:ln cap="flat" cmpd="sng" w="19050">
            <a:solidFill>
              <a:srgbClr val="FFD6E1"/>
            </a:solidFill>
            <a:prstDash val="solid"/>
            <a:round/>
            <a:headEnd len="med" w="med" type="none"/>
            <a:tailEnd len="med" w="med" type="none"/>
          </a:ln>
        </p:spPr>
      </p:cxnSp>
      <p:cxnSp>
        <p:nvCxnSpPr>
          <p:cNvPr id="458" name="Google Shape;458;p27"/>
          <p:cNvCxnSpPr/>
          <p:nvPr/>
        </p:nvCxnSpPr>
        <p:spPr>
          <a:xfrm>
            <a:off x="7661338" y="2976550"/>
            <a:ext cx="0" cy="455100"/>
          </a:xfrm>
          <a:prstGeom prst="straightConnector1">
            <a:avLst/>
          </a:prstGeom>
          <a:noFill/>
          <a:ln cap="flat" cmpd="sng" w="19050">
            <a:solidFill>
              <a:srgbClr val="FFD6E1"/>
            </a:solidFill>
            <a:prstDash val="solid"/>
            <a:round/>
            <a:headEnd len="med" w="med" type="none"/>
            <a:tailEnd len="med" w="med" type="none"/>
          </a:ln>
        </p:spPr>
      </p:cxnSp>
      <p:cxnSp>
        <p:nvCxnSpPr>
          <p:cNvPr id="459" name="Google Shape;459;p27"/>
          <p:cNvCxnSpPr/>
          <p:nvPr/>
        </p:nvCxnSpPr>
        <p:spPr>
          <a:xfrm>
            <a:off x="1034400" y="2918100"/>
            <a:ext cx="7075200" cy="0"/>
          </a:xfrm>
          <a:prstGeom prst="straightConnector1">
            <a:avLst/>
          </a:prstGeom>
          <a:noFill/>
          <a:ln cap="flat" cmpd="sng" w="19050">
            <a:solidFill>
              <a:srgbClr val="FFD6E1"/>
            </a:solidFill>
            <a:prstDash val="solid"/>
            <a:round/>
            <a:headEnd len="med" w="med" type="none"/>
            <a:tailEnd len="med" w="med" type="none"/>
          </a:ln>
        </p:spPr>
      </p:cxnSp>
      <p:grpSp>
        <p:nvGrpSpPr>
          <p:cNvPr id="460" name="Google Shape;460;p27"/>
          <p:cNvGrpSpPr/>
          <p:nvPr/>
        </p:nvGrpSpPr>
        <p:grpSpPr>
          <a:xfrm>
            <a:off x="1372725" y="2731350"/>
            <a:ext cx="373500" cy="373500"/>
            <a:chOff x="1372725" y="1912500"/>
            <a:chExt cx="373500" cy="373500"/>
          </a:xfrm>
        </p:grpSpPr>
        <p:sp>
          <p:nvSpPr>
            <p:cNvPr id="461" name="Google Shape;461;p27"/>
            <p:cNvSpPr/>
            <p:nvPr/>
          </p:nvSpPr>
          <p:spPr>
            <a:xfrm>
              <a:off x="1464063" y="2003850"/>
              <a:ext cx="190800" cy="190800"/>
            </a:xfrm>
            <a:prstGeom prst="ellipse">
              <a:avLst/>
            </a:pr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7"/>
            <p:cNvSpPr/>
            <p:nvPr/>
          </p:nvSpPr>
          <p:spPr>
            <a:xfrm>
              <a:off x="1372725" y="1912500"/>
              <a:ext cx="373500" cy="373500"/>
            </a:xfrm>
            <a:prstGeom prst="donut">
              <a:avLst>
                <a:gd fmla="val 10193" name="adj"/>
              </a:avLst>
            </a:pr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27"/>
          <p:cNvGrpSpPr/>
          <p:nvPr/>
        </p:nvGrpSpPr>
        <p:grpSpPr>
          <a:xfrm>
            <a:off x="3401092" y="2731350"/>
            <a:ext cx="373500" cy="373500"/>
            <a:chOff x="3212675" y="1912500"/>
            <a:chExt cx="373500" cy="373500"/>
          </a:xfrm>
        </p:grpSpPr>
        <p:sp>
          <p:nvSpPr>
            <p:cNvPr id="464" name="Google Shape;464;p27"/>
            <p:cNvSpPr/>
            <p:nvPr/>
          </p:nvSpPr>
          <p:spPr>
            <a:xfrm>
              <a:off x="3304013" y="2003850"/>
              <a:ext cx="190800" cy="190800"/>
            </a:xfrm>
            <a:prstGeom prst="ellipse">
              <a:avLst/>
            </a:pr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7"/>
            <p:cNvSpPr/>
            <p:nvPr/>
          </p:nvSpPr>
          <p:spPr>
            <a:xfrm>
              <a:off x="3212675" y="1912500"/>
              <a:ext cx="373500" cy="373500"/>
            </a:xfrm>
            <a:prstGeom prst="donut">
              <a:avLst>
                <a:gd fmla="val 10193" name="adj"/>
              </a:avLst>
            </a:pr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 name="Google Shape;466;p27"/>
          <p:cNvGrpSpPr/>
          <p:nvPr/>
        </p:nvGrpSpPr>
        <p:grpSpPr>
          <a:xfrm>
            <a:off x="5429458" y="2731350"/>
            <a:ext cx="373500" cy="373500"/>
            <a:chOff x="5557850" y="1912500"/>
            <a:chExt cx="373500" cy="373500"/>
          </a:xfrm>
        </p:grpSpPr>
        <p:sp>
          <p:nvSpPr>
            <p:cNvPr id="467" name="Google Shape;467;p27"/>
            <p:cNvSpPr/>
            <p:nvPr/>
          </p:nvSpPr>
          <p:spPr>
            <a:xfrm>
              <a:off x="5649188" y="2003850"/>
              <a:ext cx="190800" cy="190800"/>
            </a:xfrm>
            <a:prstGeom prst="ellipse">
              <a:avLst/>
            </a:pr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7"/>
            <p:cNvSpPr/>
            <p:nvPr/>
          </p:nvSpPr>
          <p:spPr>
            <a:xfrm>
              <a:off x="5557850" y="1912500"/>
              <a:ext cx="373500" cy="373500"/>
            </a:xfrm>
            <a:prstGeom prst="donut">
              <a:avLst>
                <a:gd fmla="val 10193" name="adj"/>
              </a:avLst>
            </a:pr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 name="Google Shape;469;p27"/>
          <p:cNvGrpSpPr/>
          <p:nvPr/>
        </p:nvGrpSpPr>
        <p:grpSpPr>
          <a:xfrm>
            <a:off x="7457825" y="2731350"/>
            <a:ext cx="373500" cy="373500"/>
            <a:chOff x="7457825" y="1912500"/>
            <a:chExt cx="373500" cy="373500"/>
          </a:xfrm>
        </p:grpSpPr>
        <p:sp>
          <p:nvSpPr>
            <p:cNvPr id="470" name="Google Shape;470;p27"/>
            <p:cNvSpPr/>
            <p:nvPr/>
          </p:nvSpPr>
          <p:spPr>
            <a:xfrm>
              <a:off x="7549163" y="2003850"/>
              <a:ext cx="190800" cy="190800"/>
            </a:xfrm>
            <a:prstGeom prst="ellipse">
              <a:avLst/>
            </a:pr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7"/>
            <p:cNvSpPr/>
            <p:nvPr/>
          </p:nvSpPr>
          <p:spPr>
            <a:xfrm>
              <a:off x="7457825" y="1912500"/>
              <a:ext cx="373500" cy="373500"/>
            </a:xfrm>
            <a:prstGeom prst="donut">
              <a:avLst>
                <a:gd fmla="val 10193" name="adj"/>
              </a:avLst>
            </a:prstGeom>
            <a:solidFill>
              <a:srgbClr val="F64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2" name="Google Shape;472;p27"/>
          <p:cNvSpPr txBox="1"/>
          <p:nvPr/>
        </p:nvSpPr>
        <p:spPr>
          <a:xfrm>
            <a:off x="6720400" y="3381175"/>
            <a:ext cx="1881300" cy="619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Share Tech"/>
                <a:ea typeface="Share Tech"/>
                <a:cs typeface="Share Tech"/>
                <a:sym typeface="Share Tech"/>
              </a:rPr>
              <a:t> HR Interview</a:t>
            </a:r>
            <a:endParaRPr sz="1800">
              <a:solidFill>
                <a:srgbClr val="FFFFFF"/>
              </a:solidFill>
              <a:latin typeface="Share Tech"/>
              <a:ea typeface="Share Tech"/>
              <a:cs typeface="Share Tech"/>
              <a:sym typeface="Share Tech"/>
            </a:endParaRPr>
          </a:p>
          <a:p>
            <a:pPr indent="0" lvl="0" marL="0" rtl="0" algn="ctr">
              <a:spcBef>
                <a:spcPts val="0"/>
              </a:spcBef>
              <a:spcAft>
                <a:spcPts val="0"/>
              </a:spcAft>
              <a:buNone/>
            </a:pPr>
            <a:r>
              <a:rPr lang="en" sz="1800">
                <a:solidFill>
                  <a:schemeClr val="lt1"/>
                </a:solidFill>
                <a:latin typeface="Share Tech"/>
                <a:ea typeface="Share Tech"/>
                <a:cs typeface="Share Tech"/>
                <a:sym typeface="Share Tech"/>
              </a:rPr>
              <a:t>(In Office)</a:t>
            </a:r>
            <a:endParaRPr sz="1800">
              <a:solidFill>
                <a:srgbClr val="FFFFFF"/>
              </a:solidFill>
              <a:latin typeface="Share Tech"/>
              <a:ea typeface="Share Tech"/>
              <a:cs typeface="Share Tech"/>
              <a:sym typeface="Share Tech"/>
            </a:endParaRPr>
          </a:p>
        </p:txBody>
      </p:sp>
      <p:sp>
        <p:nvSpPr>
          <p:cNvPr id="473" name="Google Shape;473;p27"/>
          <p:cNvSpPr txBox="1"/>
          <p:nvPr/>
        </p:nvSpPr>
        <p:spPr>
          <a:xfrm>
            <a:off x="2647200" y="3590822"/>
            <a:ext cx="1881300" cy="427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Share Tech"/>
                <a:ea typeface="Share Tech"/>
                <a:cs typeface="Share Tech"/>
                <a:sym typeface="Share Tech"/>
              </a:rPr>
              <a:t> Coding Round</a:t>
            </a:r>
            <a:endParaRPr sz="1800">
              <a:solidFill>
                <a:srgbClr val="FFFFFF"/>
              </a:solidFill>
              <a:latin typeface="Share Tech"/>
              <a:ea typeface="Share Tech"/>
              <a:cs typeface="Share Tech"/>
              <a:sym typeface="Share Tech"/>
            </a:endParaRPr>
          </a:p>
          <a:p>
            <a:pPr indent="0" lvl="0" marL="0" rtl="0" algn="ctr">
              <a:spcBef>
                <a:spcPts val="0"/>
              </a:spcBef>
              <a:spcAft>
                <a:spcPts val="0"/>
              </a:spcAft>
              <a:buNone/>
            </a:pPr>
            <a:r>
              <a:rPr lang="en" sz="1800">
                <a:solidFill>
                  <a:srgbClr val="FFFFFF"/>
                </a:solidFill>
                <a:latin typeface="Share Tech"/>
                <a:ea typeface="Share Tech"/>
                <a:cs typeface="Share Tech"/>
                <a:sym typeface="Share Tech"/>
              </a:rPr>
              <a:t>(On Campus)</a:t>
            </a:r>
            <a:endParaRPr sz="1800">
              <a:solidFill>
                <a:srgbClr val="FFFFFF"/>
              </a:solidFill>
              <a:latin typeface="Share Tech"/>
              <a:ea typeface="Share Tech"/>
              <a:cs typeface="Share Tech"/>
              <a:sym typeface="Share Tech"/>
            </a:endParaRPr>
          </a:p>
        </p:txBody>
      </p:sp>
      <p:sp>
        <p:nvSpPr>
          <p:cNvPr id="474" name="Google Shape;474;p27"/>
          <p:cNvSpPr txBox="1"/>
          <p:nvPr/>
        </p:nvSpPr>
        <p:spPr>
          <a:xfrm>
            <a:off x="4683938" y="1566088"/>
            <a:ext cx="18813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Share Tech"/>
                <a:ea typeface="Share Tech"/>
                <a:cs typeface="Share Tech"/>
                <a:sym typeface="Share Tech"/>
              </a:rPr>
              <a:t>Technical Interview</a:t>
            </a:r>
            <a:endParaRPr sz="1800">
              <a:solidFill>
                <a:srgbClr val="FFFFFF"/>
              </a:solidFill>
              <a:latin typeface="Share Tech"/>
              <a:ea typeface="Share Tech"/>
              <a:cs typeface="Share Tech"/>
              <a:sym typeface="Share Tech"/>
            </a:endParaRPr>
          </a:p>
          <a:p>
            <a:pPr indent="0" lvl="0" marL="0" rtl="0" algn="ctr">
              <a:spcBef>
                <a:spcPts val="0"/>
              </a:spcBef>
              <a:spcAft>
                <a:spcPts val="0"/>
              </a:spcAft>
              <a:buNone/>
            </a:pPr>
            <a:r>
              <a:rPr lang="en" sz="1800">
                <a:solidFill>
                  <a:srgbClr val="FFFFFF"/>
                </a:solidFill>
                <a:latin typeface="Share Tech"/>
                <a:ea typeface="Share Tech"/>
                <a:cs typeface="Share Tech"/>
                <a:sym typeface="Share Tech"/>
              </a:rPr>
              <a:t>(In Office)</a:t>
            </a:r>
            <a:endParaRPr sz="1800">
              <a:solidFill>
                <a:srgbClr val="FFFFFF"/>
              </a:solidFill>
              <a:latin typeface="Share Tech"/>
              <a:ea typeface="Share Tech"/>
              <a:cs typeface="Share Tech"/>
              <a:sym typeface="Share Tech"/>
            </a:endParaRPr>
          </a:p>
        </p:txBody>
      </p:sp>
      <p:sp>
        <p:nvSpPr>
          <p:cNvPr id="475" name="Google Shape;475;p27"/>
          <p:cNvSpPr txBox="1"/>
          <p:nvPr/>
        </p:nvSpPr>
        <p:spPr>
          <a:xfrm>
            <a:off x="618825" y="3509325"/>
            <a:ext cx="1881300" cy="45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00CFCC"/>
                </a:solidFill>
                <a:latin typeface="Share Tech"/>
                <a:ea typeface="Share Tech"/>
                <a:cs typeface="Share Tech"/>
                <a:sym typeface="Share Tech"/>
              </a:rPr>
              <a:t>Pre Placement drive</a:t>
            </a:r>
            <a:endParaRPr sz="2400">
              <a:solidFill>
                <a:srgbClr val="00CFCC"/>
              </a:solidFill>
              <a:latin typeface="Share Tech"/>
              <a:ea typeface="Share Tech"/>
              <a:cs typeface="Share Tech"/>
              <a:sym typeface="Share Tech"/>
            </a:endParaRPr>
          </a:p>
        </p:txBody>
      </p:sp>
      <p:sp>
        <p:nvSpPr>
          <p:cNvPr id="476" name="Google Shape;476;p27"/>
          <p:cNvSpPr txBox="1"/>
          <p:nvPr/>
        </p:nvSpPr>
        <p:spPr>
          <a:xfrm>
            <a:off x="2944650" y="2113408"/>
            <a:ext cx="1286400" cy="42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E898AC"/>
                </a:solidFill>
                <a:latin typeface="Share Tech"/>
                <a:ea typeface="Share Tech"/>
                <a:cs typeface="Share Tech"/>
                <a:sym typeface="Share Tech"/>
              </a:rPr>
              <a:t>Round 01</a:t>
            </a:r>
            <a:endParaRPr sz="2400">
              <a:solidFill>
                <a:srgbClr val="E898AC"/>
              </a:solidFill>
              <a:latin typeface="Share Tech"/>
              <a:ea typeface="Share Tech"/>
              <a:cs typeface="Share Tech"/>
              <a:sym typeface="Share Tech"/>
            </a:endParaRPr>
          </a:p>
        </p:txBody>
      </p:sp>
      <p:sp>
        <p:nvSpPr>
          <p:cNvPr id="477" name="Google Shape;477;p27"/>
          <p:cNvSpPr txBox="1"/>
          <p:nvPr/>
        </p:nvSpPr>
        <p:spPr>
          <a:xfrm>
            <a:off x="4981250" y="3533999"/>
            <a:ext cx="1286400" cy="42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9973"/>
                </a:solidFill>
                <a:latin typeface="Share Tech"/>
                <a:ea typeface="Share Tech"/>
                <a:cs typeface="Share Tech"/>
                <a:sym typeface="Share Tech"/>
              </a:rPr>
              <a:t>Round 02</a:t>
            </a:r>
            <a:endParaRPr sz="2400">
              <a:solidFill>
                <a:srgbClr val="FF9973"/>
              </a:solidFill>
              <a:latin typeface="Share Tech"/>
              <a:ea typeface="Share Tech"/>
              <a:cs typeface="Share Tech"/>
              <a:sym typeface="Share Tech"/>
            </a:endParaRPr>
          </a:p>
          <a:p>
            <a:pPr indent="0" lvl="0" marL="0" rtl="0" algn="ctr">
              <a:spcBef>
                <a:spcPts val="0"/>
              </a:spcBef>
              <a:spcAft>
                <a:spcPts val="0"/>
              </a:spcAft>
              <a:buNone/>
            </a:pPr>
            <a:r>
              <a:t/>
            </a:r>
            <a:endParaRPr sz="2400">
              <a:solidFill>
                <a:srgbClr val="FF9973"/>
              </a:solidFill>
              <a:latin typeface="Share Tech"/>
              <a:ea typeface="Share Tech"/>
              <a:cs typeface="Share Tech"/>
              <a:sym typeface="Share Tech"/>
            </a:endParaRPr>
          </a:p>
        </p:txBody>
      </p:sp>
      <p:sp>
        <p:nvSpPr>
          <p:cNvPr id="478" name="Google Shape;478;p27"/>
          <p:cNvSpPr txBox="1"/>
          <p:nvPr/>
        </p:nvSpPr>
        <p:spPr>
          <a:xfrm>
            <a:off x="7001375" y="2233923"/>
            <a:ext cx="1286400" cy="37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64975"/>
                </a:solidFill>
                <a:latin typeface="Share Tech"/>
                <a:ea typeface="Share Tech"/>
                <a:cs typeface="Share Tech"/>
                <a:sym typeface="Share Tech"/>
              </a:rPr>
              <a:t>Round 03</a:t>
            </a:r>
            <a:endParaRPr sz="2400">
              <a:solidFill>
                <a:srgbClr val="F64975"/>
              </a:solidFill>
              <a:latin typeface="Share Tech"/>
              <a:ea typeface="Share Tech"/>
              <a:cs typeface="Share Tech"/>
              <a:sym typeface="Share Tech"/>
            </a:endParaRPr>
          </a:p>
          <a:p>
            <a:pPr indent="0" lvl="0" marL="0" rtl="0" algn="ctr">
              <a:spcBef>
                <a:spcPts val="0"/>
              </a:spcBef>
              <a:spcAft>
                <a:spcPts val="0"/>
              </a:spcAft>
              <a:buNone/>
            </a:pPr>
            <a:r>
              <a:t/>
            </a:r>
            <a:endParaRPr sz="2400">
              <a:solidFill>
                <a:srgbClr val="F64975"/>
              </a:solidFill>
              <a:latin typeface="Share Tech"/>
              <a:ea typeface="Share Tech"/>
              <a:cs typeface="Share Tech"/>
              <a:sym typeface="Share Tech"/>
            </a:endParaRPr>
          </a:p>
        </p:txBody>
      </p:sp>
      <p:sp>
        <p:nvSpPr>
          <p:cNvPr id="479" name="Google Shape;479;p27"/>
          <p:cNvSpPr txBox="1"/>
          <p:nvPr/>
        </p:nvSpPr>
        <p:spPr>
          <a:xfrm>
            <a:off x="724750" y="1412775"/>
            <a:ext cx="1881300" cy="1128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Share Tech"/>
                <a:ea typeface="Share Tech"/>
                <a:cs typeface="Share Tech"/>
                <a:sym typeface="Share Tech"/>
              </a:rPr>
              <a:t>Pre Placement Talk</a:t>
            </a:r>
            <a:endParaRPr sz="1800">
              <a:solidFill>
                <a:srgbClr val="FFFFFF"/>
              </a:solidFill>
              <a:latin typeface="Share Tech"/>
              <a:ea typeface="Share Tech"/>
              <a:cs typeface="Share Tech"/>
              <a:sym typeface="Share Tech"/>
            </a:endParaRPr>
          </a:p>
        </p:txBody>
      </p:sp>
      <p:sp>
        <p:nvSpPr>
          <p:cNvPr id="480" name="Google Shape;480;p27"/>
          <p:cNvSpPr txBox="1"/>
          <p:nvPr/>
        </p:nvSpPr>
        <p:spPr>
          <a:xfrm>
            <a:off x="1052550" y="393750"/>
            <a:ext cx="7038900" cy="9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FFFFFF"/>
                </a:solidFill>
                <a:latin typeface="Share Tech"/>
                <a:ea typeface="Share Tech"/>
                <a:cs typeface="Share Tech"/>
                <a:sym typeface="Share Tech"/>
              </a:rPr>
              <a:t>Placement Process</a:t>
            </a:r>
            <a:endParaRPr b="1" sz="2400">
              <a:solidFill>
                <a:srgbClr val="FFFFFF"/>
              </a:solidFill>
              <a:latin typeface="Share Tech"/>
              <a:ea typeface="Share Tech"/>
              <a:cs typeface="Share Tech"/>
              <a:sym typeface="Share Tech"/>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8"/>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FFFFFF"/>
                </a:solidFill>
                <a:latin typeface="Share Tech"/>
                <a:ea typeface="Share Tech"/>
                <a:cs typeface="Share Tech"/>
                <a:sym typeface="Share Tech"/>
              </a:rPr>
              <a:t>Coding Round</a:t>
            </a:r>
            <a:endParaRPr sz="2800">
              <a:solidFill>
                <a:srgbClr val="FFFFFF"/>
              </a:solidFill>
              <a:latin typeface="Share Tech"/>
              <a:ea typeface="Share Tech"/>
              <a:cs typeface="Share Tech"/>
              <a:sym typeface="Share Tech"/>
            </a:endParaRPr>
          </a:p>
        </p:txBody>
      </p:sp>
      <p:sp>
        <p:nvSpPr>
          <p:cNvPr id="486" name="Google Shape;486;p28"/>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Conducted in the College</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Platform Used: Code Blocks</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Programming Language : C, C++ only</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2 Coding questions where given</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Time Limit: 90 Minutes</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 HR team of Dolat Capital distributed the sheet with the Questions.</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It is not a usual coding round as you may have appeared for in other companies .  </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It is a very practical problem that is related to the company’s business, something related to code that is actually solving a real world challenge . </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You are required to study the entire question , it is a detailed document and explains everything that you need to solve . </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After the code for the questions is completed we have to mail the solution programs to their email.</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 result of this round was declared in the evening.</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15 Students were selected after this round.</a:t>
            </a:r>
            <a:endParaRPr sz="1300">
              <a:solidFill>
                <a:srgbClr val="FFFFFF"/>
              </a:solidFill>
              <a:latin typeface="Maven Pro"/>
              <a:ea typeface="Maven Pro"/>
              <a:cs typeface="Maven Pro"/>
              <a:sym typeface="Maven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29"/>
          <p:cNvSpPr txBox="1"/>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5200">
                <a:solidFill>
                  <a:srgbClr val="FFFFFF"/>
                </a:solidFill>
                <a:latin typeface="Share Tech"/>
                <a:ea typeface="Share Tech"/>
                <a:cs typeface="Share Tech"/>
                <a:sym typeface="Share Tech"/>
              </a:rPr>
              <a:t>Aashutosh Baraskar</a:t>
            </a:r>
            <a:endParaRPr sz="5200">
              <a:solidFill>
                <a:srgbClr val="FFFFFF"/>
              </a:solidFill>
              <a:latin typeface="Share Tech"/>
              <a:ea typeface="Share Tech"/>
              <a:cs typeface="Share Tech"/>
              <a:sym typeface="Share Tech"/>
            </a:endParaRPr>
          </a:p>
        </p:txBody>
      </p:sp>
      <p:sp>
        <p:nvSpPr>
          <p:cNvPr id="492" name="Google Shape;492;p29"/>
          <p:cNvSpPr txBox="1"/>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Maven Pro"/>
                <a:ea typeface="Maven Pro"/>
                <a:cs typeface="Maven Pro"/>
                <a:sym typeface="Maven Pro"/>
              </a:rPr>
              <a:t>Dolat Capital</a:t>
            </a:r>
            <a:r>
              <a:rPr lang="en" sz="1800">
                <a:solidFill>
                  <a:srgbClr val="FFFFFF"/>
                </a:solidFill>
                <a:latin typeface="Maven Pro"/>
                <a:ea typeface="Maven Pro"/>
                <a:cs typeface="Maven Pro"/>
                <a:sym typeface="Maven Pro"/>
              </a:rPr>
              <a:t> Experience</a:t>
            </a:r>
            <a:endParaRPr sz="1800">
              <a:solidFill>
                <a:srgbClr val="FFFFFF"/>
              </a:solidFill>
              <a:latin typeface="Maven Pro"/>
              <a:ea typeface="Maven Pro"/>
              <a:cs typeface="Maven Pro"/>
              <a:sym typeface="Maven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0"/>
          <p:cNvSpPr txBox="1"/>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FFFFFF"/>
                </a:solidFill>
                <a:latin typeface="Share Tech"/>
                <a:ea typeface="Share Tech"/>
                <a:cs typeface="Share Tech"/>
                <a:sym typeface="Share Tech"/>
              </a:rPr>
              <a:t>Technical Interview</a:t>
            </a:r>
            <a:endParaRPr sz="2800">
              <a:solidFill>
                <a:srgbClr val="FFFFFF"/>
              </a:solidFill>
              <a:latin typeface="Share Tech"/>
              <a:ea typeface="Share Tech"/>
              <a:cs typeface="Share Tech"/>
              <a:sym typeface="Share Tech"/>
            </a:endParaRPr>
          </a:p>
        </p:txBody>
      </p:sp>
      <p:sp>
        <p:nvSpPr>
          <p:cNvPr id="498" name="Google Shape;498;p30"/>
          <p:cNvSpPr txBox="1"/>
          <p:nvPr/>
        </p:nvSpPr>
        <p:spPr>
          <a:xfrm>
            <a:off x="311700" y="678400"/>
            <a:ext cx="8520600" cy="4271400"/>
          </a:xfrm>
          <a:prstGeom prst="rect">
            <a:avLst/>
          </a:prstGeom>
          <a:noFill/>
          <a:ln>
            <a:noFill/>
          </a:ln>
        </p:spPr>
        <p:txBody>
          <a:bodyPr anchorCtr="0" anchor="t" bIns="91425" lIns="91425" spcFirstLastPara="1" rIns="91425" wrap="square" tIns="91425">
            <a:noAutofit/>
          </a:bodyPr>
          <a:lstStyle/>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Conducted at Dolat Capital Office.</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This Interview process started at 11 am.</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 interview panel is very friendly , but at the same time the difficulty  level of the interview is high . </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A good level of technical knowledge in C++ and OOPS in general is expected .</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 interview started with the common question “Tell me about yourself.”</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Questions related to my projects were asked.</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They also asked to rate your C++ language skills.</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Questions asked on following topics : </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C++ STL </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Pointers </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Structures </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OOPS </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Multiple Optimization Coding questions were asked</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Static keyword</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Virtual Keyword</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Program on reverse linked list</a:t>
            </a:r>
            <a:endParaRPr sz="1300">
              <a:solidFill>
                <a:srgbClr val="FFFFFF"/>
              </a:solidFill>
              <a:latin typeface="Maven Pro"/>
              <a:ea typeface="Maven Pro"/>
              <a:cs typeface="Maven Pro"/>
              <a:sym typeface="Maven Pro"/>
            </a:endParaRPr>
          </a:p>
          <a:p>
            <a:pPr indent="4889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Programs on Stack and Queue</a:t>
            </a:r>
            <a:endParaRPr sz="1300">
              <a:solidFill>
                <a:srgbClr val="FFFFFF"/>
              </a:solidFill>
              <a:latin typeface="Maven Pro"/>
              <a:ea typeface="Maven Pro"/>
              <a:cs typeface="Maven Pro"/>
              <a:sym typeface="Maven Pro"/>
            </a:endParaRPr>
          </a:p>
          <a:p>
            <a:pPr indent="0" lvl="0" marL="0" rtl="0" algn="l">
              <a:lnSpc>
                <a:spcPct val="115000"/>
              </a:lnSpc>
              <a:spcBef>
                <a:spcPts val="0"/>
              </a:spcBef>
              <a:spcAft>
                <a:spcPts val="0"/>
              </a:spcAft>
              <a:buNone/>
            </a:pPr>
            <a:r>
              <a:t/>
            </a:r>
            <a:endParaRPr sz="1300">
              <a:solidFill>
                <a:srgbClr val="FFFFFF"/>
              </a:solidFill>
              <a:latin typeface="Maven Pro"/>
              <a:ea typeface="Maven Pro"/>
              <a:cs typeface="Maven Pro"/>
              <a:sym typeface="Maven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1"/>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FFFFFF"/>
                </a:solidFill>
                <a:latin typeface="Share Tech"/>
                <a:ea typeface="Share Tech"/>
                <a:cs typeface="Share Tech"/>
                <a:sym typeface="Share Tech"/>
              </a:rPr>
              <a:t>HR Interview</a:t>
            </a:r>
            <a:endParaRPr sz="2800">
              <a:solidFill>
                <a:srgbClr val="FFFFFF"/>
              </a:solidFill>
              <a:latin typeface="Share Tech"/>
              <a:ea typeface="Share Tech"/>
              <a:cs typeface="Share Tech"/>
              <a:sym typeface="Share Tech"/>
            </a:endParaRPr>
          </a:p>
        </p:txBody>
      </p:sp>
      <p:sp>
        <p:nvSpPr>
          <p:cNvPr id="504" name="Google Shape;504;p31"/>
          <p:cNvSpPr txBox="1"/>
          <p:nvPr/>
        </p:nvSpPr>
        <p:spPr>
          <a:xfrm>
            <a:off x="311700" y="1161825"/>
            <a:ext cx="8520600" cy="3416400"/>
          </a:xfrm>
          <a:prstGeom prst="rect">
            <a:avLst/>
          </a:prstGeom>
          <a:noFill/>
          <a:ln>
            <a:noFill/>
          </a:ln>
        </p:spPr>
        <p:txBody>
          <a:bodyPr anchorCtr="0" anchor="t" bIns="91425" lIns="91425" spcFirstLastPara="1" rIns="91425" wrap="square" tIns="91425">
            <a:noAutofit/>
          </a:bodyPr>
          <a:lstStyle/>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This was basically a professional communication test round, basically they check your life skills, your speaking and thinking skills.</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They also check how and what type of questions you ask and how professionally you answer the asked questions.</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rgbClr val="FFFFFF"/>
              </a:buClr>
              <a:buSzPts val="1300"/>
              <a:buFont typeface="Maven Pro"/>
              <a:buAutoNum type="alphaLcPeriod"/>
            </a:pPr>
            <a:r>
              <a:rPr lang="en" sz="1300">
                <a:solidFill>
                  <a:srgbClr val="FFFFFF"/>
                </a:solidFill>
                <a:latin typeface="Maven Pro"/>
                <a:ea typeface="Maven Pro"/>
                <a:cs typeface="Maven Pro"/>
                <a:sym typeface="Maven Pro"/>
              </a:rPr>
              <a:t>Questions asked were:</a:t>
            </a:r>
            <a:endParaRPr sz="1300">
              <a:solidFill>
                <a:srgbClr val="FFFFFF"/>
              </a:solidFill>
              <a:latin typeface="Maven Pro"/>
              <a:ea typeface="Maven Pro"/>
              <a:cs typeface="Maven Pro"/>
              <a:sym typeface="Maven Pro"/>
            </a:endParaRPr>
          </a:p>
          <a:p>
            <a:pPr indent="3746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Introduction</a:t>
            </a:r>
            <a:endParaRPr sz="1300">
              <a:solidFill>
                <a:srgbClr val="FFFFFF"/>
              </a:solidFill>
              <a:latin typeface="Maven Pro"/>
              <a:ea typeface="Maven Pro"/>
              <a:cs typeface="Maven Pro"/>
              <a:sym typeface="Maven Pro"/>
            </a:endParaRPr>
          </a:p>
          <a:p>
            <a:pPr indent="3746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Family Background</a:t>
            </a:r>
            <a:endParaRPr sz="1300">
              <a:solidFill>
                <a:srgbClr val="FFFFFF"/>
              </a:solidFill>
              <a:latin typeface="Maven Pro"/>
              <a:ea typeface="Maven Pro"/>
              <a:cs typeface="Maven Pro"/>
              <a:sym typeface="Maven Pro"/>
            </a:endParaRPr>
          </a:p>
          <a:p>
            <a:pPr indent="3746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Related to my projects </a:t>
            </a:r>
            <a:endParaRPr sz="1300">
              <a:solidFill>
                <a:srgbClr val="FFFFFF"/>
              </a:solidFill>
              <a:latin typeface="Maven Pro"/>
              <a:ea typeface="Maven Pro"/>
              <a:cs typeface="Maven Pro"/>
              <a:sym typeface="Maven Pro"/>
            </a:endParaRPr>
          </a:p>
          <a:p>
            <a:pPr indent="3746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They also asked to rate your C++ language skills.</a:t>
            </a:r>
            <a:endParaRPr sz="1300">
              <a:solidFill>
                <a:srgbClr val="FFFFFF"/>
              </a:solidFill>
              <a:latin typeface="Maven Pro"/>
              <a:ea typeface="Maven Pro"/>
              <a:cs typeface="Maven Pro"/>
              <a:sym typeface="Maven Pro"/>
            </a:endParaRPr>
          </a:p>
          <a:p>
            <a:pPr indent="374650" lvl="0" marL="457200" rtl="0" algn="l">
              <a:lnSpc>
                <a:spcPct val="115000"/>
              </a:lnSpc>
              <a:spcBef>
                <a:spcPts val="0"/>
              </a:spcBef>
              <a:spcAft>
                <a:spcPts val="0"/>
              </a:spcAft>
              <a:buClr>
                <a:srgbClr val="FFFFFF"/>
              </a:buClr>
              <a:buSzPts val="1300"/>
              <a:buFont typeface="Maven Pro"/>
              <a:buChar char="●"/>
            </a:pPr>
            <a:r>
              <a:rPr lang="en" sz="1300">
                <a:solidFill>
                  <a:srgbClr val="FFFFFF"/>
                </a:solidFill>
                <a:latin typeface="Maven Pro"/>
                <a:ea typeface="Maven Pro"/>
                <a:cs typeface="Maven Pro"/>
                <a:sym typeface="Maven Pro"/>
              </a:rPr>
              <a:t>What option would you choose if you were given a chance to work as a front end developer    </a:t>
            </a:r>
            <a:endParaRPr sz="1300">
              <a:solidFill>
                <a:srgbClr val="FFFFFF"/>
              </a:solidFill>
              <a:latin typeface="Maven Pro"/>
              <a:ea typeface="Maven Pro"/>
              <a:cs typeface="Maven Pro"/>
              <a:sym typeface="Maven Pro"/>
            </a:endParaRPr>
          </a:p>
          <a:p>
            <a:pPr indent="0" lvl="0" marL="914400" rtl="0" algn="l">
              <a:lnSpc>
                <a:spcPct val="115000"/>
              </a:lnSpc>
              <a:spcBef>
                <a:spcPts val="0"/>
              </a:spcBef>
              <a:spcAft>
                <a:spcPts val="0"/>
              </a:spcAft>
              <a:buNone/>
            </a:pPr>
            <a:r>
              <a:rPr lang="en" sz="1300">
                <a:solidFill>
                  <a:srgbClr val="FFFFFF"/>
                </a:solidFill>
                <a:latin typeface="Maven Pro"/>
                <a:ea typeface="Maven Pro"/>
                <a:cs typeface="Maven Pro"/>
                <a:sym typeface="Maven Pro"/>
              </a:rPr>
              <a:t>          or Software developer in Dolat Capital?</a:t>
            </a:r>
            <a:endParaRPr sz="1300">
              <a:solidFill>
                <a:srgbClr val="FFFFFF"/>
              </a:solidFill>
              <a:latin typeface="Maven Pro"/>
              <a:ea typeface="Maven Pro"/>
              <a:cs typeface="Maven Pro"/>
              <a:sym typeface="Maven Pro"/>
            </a:endParaRPr>
          </a:p>
          <a:p>
            <a:pPr indent="0" lvl="0" marL="0" rtl="0" algn="l">
              <a:lnSpc>
                <a:spcPct val="115000"/>
              </a:lnSpc>
              <a:spcBef>
                <a:spcPts val="0"/>
              </a:spcBef>
              <a:spcAft>
                <a:spcPts val="0"/>
              </a:spcAft>
              <a:buNone/>
            </a:pPr>
            <a:r>
              <a:t/>
            </a:r>
            <a:endParaRPr sz="1300">
              <a:solidFill>
                <a:srgbClr val="FFFFFF"/>
              </a:solidFill>
              <a:latin typeface="Maven Pro"/>
              <a:ea typeface="Maven Pro"/>
              <a:cs typeface="Maven Pro"/>
              <a:sym typeface="Maven Pro"/>
            </a:endParaRPr>
          </a:p>
          <a:p>
            <a:pPr indent="-311150" lvl="1" marL="914400" rtl="0" algn="l">
              <a:lnSpc>
                <a:spcPct val="115000"/>
              </a:lnSpc>
              <a:spcBef>
                <a:spcPts val="0"/>
              </a:spcBef>
              <a:spcAft>
                <a:spcPts val="0"/>
              </a:spcAft>
              <a:buClr>
                <a:schemeClr val="lt1"/>
              </a:buClr>
              <a:buSzPts val="1300"/>
              <a:buFont typeface="Maven Pro"/>
              <a:buAutoNum type="alphaLcPeriod"/>
            </a:pPr>
            <a:r>
              <a:rPr lang="en" sz="1300">
                <a:solidFill>
                  <a:schemeClr val="lt1"/>
                </a:solidFill>
                <a:latin typeface="Maven Pro"/>
                <a:ea typeface="Maven Pro"/>
                <a:cs typeface="Maven Pro"/>
                <a:sym typeface="Maven Pro"/>
              </a:rPr>
              <a:t>After a basic chat , you will be given the chance to ask questions that you may have .</a:t>
            </a:r>
            <a:endParaRPr sz="1300">
              <a:solidFill>
                <a:srgbClr val="FFFFFF"/>
              </a:solidFill>
              <a:latin typeface="Maven Pro"/>
              <a:ea typeface="Maven Pro"/>
              <a:cs typeface="Maven Pro"/>
              <a:sym typeface="Maven Pro"/>
            </a:endParaRPr>
          </a:p>
          <a:p>
            <a:pPr indent="0" lvl="0" marL="1828800" rtl="0" algn="l">
              <a:lnSpc>
                <a:spcPct val="115000"/>
              </a:lnSpc>
              <a:spcBef>
                <a:spcPts val="0"/>
              </a:spcBef>
              <a:spcAft>
                <a:spcPts val="0"/>
              </a:spcAft>
              <a:buNone/>
            </a:pPr>
            <a:r>
              <a:t/>
            </a:r>
            <a:endParaRPr sz="1300">
              <a:solidFill>
                <a:srgbClr val="FFFFFF"/>
              </a:solidFill>
              <a:latin typeface="Maven Pro"/>
              <a:ea typeface="Maven Pro"/>
              <a:cs typeface="Maven Pro"/>
              <a:sym typeface="Maven Pro"/>
            </a:endParaRPr>
          </a:p>
          <a:p>
            <a:pPr indent="0" lvl="0" marL="0" rtl="0" algn="l">
              <a:lnSpc>
                <a:spcPct val="115000"/>
              </a:lnSpc>
              <a:spcBef>
                <a:spcPts val="0"/>
              </a:spcBef>
              <a:spcAft>
                <a:spcPts val="0"/>
              </a:spcAft>
              <a:buNone/>
            </a:pPr>
            <a:r>
              <a:t/>
            </a:r>
            <a:endParaRPr sz="1300">
              <a:solidFill>
                <a:srgbClr val="FFFFFF"/>
              </a:solidFill>
              <a:latin typeface="Maven Pro"/>
              <a:ea typeface="Maven Pro"/>
              <a:cs typeface="Maven Pro"/>
              <a:sym typeface="Maven Pro"/>
            </a:endParaRPr>
          </a:p>
          <a:p>
            <a:pPr indent="0" lvl="0" marL="457200" rtl="0" algn="l">
              <a:lnSpc>
                <a:spcPct val="115000"/>
              </a:lnSpc>
              <a:spcBef>
                <a:spcPts val="0"/>
              </a:spcBef>
              <a:spcAft>
                <a:spcPts val="0"/>
              </a:spcAft>
              <a:buNone/>
            </a:pPr>
            <a:r>
              <a:t/>
            </a:r>
            <a:endParaRPr sz="1300">
              <a:solidFill>
                <a:srgbClr val="FFFFFF"/>
              </a:solidFill>
              <a:latin typeface="Maven Pro"/>
              <a:ea typeface="Maven Pro"/>
              <a:cs typeface="Maven Pro"/>
              <a:sym typeface="Maven Pro"/>
            </a:endParaRPr>
          </a:p>
          <a:p>
            <a:pPr indent="0" lvl="0" marL="457200" rtl="0" algn="l">
              <a:lnSpc>
                <a:spcPct val="115000"/>
              </a:lnSpc>
              <a:spcBef>
                <a:spcPts val="0"/>
              </a:spcBef>
              <a:spcAft>
                <a:spcPts val="0"/>
              </a:spcAft>
              <a:buNone/>
            </a:pPr>
            <a:r>
              <a:t/>
            </a:r>
            <a:endParaRPr sz="1300">
              <a:solidFill>
                <a:srgbClr val="FFFFFF"/>
              </a:solidFill>
              <a:latin typeface="Maven Pro"/>
              <a:ea typeface="Maven Pro"/>
              <a:cs typeface="Maven Pro"/>
              <a:sym typeface="Maven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2"/>
          <p:cNvSpPr txBox="1"/>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5200">
                <a:solidFill>
                  <a:srgbClr val="FFFFFF"/>
                </a:solidFill>
                <a:latin typeface="Share Tech"/>
                <a:ea typeface="Share Tech"/>
                <a:cs typeface="Share Tech"/>
                <a:sym typeface="Share Tech"/>
              </a:rPr>
              <a:t>Shruti Koku</a:t>
            </a:r>
            <a:endParaRPr sz="5200">
              <a:solidFill>
                <a:srgbClr val="FFFFFF"/>
              </a:solidFill>
              <a:latin typeface="Share Tech"/>
              <a:ea typeface="Share Tech"/>
              <a:cs typeface="Share Tech"/>
              <a:sym typeface="Share Tech"/>
            </a:endParaRPr>
          </a:p>
        </p:txBody>
      </p:sp>
      <p:sp>
        <p:nvSpPr>
          <p:cNvPr id="510" name="Google Shape;510;p32"/>
          <p:cNvSpPr txBox="1"/>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Maven Pro"/>
                <a:ea typeface="Maven Pro"/>
                <a:cs typeface="Maven Pro"/>
                <a:sym typeface="Maven Pro"/>
              </a:rPr>
              <a:t>Dolat Capital</a:t>
            </a:r>
            <a:r>
              <a:rPr lang="en" sz="1800">
                <a:solidFill>
                  <a:srgbClr val="FFFFFF"/>
                </a:solidFill>
                <a:latin typeface="Maven Pro"/>
                <a:ea typeface="Maven Pro"/>
                <a:cs typeface="Maven Pro"/>
                <a:sym typeface="Maven Pro"/>
              </a:rPr>
              <a:t> Experience</a:t>
            </a:r>
            <a:endParaRPr sz="1800">
              <a:solidFill>
                <a:srgbClr val="FFFFFF"/>
              </a:solidFill>
              <a:latin typeface="Maven Pro"/>
              <a:ea typeface="Maven Pro"/>
              <a:cs typeface="Maven Pro"/>
              <a:sym typeface="Maven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3"/>
          <p:cNvSpPr txBox="1"/>
          <p:nvPr>
            <p:ph idx="4294967295" type="body"/>
          </p:nvPr>
        </p:nvSpPr>
        <p:spPr>
          <a:xfrm>
            <a:off x="618825" y="865975"/>
            <a:ext cx="8117700" cy="37221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sz="1300"/>
              <a:t>Common Question - “Tell me something about Yourself”.</a:t>
            </a:r>
            <a:endParaRPr sz="1300"/>
          </a:p>
          <a:p>
            <a:pPr indent="-311150" lvl="0" marL="457200" rtl="0" algn="l">
              <a:lnSpc>
                <a:spcPct val="115000"/>
              </a:lnSpc>
              <a:spcBef>
                <a:spcPts val="0"/>
              </a:spcBef>
              <a:spcAft>
                <a:spcPts val="0"/>
              </a:spcAft>
              <a:buSzPts val="1300"/>
              <a:buChar char="●"/>
            </a:pPr>
            <a:r>
              <a:rPr lang="en" sz="1300"/>
              <a:t>Question based on Oops were asked:</a:t>
            </a:r>
            <a:endParaRPr sz="1300"/>
          </a:p>
          <a:p>
            <a:pPr indent="0" lvl="0" marL="457200" rtl="0" algn="l">
              <a:lnSpc>
                <a:spcPct val="115000"/>
              </a:lnSpc>
              <a:spcBef>
                <a:spcPts val="0"/>
              </a:spcBef>
              <a:spcAft>
                <a:spcPts val="0"/>
              </a:spcAft>
              <a:buNone/>
            </a:pPr>
            <a:r>
              <a:rPr lang="en" sz="1300"/>
              <a:t>   1. Enumeration</a:t>
            </a:r>
            <a:endParaRPr sz="1300"/>
          </a:p>
          <a:p>
            <a:pPr indent="0" lvl="0" marL="457200" rtl="0" algn="l">
              <a:lnSpc>
                <a:spcPct val="115000"/>
              </a:lnSpc>
              <a:spcBef>
                <a:spcPts val="0"/>
              </a:spcBef>
              <a:spcAft>
                <a:spcPts val="0"/>
              </a:spcAft>
              <a:buNone/>
            </a:pPr>
            <a:r>
              <a:rPr lang="en" sz="1300"/>
              <a:t>   2. Inheritance</a:t>
            </a:r>
            <a:endParaRPr sz="1300"/>
          </a:p>
          <a:p>
            <a:pPr indent="0" lvl="0" marL="457200" rtl="0" algn="l">
              <a:lnSpc>
                <a:spcPct val="115000"/>
              </a:lnSpc>
              <a:spcBef>
                <a:spcPts val="0"/>
              </a:spcBef>
              <a:spcAft>
                <a:spcPts val="0"/>
              </a:spcAft>
              <a:buNone/>
            </a:pPr>
            <a:r>
              <a:rPr lang="en" sz="1300"/>
              <a:t>   3. Abstraction</a:t>
            </a:r>
            <a:endParaRPr sz="1300"/>
          </a:p>
          <a:p>
            <a:pPr indent="0" lvl="0" marL="457200" rtl="0" algn="l">
              <a:lnSpc>
                <a:spcPct val="115000"/>
              </a:lnSpc>
              <a:spcBef>
                <a:spcPts val="0"/>
              </a:spcBef>
              <a:spcAft>
                <a:spcPts val="0"/>
              </a:spcAft>
              <a:buNone/>
            </a:pPr>
            <a:r>
              <a:rPr lang="en" sz="1300"/>
              <a:t>   4. Overloading and overriding</a:t>
            </a:r>
            <a:endParaRPr sz="1300"/>
          </a:p>
          <a:p>
            <a:pPr indent="0" lvl="0" marL="457200" rtl="0" algn="l">
              <a:lnSpc>
                <a:spcPct val="115000"/>
              </a:lnSpc>
              <a:spcBef>
                <a:spcPts val="0"/>
              </a:spcBef>
              <a:spcAft>
                <a:spcPts val="0"/>
              </a:spcAft>
              <a:buNone/>
            </a:pPr>
            <a:r>
              <a:rPr lang="en" sz="1300"/>
              <a:t>   5. Destructors</a:t>
            </a:r>
            <a:endParaRPr sz="1300"/>
          </a:p>
          <a:p>
            <a:pPr indent="0" lvl="0" marL="457200" rtl="0" algn="l">
              <a:lnSpc>
                <a:spcPct val="115000"/>
              </a:lnSpc>
              <a:spcBef>
                <a:spcPts val="0"/>
              </a:spcBef>
              <a:spcAft>
                <a:spcPts val="0"/>
              </a:spcAft>
              <a:buNone/>
            </a:pPr>
            <a:r>
              <a:t/>
            </a:r>
            <a:endParaRPr sz="1300"/>
          </a:p>
          <a:p>
            <a:pPr indent="-311150" lvl="0" marL="457200" rtl="0" algn="l">
              <a:lnSpc>
                <a:spcPct val="115000"/>
              </a:lnSpc>
              <a:spcBef>
                <a:spcPts val="0"/>
              </a:spcBef>
              <a:spcAft>
                <a:spcPts val="0"/>
              </a:spcAft>
              <a:buSzPts val="1300"/>
              <a:buChar char="●"/>
            </a:pPr>
            <a:r>
              <a:rPr lang="en" sz="1300"/>
              <a:t>Programming Questions were asked :</a:t>
            </a:r>
            <a:endParaRPr sz="1300"/>
          </a:p>
          <a:p>
            <a:pPr indent="0" lvl="0" marL="457200" rtl="0" algn="l">
              <a:lnSpc>
                <a:spcPct val="115000"/>
              </a:lnSpc>
              <a:spcBef>
                <a:spcPts val="0"/>
              </a:spcBef>
              <a:spcAft>
                <a:spcPts val="0"/>
              </a:spcAft>
              <a:buNone/>
            </a:pPr>
            <a:r>
              <a:rPr lang="en" sz="1300"/>
              <a:t>  1. Average of last three numbers in a continuously increasing array.</a:t>
            </a:r>
            <a:endParaRPr sz="1300"/>
          </a:p>
          <a:p>
            <a:pPr indent="0" lvl="0" marL="457200" rtl="0" algn="l">
              <a:lnSpc>
                <a:spcPct val="115000"/>
              </a:lnSpc>
              <a:spcBef>
                <a:spcPts val="0"/>
              </a:spcBef>
              <a:spcAft>
                <a:spcPts val="0"/>
              </a:spcAft>
              <a:buNone/>
            </a:pPr>
            <a:r>
              <a:rPr lang="en" sz="1300"/>
              <a:t>  2. Reverse a number .</a:t>
            </a:r>
            <a:endParaRPr sz="1300"/>
          </a:p>
          <a:p>
            <a:pPr indent="0" lvl="0" marL="457200" rtl="0" algn="l">
              <a:lnSpc>
                <a:spcPct val="115000"/>
              </a:lnSpc>
              <a:spcBef>
                <a:spcPts val="0"/>
              </a:spcBef>
              <a:spcAft>
                <a:spcPts val="0"/>
              </a:spcAft>
              <a:buNone/>
            </a:pPr>
            <a:r>
              <a:rPr lang="en" sz="1300"/>
              <a:t>  3. Reverse a float number .Eg: 12.34  after reverse becomes 21.43 .</a:t>
            </a:r>
            <a:endParaRPr sz="1300"/>
          </a:p>
          <a:p>
            <a:pPr indent="0" lvl="0" marL="457200" rtl="0" algn="l">
              <a:lnSpc>
                <a:spcPct val="115000"/>
              </a:lnSpc>
              <a:spcBef>
                <a:spcPts val="0"/>
              </a:spcBef>
              <a:spcAft>
                <a:spcPts val="0"/>
              </a:spcAft>
              <a:buNone/>
            </a:pPr>
            <a:r>
              <a:t/>
            </a:r>
            <a:endParaRPr sz="1300"/>
          </a:p>
          <a:p>
            <a:pPr indent="-311150" lvl="0" marL="457200" rtl="0" algn="l">
              <a:lnSpc>
                <a:spcPct val="115000"/>
              </a:lnSpc>
              <a:spcBef>
                <a:spcPts val="0"/>
              </a:spcBef>
              <a:spcAft>
                <a:spcPts val="0"/>
              </a:spcAft>
              <a:buSzPts val="1300"/>
              <a:buChar char="●"/>
            </a:pPr>
            <a:r>
              <a:rPr lang="en" sz="1300"/>
              <a:t>I was asked to optimize my code until O(1) complexity.</a:t>
            </a:r>
            <a:endParaRPr sz="1300"/>
          </a:p>
          <a:p>
            <a:pPr indent="-311150" lvl="0" marL="457200" rtl="0" algn="l">
              <a:lnSpc>
                <a:spcPct val="115000"/>
              </a:lnSpc>
              <a:spcBef>
                <a:spcPts val="0"/>
              </a:spcBef>
              <a:spcAft>
                <a:spcPts val="0"/>
              </a:spcAft>
              <a:buSzPts val="1300"/>
              <a:buChar char="●"/>
            </a:pPr>
            <a:r>
              <a:rPr lang="en" sz="1300"/>
              <a:t>Some questions on pointers were also asked.</a:t>
            </a:r>
            <a:endParaRPr sz="1300"/>
          </a:p>
          <a:p>
            <a:pPr indent="-311150" lvl="0" marL="457200" rtl="0" algn="l">
              <a:lnSpc>
                <a:spcPct val="115000"/>
              </a:lnSpc>
              <a:spcBef>
                <a:spcPts val="0"/>
              </a:spcBef>
              <a:spcAft>
                <a:spcPts val="0"/>
              </a:spcAft>
              <a:buSzPts val="1300"/>
              <a:buChar char="●"/>
            </a:pPr>
            <a:r>
              <a:rPr lang="en" sz="1300"/>
              <a:t>All of these codes were to be written down on a piece of paper.</a:t>
            </a:r>
            <a:endParaRPr sz="1300"/>
          </a:p>
          <a:p>
            <a:pPr indent="-311150" lvl="0" marL="457200" rtl="0" algn="l">
              <a:lnSpc>
                <a:spcPct val="115000"/>
              </a:lnSpc>
              <a:spcBef>
                <a:spcPts val="0"/>
              </a:spcBef>
              <a:spcAft>
                <a:spcPts val="0"/>
              </a:spcAft>
              <a:buSzPts val="1300"/>
              <a:buChar char="●"/>
            </a:pPr>
            <a:r>
              <a:rPr lang="en" sz="1300"/>
              <a:t>Interview lasted for about 2 hours.</a:t>
            </a:r>
            <a:endParaRPr sz="1300"/>
          </a:p>
          <a:p>
            <a:pPr indent="0" lvl="0" marL="457200" rtl="0" algn="l">
              <a:spcBef>
                <a:spcPts val="0"/>
              </a:spcBef>
              <a:spcAft>
                <a:spcPts val="0"/>
              </a:spcAft>
              <a:buNone/>
            </a:pPr>
            <a:r>
              <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t/>
            </a:r>
            <a:endParaRPr sz="1300"/>
          </a:p>
        </p:txBody>
      </p:sp>
      <p:sp>
        <p:nvSpPr>
          <p:cNvPr id="516" name="Google Shape;516;p33"/>
          <p:cNvSpPr txBox="1"/>
          <p:nvPr>
            <p:ph idx="4294967295" type="ctrTitle"/>
          </p:nvPr>
        </p:nvSpPr>
        <p:spPr>
          <a:xfrm>
            <a:off x="618825" y="288175"/>
            <a:ext cx="6107100" cy="5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Interview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4"/>
          <p:cNvSpPr txBox="1"/>
          <p:nvPr>
            <p:ph idx="1" type="body"/>
          </p:nvPr>
        </p:nvSpPr>
        <p:spPr>
          <a:xfrm>
            <a:off x="618825" y="1174600"/>
            <a:ext cx="8070900" cy="32265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Char char="●"/>
            </a:pPr>
            <a:r>
              <a:rPr lang="en" sz="1300"/>
              <a:t>Common Question : “Tell Me something about yourself”</a:t>
            </a:r>
            <a:endParaRPr sz="1300"/>
          </a:p>
          <a:p>
            <a:pPr indent="-311150" lvl="0" marL="457200" rtl="0" algn="l">
              <a:lnSpc>
                <a:spcPct val="150000"/>
              </a:lnSpc>
              <a:spcBef>
                <a:spcPts val="0"/>
              </a:spcBef>
              <a:spcAft>
                <a:spcPts val="0"/>
              </a:spcAft>
              <a:buSzPts val="1300"/>
              <a:buChar char="●"/>
            </a:pPr>
            <a:r>
              <a:rPr lang="en" sz="1300"/>
              <a:t>“Rate your c++ skills”</a:t>
            </a:r>
            <a:endParaRPr sz="1300"/>
          </a:p>
          <a:p>
            <a:pPr indent="-311150" lvl="0" marL="457200" rtl="0" algn="l">
              <a:lnSpc>
                <a:spcPct val="150000"/>
              </a:lnSpc>
              <a:spcBef>
                <a:spcPts val="0"/>
              </a:spcBef>
              <a:spcAft>
                <a:spcPts val="0"/>
              </a:spcAft>
              <a:buSzPts val="1300"/>
              <a:buChar char="●"/>
            </a:pPr>
            <a:r>
              <a:rPr lang="en" sz="1300"/>
              <a:t> Family Background</a:t>
            </a:r>
            <a:endParaRPr sz="1300"/>
          </a:p>
          <a:p>
            <a:pPr indent="-311150" lvl="0" marL="457200" rtl="0" algn="l">
              <a:lnSpc>
                <a:spcPct val="150000"/>
              </a:lnSpc>
              <a:spcBef>
                <a:spcPts val="0"/>
              </a:spcBef>
              <a:spcAft>
                <a:spcPts val="0"/>
              </a:spcAft>
              <a:buSzPts val="1300"/>
              <a:buChar char="●"/>
            </a:pPr>
            <a:r>
              <a:rPr lang="en" sz="1300"/>
              <a:t>“Can you travel to the office?”</a:t>
            </a:r>
            <a:endParaRPr sz="1300"/>
          </a:p>
          <a:p>
            <a:pPr indent="-311150" lvl="0" marL="457200" rtl="0" algn="l">
              <a:lnSpc>
                <a:spcPct val="150000"/>
              </a:lnSpc>
              <a:spcBef>
                <a:spcPts val="0"/>
              </a:spcBef>
              <a:spcAft>
                <a:spcPts val="0"/>
              </a:spcAft>
              <a:buSzPts val="1300"/>
              <a:buChar char="●"/>
            </a:pPr>
            <a:r>
              <a:rPr lang="en" sz="1300"/>
              <a:t>“ Why Dolat Capital?”</a:t>
            </a:r>
            <a:endParaRPr sz="1300"/>
          </a:p>
          <a:p>
            <a:pPr indent="-311150" lvl="0" marL="457200" rtl="0" algn="l">
              <a:lnSpc>
                <a:spcPct val="150000"/>
              </a:lnSpc>
              <a:spcBef>
                <a:spcPts val="0"/>
              </a:spcBef>
              <a:spcAft>
                <a:spcPts val="0"/>
              </a:spcAft>
              <a:buSzPts val="1300"/>
              <a:buChar char="●"/>
            </a:pPr>
            <a:r>
              <a:rPr lang="en" sz="1300"/>
              <a:t>“What are your dream companies apart from Dolat Capital?”</a:t>
            </a:r>
            <a:endParaRPr sz="1300"/>
          </a:p>
          <a:p>
            <a:pPr indent="-311150" lvl="0" marL="457200" rtl="0" algn="l">
              <a:lnSpc>
                <a:spcPct val="150000"/>
              </a:lnSpc>
              <a:spcBef>
                <a:spcPts val="0"/>
              </a:spcBef>
              <a:spcAft>
                <a:spcPts val="0"/>
              </a:spcAft>
              <a:buSzPts val="1300"/>
              <a:buChar char="●"/>
            </a:pPr>
            <a:r>
              <a:rPr lang="en" sz="1300"/>
              <a:t>What option would you choose if you were given a chance to work as a Strategy developer or Core developer in Dolat Capital?</a:t>
            </a:r>
            <a:endParaRPr sz="1300"/>
          </a:p>
          <a:p>
            <a:pPr indent="-311150" lvl="0" marL="457200" rtl="0" algn="l">
              <a:lnSpc>
                <a:spcPct val="150000"/>
              </a:lnSpc>
              <a:spcBef>
                <a:spcPts val="0"/>
              </a:spcBef>
              <a:spcAft>
                <a:spcPts val="0"/>
              </a:spcAft>
              <a:buSzPts val="1300"/>
              <a:buChar char="●"/>
            </a:pPr>
            <a:r>
              <a:rPr lang="en" sz="1300"/>
              <a:t>After a basic chat , you will be given the chance to ask questions that you may have .</a:t>
            </a:r>
            <a:endParaRPr sz="1300"/>
          </a:p>
        </p:txBody>
      </p:sp>
      <p:sp>
        <p:nvSpPr>
          <p:cNvPr id="522" name="Google Shape;522;p34"/>
          <p:cNvSpPr txBox="1"/>
          <p:nvPr>
            <p:ph type="ctrTitle"/>
          </p:nvPr>
        </p:nvSpPr>
        <p:spPr>
          <a:xfrm>
            <a:off x="618825" y="411675"/>
            <a:ext cx="26865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HR Interview</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35"/>
          <p:cNvPicPr preferRelativeResize="0"/>
          <p:nvPr/>
        </p:nvPicPr>
        <p:blipFill>
          <a:blip r:embed="rId3">
            <a:alphaModFix/>
          </a:blip>
          <a:stretch>
            <a:fillRect/>
          </a:stretch>
        </p:blipFill>
        <p:spPr>
          <a:xfrm>
            <a:off x="3560728" y="956825"/>
            <a:ext cx="2022550" cy="2987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6"/>
          <p:cNvSpPr txBox="1"/>
          <p:nvPr/>
        </p:nvSpPr>
        <p:spPr>
          <a:xfrm>
            <a:off x="1561650" y="751903"/>
            <a:ext cx="6020700" cy="881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5200">
                <a:solidFill>
                  <a:srgbClr val="FFFFFF"/>
                </a:solidFill>
                <a:latin typeface="Share Tech"/>
                <a:ea typeface="Share Tech"/>
                <a:cs typeface="Share Tech"/>
                <a:sym typeface="Share Tech"/>
              </a:rPr>
              <a:t>Feel free to contact us</a:t>
            </a:r>
            <a:endParaRPr sz="5200">
              <a:solidFill>
                <a:srgbClr val="FFFFFF"/>
              </a:solidFill>
              <a:latin typeface="Share Tech"/>
              <a:ea typeface="Share Tech"/>
              <a:cs typeface="Share Tech"/>
              <a:sym typeface="Share Tech"/>
            </a:endParaRPr>
          </a:p>
        </p:txBody>
      </p:sp>
      <p:sp>
        <p:nvSpPr>
          <p:cNvPr id="533" name="Google Shape;533;p36"/>
          <p:cNvSpPr txBox="1"/>
          <p:nvPr/>
        </p:nvSpPr>
        <p:spPr>
          <a:xfrm>
            <a:off x="1223850" y="2289350"/>
            <a:ext cx="68487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FFFFFF"/>
                </a:solidFill>
                <a:latin typeface="Maven Pro"/>
                <a:ea typeface="Maven Pro"/>
                <a:cs typeface="Maven Pro"/>
                <a:sym typeface="Maven Pro"/>
              </a:rPr>
              <a:t>Shruti Koku</a:t>
            </a:r>
            <a:r>
              <a:rPr lang="en" sz="1800">
                <a:solidFill>
                  <a:srgbClr val="FFFFFF"/>
                </a:solidFill>
                <a:latin typeface="Maven Pro"/>
                <a:ea typeface="Maven Pro"/>
                <a:cs typeface="Maven Pro"/>
                <a:sym typeface="Maven Pro"/>
              </a:rPr>
              <a:t>: </a:t>
            </a:r>
            <a:r>
              <a:rPr lang="en" sz="1800">
                <a:solidFill>
                  <a:srgbClr val="FFFFFF"/>
                </a:solidFill>
                <a:uFill>
                  <a:noFill/>
                </a:uFill>
                <a:latin typeface="Maven Pro"/>
                <a:ea typeface="Maven Pro"/>
                <a:cs typeface="Maven Pro"/>
                <a:sym typeface="Maven Pro"/>
                <a:hlinkClick r:id="rId3">
                  <a:extLst>
                    <a:ext uri="{A12FA001-AC4F-418D-AE19-62706E023703}">
                      <ahyp:hlinkClr val="tx"/>
                    </a:ext>
                  </a:extLst>
                </a:hlinkClick>
              </a:rPr>
              <a:t>2019shruti.koku@ves.ac.in</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Aashutosh Baraskar: d</a:t>
            </a:r>
            <a:r>
              <a:rPr lang="en" sz="1800">
                <a:solidFill>
                  <a:srgbClr val="FFFFFF"/>
                </a:solidFill>
                <a:uFill>
                  <a:noFill/>
                </a:uFill>
                <a:latin typeface="Maven Pro"/>
                <a:ea typeface="Maven Pro"/>
                <a:cs typeface="Maven Pro"/>
                <a:sym typeface="Maven Pro"/>
                <a:hlinkClick r:id="rId4">
                  <a:extLst>
                    <a:ext uri="{A12FA001-AC4F-418D-AE19-62706E023703}">
                      <ahyp:hlinkClr val="tx"/>
                    </a:ext>
                  </a:extLst>
                </a:hlinkClick>
              </a:rPr>
              <a:t>2019.aashutosh.baraskar@ves.ac.in</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t/>
            </a:r>
            <a:endParaRPr sz="1800">
              <a:solidFill>
                <a:srgbClr val="FFFFFF"/>
              </a:solidFill>
              <a:latin typeface="Maven Pro"/>
              <a:ea typeface="Maven Pro"/>
              <a:cs typeface="Maven Pro"/>
              <a:sym typeface="Maven Pro"/>
            </a:endParaRPr>
          </a:p>
        </p:txBody>
      </p:sp>
    </p:spTree>
  </p:cSld>
  <p:clrMapOvr>
    <a:masterClrMapping/>
  </p:clrMapOvr>
</p:sld>
</file>

<file path=ppt/theme/theme1.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