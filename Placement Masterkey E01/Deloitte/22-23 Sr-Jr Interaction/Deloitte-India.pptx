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Barlow"/>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bold.fntdata"/><Relationship Id="rId11" Type="http://schemas.openxmlformats.org/officeDocument/2006/relationships/slide" Target="slides/slide6.xml"/><Relationship Id="rId22" Type="http://schemas.openxmlformats.org/officeDocument/2006/relationships/font" Target="fonts/Barlow-boldItalic.fntdata"/><Relationship Id="rId10" Type="http://schemas.openxmlformats.org/officeDocument/2006/relationships/slide" Target="slides/slide5.xml"/><Relationship Id="rId21" Type="http://schemas.openxmlformats.org/officeDocument/2006/relationships/font" Target="fonts/Barlow-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notesMaster" Target="notesMasters/notesMaster1.xml"/><Relationship Id="rId19" Type="http://schemas.openxmlformats.org/officeDocument/2006/relationships/font" Target="fonts/Barlow-regular.fntdata"/><Relationship Id="rId6" Type="http://schemas.openxmlformats.org/officeDocument/2006/relationships/slide" Target="slides/slide1.xml"/><Relationship Id="rId18"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109d9e1b8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109d9e1b8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109d9e1b82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109d9e1b8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109d9e1b82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109d9e1b82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109d9e1b82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109d9e1b8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10c03aee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10c03aee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10c03aee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10c03aee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10c03aee1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10c03aee1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109d9e1b8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109d9e1b8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Placement Experience by:</a:t>
            </a:r>
            <a:endParaRPr b="1"/>
          </a:p>
          <a:p>
            <a:pPr indent="0" lvl="0" marL="0" rtl="0" algn="ctr">
              <a:spcBef>
                <a:spcPts val="0"/>
              </a:spcBef>
              <a:spcAft>
                <a:spcPts val="0"/>
              </a:spcAft>
              <a:buNone/>
            </a:pPr>
            <a:r>
              <a:rPr b="1" lang="en"/>
              <a:t>Shaikh Insha  (D17C)</a:t>
            </a:r>
            <a:endParaRPr b="1"/>
          </a:p>
          <a:p>
            <a:pPr indent="0" lvl="0" marL="0" rtl="0" algn="ctr">
              <a:spcBef>
                <a:spcPts val="0"/>
              </a:spcBef>
              <a:spcAft>
                <a:spcPts val="0"/>
              </a:spcAft>
              <a:buNone/>
            </a:pPr>
            <a:r>
              <a:t/>
            </a:r>
            <a:endParaRPr sz="1800"/>
          </a:p>
          <a:p>
            <a:pPr indent="0" lvl="0" marL="0" rtl="0" algn="ctr">
              <a:spcBef>
                <a:spcPts val="0"/>
              </a:spcBef>
              <a:spcAft>
                <a:spcPts val="0"/>
              </a:spcAft>
              <a:buNone/>
            </a:pPr>
            <a:r>
              <a:rPr lang="en" sz="1800"/>
              <a:t>Computer Engineering Department, 2023 Batch</a:t>
            </a:r>
            <a:endParaRPr sz="1800"/>
          </a:p>
          <a:p>
            <a:pPr indent="0" lvl="0" marL="0" rtl="0" algn="l">
              <a:spcBef>
                <a:spcPts val="0"/>
              </a:spcBef>
              <a:spcAft>
                <a:spcPts val="0"/>
              </a:spcAft>
              <a:buNone/>
            </a:pPr>
            <a:r>
              <a:t/>
            </a:r>
            <a:endParaRPr/>
          </a:p>
        </p:txBody>
      </p:sp>
      <p:pic>
        <p:nvPicPr>
          <p:cNvPr id="60" name="Google Shape;60;p13"/>
          <p:cNvPicPr preferRelativeResize="0"/>
          <p:nvPr/>
        </p:nvPicPr>
        <p:blipFill rotWithShape="1">
          <a:blip r:embed="rId3">
            <a:alphaModFix/>
          </a:blip>
          <a:srcRect b="0" l="0" r="0" t="0"/>
          <a:stretch/>
        </p:blipFill>
        <p:spPr>
          <a:xfrm>
            <a:off x="1753548" y="1120200"/>
            <a:ext cx="5636924" cy="1806525"/>
          </a:xfrm>
          <a:prstGeom prst="rect">
            <a:avLst/>
          </a:prstGeom>
          <a:noFill/>
          <a:ln>
            <a:noFill/>
          </a:ln>
        </p:spPr>
      </p:pic>
      <p:sp>
        <p:nvSpPr>
          <p:cNvPr id="61" name="Google Shape;61;p13"/>
          <p:cNvSpPr txBox="1"/>
          <p:nvPr/>
        </p:nvSpPr>
        <p:spPr>
          <a:xfrm>
            <a:off x="2029650" y="343775"/>
            <a:ext cx="5084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VIVEKANAND EDUCATION SOCIETY INSTITUTE OF TECHNOLOGY (MUMBAI UNIVERSITY)</a:t>
            </a:r>
            <a:endParaRPr b="1">
              <a:solidFill>
                <a:srgbClr val="FFFFFF"/>
              </a:solidFill>
              <a:latin typeface="Proxima Nova"/>
              <a:ea typeface="Proxima Nova"/>
              <a:cs typeface="Proxima Nova"/>
              <a:sym typeface="Proxima Nova"/>
            </a:endParaRPr>
          </a:p>
          <a:p>
            <a:pPr indent="0" lvl="0" marL="0" rtl="0" algn="ctr">
              <a:spcBef>
                <a:spcPts val="0"/>
              </a:spcBef>
              <a:spcAft>
                <a:spcPts val="0"/>
              </a:spcAft>
              <a:buNone/>
            </a:pPr>
            <a:r>
              <a:rPr lang="en">
                <a:solidFill>
                  <a:srgbClr val="FFFFFF"/>
                </a:solidFill>
                <a:latin typeface="Proxima Nova"/>
                <a:ea typeface="Proxima Nova"/>
                <a:cs typeface="Proxima Nova"/>
                <a:sym typeface="Proxima Nova"/>
              </a:rPr>
              <a:t>Department of Computer Engineering</a:t>
            </a:r>
            <a:endParaRPr>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b="1">
              <a:solidFill>
                <a:srgbClr val="FFFFFF"/>
              </a:solidFill>
              <a:latin typeface="Proxima Nova"/>
              <a:ea typeface="Proxima Nova"/>
              <a:cs typeface="Proxima Nova"/>
              <a:sym typeface="Proxima Nova"/>
            </a:endParaRPr>
          </a:p>
        </p:txBody>
      </p:sp>
      <p:pic>
        <p:nvPicPr>
          <p:cNvPr id="62" name="Google Shape;62;p13"/>
          <p:cNvPicPr preferRelativeResize="0"/>
          <p:nvPr/>
        </p:nvPicPr>
        <p:blipFill rotWithShape="1">
          <a:blip r:embed="rId4">
            <a:alphaModFix/>
          </a:blip>
          <a:srcRect b="0" l="0" r="0" t="0"/>
          <a:stretch/>
        </p:blipFill>
        <p:spPr>
          <a:xfrm>
            <a:off x="7878900" y="171850"/>
            <a:ext cx="587375" cy="948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About Deloitte.</a:t>
            </a:r>
            <a:endParaRPr b="1" sz="3000"/>
          </a:p>
        </p:txBody>
      </p:sp>
      <p:sp>
        <p:nvSpPr>
          <p:cNvPr id="68" name="Google Shape;68;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Char char="●"/>
            </a:pPr>
            <a:r>
              <a:rPr lang="en" sz="1600"/>
              <a:t>Deloitte is a member of the renowned group of "Big Four" accounting firms and holds the position of the world's largest professional services network in terms of revenue and staff count. </a:t>
            </a:r>
            <a:endParaRPr sz="1600"/>
          </a:p>
          <a:p>
            <a:pPr indent="-330200" lvl="0" marL="457200" rtl="0" algn="l">
              <a:lnSpc>
                <a:spcPct val="115000"/>
              </a:lnSpc>
              <a:spcBef>
                <a:spcPts val="1000"/>
              </a:spcBef>
              <a:spcAft>
                <a:spcPts val="0"/>
              </a:spcAft>
              <a:buSzPts val="1600"/>
              <a:buChar char="●"/>
            </a:pPr>
            <a:r>
              <a:rPr lang="en" sz="1600"/>
              <a:t>Its range of services includes audit, tax, consulting, enterprise risk, and financial advisory. </a:t>
            </a:r>
            <a:endParaRPr sz="1600"/>
          </a:p>
          <a:p>
            <a:pPr indent="-330200" lvl="0" marL="457200" rtl="0" algn="l">
              <a:lnSpc>
                <a:spcPct val="115000"/>
              </a:lnSpc>
              <a:spcBef>
                <a:spcPts val="1000"/>
              </a:spcBef>
              <a:spcAft>
                <a:spcPts val="0"/>
              </a:spcAft>
              <a:buSzPts val="1600"/>
              <a:buChar char="●"/>
            </a:pPr>
            <a:r>
              <a:rPr lang="en" sz="1600"/>
              <a:t>Caters to a significant majority of the companies listed in the Fortune Global 500®, which accounts for around 90 percent of them. </a:t>
            </a:r>
            <a:endParaRPr sz="1600"/>
          </a:p>
          <a:p>
            <a:pPr indent="-330200" lvl="0" marL="457200" rtl="0" algn="l">
              <a:lnSpc>
                <a:spcPct val="115000"/>
              </a:lnSpc>
              <a:spcBef>
                <a:spcPts val="1000"/>
              </a:spcBef>
              <a:spcAft>
                <a:spcPts val="0"/>
              </a:spcAft>
              <a:buSzPts val="1600"/>
              <a:buChar char="●"/>
            </a:pPr>
            <a:r>
              <a:rPr lang="en" sz="1600"/>
              <a:t>Building on more than 175 years of service, the company has a wide presence, with offices in over 150 countries, and boasts a workforce that consists of 45% female employees.</a:t>
            </a:r>
            <a:endParaRPr sz="1600"/>
          </a:p>
          <a:p>
            <a:pPr indent="-330200" lvl="0" marL="457200" rtl="0" algn="l">
              <a:lnSpc>
                <a:spcPct val="115000"/>
              </a:lnSpc>
              <a:spcBef>
                <a:spcPts val="1000"/>
              </a:spcBef>
              <a:spcAft>
                <a:spcPts val="1000"/>
              </a:spcAft>
              <a:buSzPts val="1600"/>
              <a:buChar char="●"/>
            </a:pPr>
            <a:r>
              <a:rPr lang="en" sz="1600"/>
              <a:t>“Making an impact that matters”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Company Status &amp; Eligibility</a:t>
            </a:r>
            <a:endParaRPr b="1" sz="3000"/>
          </a:p>
          <a:p>
            <a:pPr indent="0" lvl="0" marL="0" rtl="0" algn="ctr">
              <a:spcBef>
                <a:spcPts val="0"/>
              </a:spcBef>
              <a:spcAft>
                <a:spcPts val="0"/>
              </a:spcAft>
              <a:buNone/>
            </a:pPr>
            <a:r>
              <a:t/>
            </a:r>
            <a:endParaRPr b="1" sz="3000"/>
          </a:p>
          <a:p>
            <a:pPr indent="0" lvl="0" marL="0" rtl="0" algn="ctr">
              <a:spcBef>
                <a:spcPts val="0"/>
              </a:spcBef>
              <a:spcAft>
                <a:spcPts val="0"/>
              </a:spcAft>
              <a:buNone/>
            </a:pPr>
            <a:r>
              <a:t/>
            </a:r>
            <a:endParaRPr b="1" sz="3000"/>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Company Name: </a:t>
            </a:r>
            <a:r>
              <a:rPr b="1" lang="en" sz="1400"/>
              <a:t>Deloitte-India</a:t>
            </a:r>
            <a:endParaRPr b="1" sz="1400"/>
          </a:p>
          <a:p>
            <a:pPr indent="0" lvl="0" marL="0" rtl="0" algn="l">
              <a:spcBef>
                <a:spcPts val="1200"/>
              </a:spcBef>
              <a:spcAft>
                <a:spcPts val="0"/>
              </a:spcAft>
              <a:buNone/>
            </a:pPr>
            <a:r>
              <a:rPr lang="en" sz="1400"/>
              <a:t>Company Status : </a:t>
            </a:r>
            <a:r>
              <a:rPr b="1" lang="en" sz="1400"/>
              <a:t>Dream </a:t>
            </a:r>
            <a:endParaRPr b="1" sz="1400"/>
          </a:p>
          <a:p>
            <a:pPr indent="0" lvl="0" marL="0" rtl="0" algn="l">
              <a:spcBef>
                <a:spcPts val="1200"/>
              </a:spcBef>
              <a:spcAft>
                <a:spcPts val="0"/>
              </a:spcAft>
              <a:buNone/>
            </a:pPr>
            <a:r>
              <a:rPr lang="en" sz="1400"/>
              <a:t>Eligible Branches: B.Tech/ B.E. – </a:t>
            </a:r>
            <a:r>
              <a:rPr b="1" lang="en" sz="1400"/>
              <a:t>Computer Science and Engineering / IT stream</a:t>
            </a:r>
            <a:endParaRPr b="1" sz="1400"/>
          </a:p>
          <a:p>
            <a:pPr indent="0" lvl="0" marL="0" rtl="0" algn="l">
              <a:spcBef>
                <a:spcPts val="1200"/>
              </a:spcBef>
              <a:spcAft>
                <a:spcPts val="0"/>
              </a:spcAft>
              <a:buNone/>
            </a:pPr>
            <a:r>
              <a:rPr lang="en" sz="1400"/>
              <a:t>Eligibility Criteria: Aggregate 60% or CGPA of 6.5 and above , </a:t>
            </a:r>
            <a:r>
              <a:rPr b="1" lang="en" sz="1400"/>
              <a:t>No active backlogs</a:t>
            </a:r>
            <a:endParaRPr b="1" sz="1400"/>
          </a:p>
          <a:p>
            <a:pPr indent="0" lvl="0" marL="0" rtl="0" algn="l">
              <a:spcBef>
                <a:spcPts val="1200"/>
              </a:spcBef>
              <a:spcAft>
                <a:spcPts val="0"/>
              </a:spcAft>
              <a:buNone/>
            </a:pPr>
            <a:r>
              <a:rPr lang="en" sz="1400"/>
              <a:t>Salary: CTC: </a:t>
            </a:r>
            <a:r>
              <a:rPr b="1" lang="en" sz="1400"/>
              <a:t>7.6 LPA</a:t>
            </a:r>
            <a:r>
              <a:rPr lang="en" sz="1400"/>
              <a:t> ( 6L fixed + 10% Variable + 1L Joining bonus) </a:t>
            </a:r>
            <a:endParaRPr sz="1400"/>
          </a:p>
          <a:p>
            <a:pPr indent="0" lvl="0" marL="0" rtl="0" algn="l">
              <a:spcBef>
                <a:spcPts val="1200"/>
              </a:spcBef>
              <a:spcAft>
                <a:spcPts val="0"/>
              </a:spcAft>
              <a:buNone/>
            </a:pPr>
            <a:r>
              <a:rPr lang="en" sz="1400"/>
              <a:t>Role : Analyst - </a:t>
            </a:r>
            <a:r>
              <a:rPr b="1" lang="en" sz="1400"/>
              <a:t>Cloud Engineering</a:t>
            </a:r>
            <a:endParaRPr sz="1400"/>
          </a:p>
          <a:p>
            <a:pPr indent="0" lvl="0" marL="0" rtl="0" algn="l">
              <a:spcBef>
                <a:spcPts val="1200"/>
              </a:spcBef>
              <a:spcAft>
                <a:spcPts val="0"/>
              </a:spcAft>
              <a:buNone/>
            </a:pPr>
            <a:r>
              <a:rPr lang="en" sz="1400"/>
              <a:t>Date of Drive:    Test Date : </a:t>
            </a:r>
            <a:r>
              <a:rPr b="1" lang="en" sz="1400"/>
              <a:t>23-Aug-2022</a:t>
            </a:r>
            <a:r>
              <a:rPr lang="en" sz="1400"/>
              <a:t> and Hiring Event Date: </a:t>
            </a:r>
            <a:r>
              <a:rPr b="1" lang="en" sz="1400"/>
              <a:t>26-Aug-2022</a:t>
            </a:r>
            <a:endParaRPr b="1"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Placement Process</a:t>
            </a:r>
            <a:endParaRPr b="1" sz="3000"/>
          </a:p>
          <a:p>
            <a:pPr indent="0" lvl="0" marL="0" rtl="0" algn="ctr">
              <a:spcBef>
                <a:spcPts val="0"/>
              </a:spcBef>
              <a:spcAft>
                <a:spcPts val="0"/>
              </a:spcAft>
              <a:buNone/>
            </a:pPr>
            <a:r>
              <a:t/>
            </a:r>
            <a:endParaRPr b="1" sz="3000"/>
          </a:p>
          <a:p>
            <a:pPr indent="0" lvl="0" marL="0" rtl="0" algn="ctr">
              <a:spcBef>
                <a:spcPts val="0"/>
              </a:spcBef>
              <a:spcAft>
                <a:spcPts val="0"/>
              </a:spcAft>
              <a:buNone/>
            </a:pPr>
            <a:r>
              <a:t/>
            </a:r>
            <a:endParaRPr b="1" sz="3000"/>
          </a:p>
        </p:txBody>
      </p:sp>
      <p:sp>
        <p:nvSpPr>
          <p:cNvPr id="80" name="Google Shape;8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Round 1: </a:t>
            </a:r>
            <a:r>
              <a:rPr b="1" lang="en" sz="1900"/>
              <a:t>Aptitu</a:t>
            </a:r>
            <a:r>
              <a:rPr b="1" lang="en" sz="1900"/>
              <a:t>de Test</a:t>
            </a:r>
            <a:endParaRPr b="1" sz="1900"/>
          </a:p>
          <a:p>
            <a:pPr indent="0" lvl="0" marL="0" rtl="0" algn="l">
              <a:spcBef>
                <a:spcPts val="1200"/>
              </a:spcBef>
              <a:spcAft>
                <a:spcPts val="0"/>
              </a:spcAft>
              <a:buNone/>
            </a:pPr>
            <a:r>
              <a:rPr lang="en" sz="1900"/>
              <a:t>Round 2: </a:t>
            </a:r>
            <a:r>
              <a:rPr b="1" lang="en" sz="1900"/>
              <a:t>Group Discussion</a:t>
            </a:r>
            <a:endParaRPr b="1" sz="1900"/>
          </a:p>
          <a:p>
            <a:pPr indent="0" lvl="0" marL="0" rtl="0" algn="l">
              <a:spcBef>
                <a:spcPts val="1200"/>
              </a:spcBef>
              <a:spcAft>
                <a:spcPts val="0"/>
              </a:spcAft>
              <a:buNone/>
            </a:pPr>
            <a:r>
              <a:rPr lang="en" sz="1900"/>
              <a:t>Round 3: </a:t>
            </a:r>
            <a:r>
              <a:rPr b="1" lang="en" sz="1900"/>
              <a:t>Technical Interview</a:t>
            </a:r>
            <a:endParaRPr b="1" sz="1900"/>
          </a:p>
          <a:p>
            <a:pPr indent="0" lvl="0" marL="0" rtl="0" algn="l">
              <a:spcBef>
                <a:spcPts val="1200"/>
              </a:spcBef>
              <a:spcAft>
                <a:spcPts val="0"/>
              </a:spcAft>
              <a:buNone/>
            </a:pPr>
            <a:r>
              <a:rPr lang="en" sz="1900"/>
              <a:t>Round 4 : </a:t>
            </a:r>
            <a:r>
              <a:rPr b="1" lang="en" sz="1900"/>
              <a:t>Partner (HR) Round</a:t>
            </a:r>
            <a:endParaRPr b="1" sz="19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3214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1.Aptitude Test</a:t>
            </a:r>
            <a:endParaRPr b="1" sz="3000"/>
          </a:p>
          <a:p>
            <a:pPr indent="0" lvl="0" marL="0" rtl="0" algn="ctr">
              <a:spcBef>
                <a:spcPts val="0"/>
              </a:spcBef>
              <a:spcAft>
                <a:spcPts val="0"/>
              </a:spcAft>
              <a:buNone/>
            </a:pPr>
            <a:r>
              <a:t/>
            </a:r>
            <a:endParaRPr b="1" sz="3000"/>
          </a:p>
          <a:p>
            <a:pPr indent="0" lvl="0" marL="0" rtl="0" algn="ctr">
              <a:spcBef>
                <a:spcPts val="0"/>
              </a:spcBef>
              <a:spcAft>
                <a:spcPts val="0"/>
              </a:spcAft>
              <a:buNone/>
            </a:pPr>
            <a:r>
              <a:t/>
            </a:r>
            <a:endParaRPr b="1" sz="3000"/>
          </a:p>
        </p:txBody>
      </p:sp>
      <p:sp>
        <p:nvSpPr>
          <p:cNvPr id="86" name="Google Shape;86;p17"/>
          <p:cNvSpPr txBox="1"/>
          <p:nvPr>
            <p:ph idx="1" type="body"/>
          </p:nvPr>
        </p:nvSpPr>
        <p:spPr>
          <a:xfrm>
            <a:off x="311700" y="1041925"/>
            <a:ext cx="8520600" cy="3416400"/>
          </a:xfrm>
          <a:prstGeom prst="rect">
            <a:avLst/>
          </a:prstGeom>
        </p:spPr>
        <p:txBody>
          <a:bodyPr anchorCtr="0" anchor="t" bIns="91425" lIns="91425" spcFirstLastPara="1" rIns="91425" wrap="square" tIns="91425">
            <a:noAutofit/>
          </a:bodyPr>
          <a:lstStyle/>
          <a:p>
            <a:pPr indent="-317500" lvl="0" marL="457200" rtl="0" algn="l">
              <a:lnSpc>
                <a:spcPct val="105000"/>
              </a:lnSpc>
              <a:spcBef>
                <a:spcPts val="0"/>
              </a:spcBef>
              <a:spcAft>
                <a:spcPts val="0"/>
              </a:spcAft>
              <a:buSzPts val="1400"/>
              <a:buChar char="➢"/>
            </a:pPr>
            <a:r>
              <a:rPr b="1" lang="en" sz="1400"/>
              <a:t>AMCAT </a:t>
            </a:r>
            <a:r>
              <a:rPr lang="en" sz="1400"/>
              <a:t>platform is equipped with a camera and microphone </a:t>
            </a:r>
            <a:endParaRPr sz="1400"/>
          </a:p>
          <a:p>
            <a:pPr indent="-317500" lvl="0" marL="457200" rtl="0" algn="l">
              <a:lnSpc>
                <a:spcPct val="105000"/>
              </a:lnSpc>
              <a:spcBef>
                <a:spcPts val="1000"/>
              </a:spcBef>
              <a:spcAft>
                <a:spcPts val="0"/>
              </a:spcAft>
              <a:buSzPts val="1400"/>
              <a:buChar char="➢"/>
            </a:pPr>
            <a:r>
              <a:rPr lang="en" sz="1400"/>
              <a:t>Divided into three sections, namely </a:t>
            </a:r>
            <a:r>
              <a:rPr b="1" lang="en" sz="1400"/>
              <a:t>verbal, logical, and quantitative.</a:t>
            </a:r>
            <a:r>
              <a:rPr lang="en" sz="1400"/>
              <a:t> </a:t>
            </a:r>
            <a:endParaRPr sz="1400"/>
          </a:p>
          <a:p>
            <a:pPr indent="-317500" lvl="0" marL="457200" rtl="0" algn="l">
              <a:lnSpc>
                <a:spcPct val="105000"/>
              </a:lnSpc>
              <a:spcBef>
                <a:spcPts val="1000"/>
              </a:spcBef>
              <a:spcAft>
                <a:spcPts val="0"/>
              </a:spcAft>
              <a:buSzPts val="1400"/>
              <a:buChar char="➢"/>
            </a:pPr>
            <a:r>
              <a:rPr lang="en" sz="1400"/>
              <a:t>Total of 75 questions, with </a:t>
            </a:r>
            <a:r>
              <a:rPr b="1" lang="en" sz="1400"/>
              <a:t>25 questions in each section.</a:t>
            </a:r>
            <a:r>
              <a:rPr lang="en" sz="1400"/>
              <a:t> </a:t>
            </a:r>
            <a:endParaRPr sz="1400"/>
          </a:p>
          <a:p>
            <a:pPr indent="-317500" lvl="0" marL="457200" rtl="0" algn="l">
              <a:lnSpc>
                <a:spcPct val="105000"/>
              </a:lnSpc>
              <a:spcBef>
                <a:spcPts val="1000"/>
              </a:spcBef>
              <a:spcAft>
                <a:spcPts val="0"/>
              </a:spcAft>
              <a:buSzPts val="1400"/>
              <a:buChar char="➢"/>
            </a:pPr>
            <a:r>
              <a:rPr lang="en" sz="1400"/>
              <a:t>Test duration is </a:t>
            </a:r>
            <a:r>
              <a:rPr b="1" lang="en" sz="1400"/>
              <a:t>90 minutes</a:t>
            </a:r>
            <a:r>
              <a:rPr lang="en" sz="1400"/>
              <a:t>, and it follows a progressive format where the answer to a previous question cannot be changed. </a:t>
            </a:r>
            <a:endParaRPr sz="1400"/>
          </a:p>
          <a:p>
            <a:pPr indent="-317500" lvl="0" marL="457200" rtl="0" algn="l">
              <a:lnSpc>
                <a:spcPct val="105000"/>
              </a:lnSpc>
              <a:spcBef>
                <a:spcPts val="1000"/>
              </a:spcBef>
              <a:spcAft>
                <a:spcPts val="0"/>
              </a:spcAft>
              <a:buSzPts val="1400"/>
              <a:buChar char="➢"/>
            </a:pPr>
            <a:r>
              <a:rPr lang="en" sz="1400"/>
              <a:t>Does not include coding questions and has no negative marking. </a:t>
            </a:r>
            <a:endParaRPr sz="1400"/>
          </a:p>
          <a:p>
            <a:pPr indent="-317500" lvl="0" marL="457200" rtl="0" algn="l">
              <a:lnSpc>
                <a:spcPct val="105000"/>
              </a:lnSpc>
              <a:spcBef>
                <a:spcPts val="1000"/>
              </a:spcBef>
              <a:spcAft>
                <a:spcPts val="0"/>
              </a:spcAft>
              <a:buSzPts val="1400"/>
              <a:buChar char="➢"/>
            </a:pPr>
            <a:r>
              <a:rPr lang="en" sz="1400"/>
              <a:t>Preparation resources - </a:t>
            </a:r>
            <a:r>
              <a:rPr b="1" lang="en" sz="1400"/>
              <a:t>R.S. Aggarwal and IndiaBix. </a:t>
            </a:r>
            <a:endParaRPr b="1" sz="1400"/>
          </a:p>
          <a:p>
            <a:pPr indent="-317500" lvl="0" marL="457200" rtl="0" algn="l">
              <a:lnSpc>
                <a:spcPct val="105000"/>
              </a:lnSpc>
              <a:spcBef>
                <a:spcPts val="1000"/>
              </a:spcBef>
              <a:spcAft>
                <a:spcPts val="0"/>
              </a:spcAft>
              <a:buSzPts val="1400"/>
              <a:buChar char="➢"/>
            </a:pPr>
            <a:r>
              <a:rPr lang="en" sz="1400"/>
              <a:t>It is advisable to keep track of time while solving questions. </a:t>
            </a:r>
            <a:endParaRPr sz="1400"/>
          </a:p>
          <a:p>
            <a:pPr indent="-317500" lvl="0" marL="457200" rtl="0" algn="l">
              <a:lnSpc>
                <a:spcPct val="105000"/>
              </a:lnSpc>
              <a:spcBef>
                <a:spcPts val="1000"/>
              </a:spcBef>
              <a:spcAft>
                <a:spcPts val="0"/>
              </a:spcAft>
              <a:buSzPts val="1400"/>
              <a:buChar char="➢"/>
            </a:pPr>
            <a:r>
              <a:rPr lang="en" sz="1400"/>
              <a:t>The test is of easy to medium difficulty level and covers topics such as speed and time, profit and loss, percentage, trains, directions, and basic verbal questions related to vocabulary and grammar. </a:t>
            </a:r>
            <a:endParaRPr sz="1400"/>
          </a:p>
          <a:p>
            <a:pPr indent="-317500" lvl="0" marL="457200" rtl="0" algn="l">
              <a:lnSpc>
                <a:spcPct val="105000"/>
              </a:lnSpc>
              <a:spcBef>
                <a:spcPts val="1000"/>
              </a:spcBef>
              <a:spcAft>
                <a:spcPts val="1000"/>
              </a:spcAft>
              <a:buSzPts val="1400"/>
              <a:buChar char="➢"/>
            </a:pPr>
            <a:r>
              <a:rPr b="1" lang="en" sz="1400"/>
              <a:t>17 students </a:t>
            </a:r>
            <a:r>
              <a:rPr lang="en" sz="1400"/>
              <a:t>had been shortlisted for the</a:t>
            </a:r>
            <a:r>
              <a:rPr b="1" lang="en" sz="1400"/>
              <a:t> GD..</a:t>
            </a:r>
            <a:r>
              <a:rPr lang="en" sz="1400"/>
              <a:t>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2.Group Discussion</a:t>
            </a:r>
            <a:endParaRPr/>
          </a:p>
        </p:txBody>
      </p:sp>
      <p:sp>
        <p:nvSpPr>
          <p:cNvPr id="92" name="Google Shape;92;p18"/>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lnSpcReduction="10000"/>
          </a:bodyPr>
          <a:lstStyle/>
          <a:p>
            <a:pPr indent="-361950" lvl="0" marL="457200" rtl="0" algn="l">
              <a:spcBef>
                <a:spcPts val="0"/>
              </a:spcBef>
              <a:spcAft>
                <a:spcPts val="0"/>
              </a:spcAft>
              <a:buSzPts val="2100"/>
              <a:buChar char="➢"/>
            </a:pPr>
            <a:r>
              <a:rPr lang="en"/>
              <a:t>Lasted for about 30 mins</a:t>
            </a:r>
            <a:endParaRPr/>
          </a:p>
          <a:p>
            <a:pPr indent="-361950" lvl="0" marL="457200" rtl="0" algn="l">
              <a:spcBef>
                <a:spcPts val="0"/>
              </a:spcBef>
              <a:spcAft>
                <a:spcPts val="0"/>
              </a:spcAft>
              <a:buSzPts val="2100"/>
              <a:buChar char="➢"/>
            </a:pPr>
            <a:r>
              <a:rPr lang="en"/>
              <a:t>Conducted in two panels</a:t>
            </a:r>
            <a:endParaRPr/>
          </a:p>
          <a:p>
            <a:pPr indent="-361950" lvl="0" marL="457200" rtl="0" algn="l">
              <a:spcBef>
                <a:spcPts val="0"/>
              </a:spcBef>
              <a:spcAft>
                <a:spcPts val="0"/>
              </a:spcAft>
              <a:buSzPts val="2100"/>
              <a:buChar char="➢"/>
            </a:pPr>
            <a:r>
              <a:rPr lang="en"/>
              <a:t>10 students shortlisted for technical round.</a:t>
            </a:r>
            <a:endParaRPr/>
          </a:p>
        </p:txBody>
      </p:sp>
      <p:sp>
        <p:nvSpPr>
          <p:cNvPr id="93" name="Google Shape;93;p18"/>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b="1" lang="en" sz="2108" u="sng"/>
              <a:t>Case study - Solutions and services to Automobile industry</a:t>
            </a:r>
            <a:endParaRPr b="1" sz="2108" u="sng"/>
          </a:p>
          <a:p>
            <a:pPr indent="0" lvl="0" marL="0" rtl="0" algn="l">
              <a:spcBef>
                <a:spcPts val="1200"/>
              </a:spcBef>
              <a:spcAft>
                <a:spcPts val="0"/>
              </a:spcAft>
              <a:buNone/>
            </a:pPr>
            <a:r>
              <a:rPr b="1" lang="en" sz="2251"/>
              <a:t>Points to remember </a:t>
            </a:r>
            <a:endParaRPr b="1" sz="2251"/>
          </a:p>
          <a:p>
            <a:pPr indent="-325755" lvl="0" marL="457200" rtl="0" algn="l">
              <a:spcBef>
                <a:spcPts val="1200"/>
              </a:spcBef>
              <a:spcAft>
                <a:spcPts val="0"/>
              </a:spcAft>
              <a:buSzPct val="100000"/>
              <a:buChar char="➢"/>
            </a:pPr>
            <a:r>
              <a:rPr b="1" lang="en"/>
              <a:t>Try to begin or end the GD </a:t>
            </a:r>
            <a:r>
              <a:rPr lang="en"/>
              <a:t>with your points which helps you gain plus points and panelist </a:t>
            </a:r>
            <a:r>
              <a:rPr lang="en"/>
              <a:t>remembers</a:t>
            </a:r>
            <a:r>
              <a:rPr lang="en"/>
              <a:t> you .</a:t>
            </a:r>
            <a:endParaRPr/>
          </a:p>
          <a:p>
            <a:pPr indent="-325755" lvl="0" marL="457200" rtl="0" algn="l">
              <a:spcBef>
                <a:spcPts val="0"/>
              </a:spcBef>
              <a:spcAft>
                <a:spcPts val="0"/>
              </a:spcAft>
              <a:buSzPct val="100000"/>
              <a:buChar char="➢"/>
            </a:pPr>
            <a:r>
              <a:rPr b="1" lang="en"/>
              <a:t>Don’t interrupt anyone</a:t>
            </a:r>
            <a:r>
              <a:rPr lang="en"/>
              <a:t> , can result in minus points.</a:t>
            </a:r>
            <a:endParaRPr/>
          </a:p>
          <a:p>
            <a:pPr indent="-325755" lvl="0" marL="457200" rtl="0" algn="l">
              <a:spcBef>
                <a:spcPts val="0"/>
              </a:spcBef>
              <a:spcAft>
                <a:spcPts val="0"/>
              </a:spcAft>
              <a:buSzPct val="100000"/>
              <a:buChar char="➢"/>
            </a:pPr>
            <a:r>
              <a:rPr b="1" lang="en"/>
              <a:t>Use valid and descriptive points which can be elaborated </a:t>
            </a:r>
            <a:r>
              <a:rPr lang="en"/>
              <a:t>by others as well, respect others opinions too.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3.Technical Interview</a:t>
            </a:r>
            <a:endParaRPr/>
          </a:p>
        </p:txBody>
      </p:sp>
      <p:sp>
        <p:nvSpPr>
          <p:cNvPr id="99" name="Google Shape;99;p1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361950" lvl="0" marL="457200" rtl="0" algn="ctr">
              <a:spcBef>
                <a:spcPts val="0"/>
              </a:spcBef>
              <a:spcAft>
                <a:spcPts val="0"/>
              </a:spcAft>
              <a:buSzPts val="2100"/>
              <a:buChar char="➢"/>
            </a:pPr>
            <a:r>
              <a:rPr lang="en"/>
              <a:t>Lasted for about 45 mins</a:t>
            </a:r>
            <a:endParaRPr/>
          </a:p>
          <a:p>
            <a:pPr indent="-361950" lvl="0" marL="457200" rtl="0" algn="ctr">
              <a:spcBef>
                <a:spcPts val="0"/>
              </a:spcBef>
              <a:spcAft>
                <a:spcPts val="0"/>
              </a:spcAft>
              <a:buSzPts val="2100"/>
              <a:buChar char="➢"/>
            </a:pPr>
            <a:r>
              <a:rPr lang="en"/>
              <a:t>7 students shortlisted for final round</a:t>
            </a:r>
            <a:endParaRPr/>
          </a:p>
        </p:txBody>
      </p:sp>
      <p:sp>
        <p:nvSpPr>
          <p:cNvPr id="100" name="Google Shape;100;p19"/>
          <p:cNvSpPr txBox="1"/>
          <p:nvPr>
            <p:ph idx="2" type="body"/>
          </p:nvPr>
        </p:nvSpPr>
        <p:spPr>
          <a:xfrm>
            <a:off x="4986400" y="520950"/>
            <a:ext cx="3837000" cy="3695100"/>
          </a:xfrm>
          <a:prstGeom prst="rect">
            <a:avLst/>
          </a:prstGeom>
        </p:spPr>
        <p:txBody>
          <a:bodyPr anchorCtr="0" anchor="ctr" bIns="91425" lIns="91425" spcFirstLastPara="1" rIns="91425" wrap="square" tIns="91425">
            <a:normAutofit fontScale="25000" lnSpcReduction="20000"/>
          </a:bodyPr>
          <a:lstStyle/>
          <a:p>
            <a:pPr indent="-322552" lvl="0" marL="457200" rtl="0" algn="l">
              <a:lnSpc>
                <a:spcPct val="120000"/>
              </a:lnSpc>
              <a:spcBef>
                <a:spcPts val="0"/>
              </a:spcBef>
              <a:spcAft>
                <a:spcPts val="0"/>
              </a:spcAft>
              <a:buSzPct val="100000"/>
              <a:buChar char="➢"/>
            </a:pPr>
            <a:r>
              <a:rPr lang="en" sz="5918"/>
              <a:t>Introduce yourself</a:t>
            </a:r>
            <a:endParaRPr sz="5918"/>
          </a:p>
          <a:p>
            <a:pPr indent="0" lvl="0" marL="457200" rtl="0" algn="l">
              <a:lnSpc>
                <a:spcPct val="120000"/>
              </a:lnSpc>
              <a:spcBef>
                <a:spcPts val="0"/>
              </a:spcBef>
              <a:spcAft>
                <a:spcPts val="0"/>
              </a:spcAft>
              <a:buNone/>
            </a:pPr>
            <a:r>
              <a:rPr lang="en" sz="5918"/>
              <a:t>(technically)</a:t>
            </a:r>
            <a:endParaRPr sz="5918"/>
          </a:p>
          <a:p>
            <a:pPr indent="-322552" lvl="0" marL="457200" rtl="0" algn="l">
              <a:lnSpc>
                <a:spcPct val="120000"/>
              </a:lnSpc>
              <a:spcBef>
                <a:spcPts val="0"/>
              </a:spcBef>
              <a:spcAft>
                <a:spcPts val="0"/>
              </a:spcAft>
              <a:buSzPct val="100000"/>
              <a:buChar char="➢"/>
            </a:pPr>
            <a:r>
              <a:rPr lang="en" sz="5918"/>
              <a:t>Was asked to Elaborate on internships and favourite domain of interest</a:t>
            </a:r>
            <a:endParaRPr sz="5918"/>
          </a:p>
          <a:p>
            <a:pPr indent="-322552" lvl="0" marL="457200" rtl="0" algn="l">
              <a:lnSpc>
                <a:spcPct val="120000"/>
              </a:lnSpc>
              <a:spcBef>
                <a:spcPts val="0"/>
              </a:spcBef>
              <a:spcAft>
                <a:spcPts val="0"/>
              </a:spcAft>
              <a:buSzPct val="100000"/>
              <a:buChar char="➢"/>
            </a:pPr>
            <a:r>
              <a:rPr lang="en" sz="5918"/>
              <a:t>How would that domain go along with job profile?</a:t>
            </a:r>
            <a:endParaRPr sz="5918"/>
          </a:p>
          <a:p>
            <a:pPr indent="-322552" lvl="0" marL="457200" rtl="0" algn="l">
              <a:lnSpc>
                <a:spcPct val="120000"/>
              </a:lnSpc>
              <a:spcBef>
                <a:spcPts val="0"/>
              </a:spcBef>
              <a:spcAft>
                <a:spcPts val="0"/>
              </a:spcAft>
              <a:buSzPct val="100000"/>
              <a:buChar char="➢"/>
            </a:pPr>
            <a:r>
              <a:rPr lang="en" sz="5918"/>
              <a:t>What all technologies and framework do you know?</a:t>
            </a:r>
            <a:endParaRPr sz="5918"/>
          </a:p>
          <a:p>
            <a:pPr indent="-322552" lvl="0" marL="457200" rtl="0" algn="l">
              <a:lnSpc>
                <a:spcPct val="120000"/>
              </a:lnSpc>
              <a:spcBef>
                <a:spcPts val="0"/>
              </a:spcBef>
              <a:spcAft>
                <a:spcPts val="0"/>
              </a:spcAft>
              <a:buSzPct val="100000"/>
              <a:buChar char="➢"/>
            </a:pPr>
            <a:r>
              <a:rPr lang="en" sz="5918"/>
              <a:t>Where and how you implemented the same?</a:t>
            </a:r>
            <a:endParaRPr sz="5918"/>
          </a:p>
          <a:p>
            <a:pPr indent="-322552" lvl="0" marL="457200" rtl="0" algn="l">
              <a:lnSpc>
                <a:spcPct val="120000"/>
              </a:lnSpc>
              <a:spcBef>
                <a:spcPts val="0"/>
              </a:spcBef>
              <a:spcAft>
                <a:spcPts val="0"/>
              </a:spcAft>
              <a:buSzPct val="100000"/>
              <a:buChar char="➢"/>
            </a:pPr>
            <a:r>
              <a:rPr lang="en" sz="5918"/>
              <a:t>What are different platforms in cloud computing with an example for each?</a:t>
            </a:r>
            <a:endParaRPr sz="5918"/>
          </a:p>
          <a:p>
            <a:pPr indent="-322552" lvl="0" marL="457200" rtl="0" algn="l">
              <a:lnSpc>
                <a:spcPct val="120000"/>
              </a:lnSpc>
              <a:spcBef>
                <a:spcPts val="0"/>
              </a:spcBef>
              <a:spcAft>
                <a:spcPts val="0"/>
              </a:spcAft>
              <a:buSzPct val="100000"/>
              <a:buChar char="➢"/>
            </a:pPr>
            <a:r>
              <a:rPr lang="en" sz="5918"/>
              <a:t>What is cloud migration?</a:t>
            </a:r>
            <a:endParaRPr sz="5918"/>
          </a:p>
          <a:p>
            <a:pPr indent="-322552" lvl="0" marL="457200" rtl="0" algn="l">
              <a:lnSpc>
                <a:spcPct val="120000"/>
              </a:lnSpc>
              <a:spcBef>
                <a:spcPts val="0"/>
              </a:spcBef>
              <a:spcAft>
                <a:spcPts val="0"/>
              </a:spcAft>
              <a:buSzPct val="100000"/>
              <a:buChar char="➢"/>
            </a:pPr>
            <a:r>
              <a:rPr lang="en" sz="5918"/>
              <a:t>What are different types of cloud?</a:t>
            </a:r>
            <a:endParaRPr sz="5918"/>
          </a:p>
          <a:p>
            <a:pPr indent="-322552" lvl="0" marL="457200" rtl="0" algn="l">
              <a:lnSpc>
                <a:spcPct val="120000"/>
              </a:lnSpc>
              <a:spcBef>
                <a:spcPts val="0"/>
              </a:spcBef>
              <a:spcAft>
                <a:spcPts val="0"/>
              </a:spcAft>
              <a:buSzPct val="100000"/>
              <a:buChar char="➢"/>
            </a:pPr>
            <a:r>
              <a:rPr lang="en" sz="5918"/>
              <a:t>Elaborate on any one project as mentioned in the resume</a:t>
            </a:r>
            <a:endParaRPr sz="5918"/>
          </a:p>
          <a:p>
            <a:pPr indent="-322552" lvl="0" marL="457200" rtl="0" algn="l">
              <a:lnSpc>
                <a:spcPct val="120000"/>
              </a:lnSpc>
              <a:spcBef>
                <a:spcPts val="0"/>
              </a:spcBef>
              <a:spcAft>
                <a:spcPts val="0"/>
              </a:spcAft>
              <a:buSzPct val="100000"/>
              <a:buChar char="➢"/>
            </a:pPr>
            <a:r>
              <a:rPr lang="en" sz="5918"/>
              <a:t>Atleast ask one question in the end to interviewer . Don’t bluff and be genuine.</a:t>
            </a:r>
            <a:endParaRPr sz="5918"/>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4.Partner Round</a:t>
            </a:r>
            <a:endParaRPr b="1"/>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Introduction (Personality focused)</a:t>
            </a:r>
            <a:endParaRPr sz="1900"/>
          </a:p>
          <a:p>
            <a:pPr indent="-349250" lvl="0" marL="457200" rtl="0" algn="l">
              <a:spcBef>
                <a:spcPts val="0"/>
              </a:spcBef>
              <a:spcAft>
                <a:spcPts val="0"/>
              </a:spcAft>
              <a:buSzPts val="1900"/>
              <a:buChar char="➢"/>
            </a:pPr>
            <a:r>
              <a:rPr lang="en" sz="1900"/>
              <a:t>Hobby related question</a:t>
            </a:r>
            <a:endParaRPr sz="1900"/>
          </a:p>
          <a:p>
            <a:pPr indent="-349250" lvl="0" marL="457200" rtl="0" algn="l">
              <a:spcBef>
                <a:spcPts val="0"/>
              </a:spcBef>
              <a:spcAft>
                <a:spcPts val="0"/>
              </a:spcAft>
              <a:buSzPts val="1900"/>
              <a:buChar char="➢"/>
            </a:pPr>
            <a:r>
              <a:rPr lang="en" sz="1900"/>
              <a:t>Why you want to join Deloitte India?</a:t>
            </a:r>
            <a:endParaRPr sz="1900"/>
          </a:p>
          <a:p>
            <a:pPr indent="-349250" lvl="0" marL="457200" rtl="0" algn="l">
              <a:spcBef>
                <a:spcPts val="0"/>
              </a:spcBef>
              <a:spcAft>
                <a:spcPts val="0"/>
              </a:spcAft>
              <a:buSzPts val="1900"/>
              <a:buChar char="➢"/>
            </a:pPr>
            <a:r>
              <a:rPr lang="en" sz="1900"/>
              <a:t>Few questions on Time Management and soft skills.</a:t>
            </a:r>
            <a:endParaRPr sz="1900"/>
          </a:p>
          <a:p>
            <a:pPr indent="-349250" lvl="0" marL="457200" rtl="0" algn="l">
              <a:spcBef>
                <a:spcPts val="0"/>
              </a:spcBef>
              <a:spcAft>
                <a:spcPts val="0"/>
              </a:spcAft>
              <a:buSzPts val="1900"/>
              <a:buChar char="➢"/>
            </a:pPr>
            <a:r>
              <a:rPr lang="en" sz="1900"/>
              <a:t>Checked my knowledge regarding the company.</a:t>
            </a:r>
            <a:endParaRPr sz="1900"/>
          </a:p>
          <a:p>
            <a:pPr indent="-349250" lvl="0" marL="457200" rtl="0" algn="l">
              <a:spcBef>
                <a:spcPts val="0"/>
              </a:spcBef>
              <a:spcAft>
                <a:spcPts val="0"/>
              </a:spcAft>
              <a:buSzPts val="1900"/>
              <a:buChar char="➢"/>
            </a:pPr>
            <a:r>
              <a:rPr lang="en" sz="1900"/>
              <a:t>It was more than a just chill conversation rather than an interview</a:t>
            </a:r>
            <a:endParaRPr sz="1900"/>
          </a:p>
          <a:p>
            <a:pPr indent="-349250" lvl="0" marL="457200" rtl="0" algn="l">
              <a:spcBef>
                <a:spcPts val="0"/>
              </a:spcBef>
              <a:spcAft>
                <a:spcPts val="0"/>
              </a:spcAft>
              <a:buSzPts val="1900"/>
              <a:buChar char="➢"/>
            </a:pPr>
            <a:r>
              <a:rPr lang="en" sz="1900"/>
              <a:t>5 students placed. </a:t>
            </a:r>
            <a:endParaRPr sz="1900"/>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35175" y="1591500"/>
            <a:ext cx="4045200" cy="196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i="1" lang="en" sz="6000">
                <a:latin typeface="Barlow"/>
                <a:ea typeface="Barlow"/>
                <a:cs typeface="Barlow"/>
                <a:sym typeface="Barlow"/>
              </a:rPr>
              <a:t>THANK </a:t>
            </a:r>
            <a:endParaRPr b="1" i="1" sz="6000">
              <a:latin typeface="Barlow"/>
              <a:ea typeface="Barlow"/>
              <a:cs typeface="Barlow"/>
              <a:sym typeface="Barlow"/>
            </a:endParaRPr>
          </a:p>
          <a:p>
            <a:pPr indent="0" lvl="0" marL="0" rtl="0" algn="ctr">
              <a:spcBef>
                <a:spcPts val="0"/>
              </a:spcBef>
              <a:spcAft>
                <a:spcPts val="0"/>
              </a:spcAft>
              <a:buNone/>
            </a:pPr>
            <a:r>
              <a:rPr b="1" i="1" lang="en" sz="6000">
                <a:latin typeface="Barlow"/>
                <a:ea typeface="Barlow"/>
                <a:cs typeface="Barlow"/>
                <a:sym typeface="Barlow"/>
              </a:rPr>
              <a:t>YOU!!</a:t>
            </a:r>
            <a:endParaRPr b="1" i="1" sz="6000">
              <a:latin typeface="Barlow"/>
              <a:ea typeface="Barlow"/>
              <a:cs typeface="Barlow"/>
              <a:sym typeface="Barlow"/>
            </a:endParaRPr>
          </a:p>
        </p:txBody>
      </p:sp>
      <p:sp>
        <p:nvSpPr>
          <p:cNvPr id="112" name="Google Shape;112;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000"/>
              <a:t>Contact Details:</a:t>
            </a:r>
            <a:endParaRPr b="1" sz="2000"/>
          </a:p>
          <a:p>
            <a:pPr indent="0" lvl="0" marL="0" rtl="0" algn="l">
              <a:spcBef>
                <a:spcPts val="1200"/>
              </a:spcBef>
              <a:spcAft>
                <a:spcPts val="0"/>
              </a:spcAft>
              <a:buNone/>
            </a:pPr>
            <a:r>
              <a:rPr b="1" lang="en"/>
              <a:t>Whatsapp - 8169123439</a:t>
            </a:r>
            <a:endParaRPr b="1"/>
          </a:p>
          <a:p>
            <a:pPr indent="0" lvl="0" marL="0" rtl="0" algn="l">
              <a:spcBef>
                <a:spcPts val="1200"/>
              </a:spcBef>
              <a:spcAft>
                <a:spcPts val="0"/>
              </a:spcAft>
              <a:buNone/>
            </a:pPr>
            <a:r>
              <a:rPr b="1" lang="en"/>
              <a:t>Gmail - 2019shaikh.insha@ves.ac.in</a:t>
            </a:r>
            <a:endParaRPr b="1"/>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