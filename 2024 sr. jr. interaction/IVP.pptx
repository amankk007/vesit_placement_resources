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Advent Pro SemiBold"/>
      <p:regular r:id="rId21"/>
      <p:bold r:id="rId22"/>
      <p:italic r:id="rId23"/>
      <p:boldItalic r:id="rId24"/>
    </p:embeddedFont>
    <p:embeddedFont>
      <p:font typeface="Fira Sans Extra Condensed Medium"/>
      <p:regular r:id="rId25"/>
      <p:bold r:id="rId26"/>
      <p:italic r:id="rId27"/>
      <p:boldItalic r:id="rId28"/>
    </p:embeddedFont>
    <p:embeddedFont>
      <p:font typeface="Fira Sans Condensed Medium"/>
      <p:regular r:id="rId29"/>
      <p:bold r:id="rId30"/>
      <p:italic r:id="rId31"/>
      <p:boldItalic r:id="rId32"/>
    </p:embeddedFont>
    <p:embeddedFont>
      <p:font typeface="Maven Pro"/>
      <p:regular r:id="rId33"/>
      <p:bold r:id="rId34"/>
    </p:embeddedFont>
    <p:embeddedFont>
      <p:font typeface="Share Tech"/>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6" roundtripDataSignature="AMtx7mhzINs8JUY0pDIiNfuYHLlg1/EX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dventProSemiBold-bold.fntdata"/><Relationship Id="rId21" Type="http://schemas.openxmlformats.org/officeDocument/2006/relationships/font" Target="fonts/AdventProSemiBold-regular.fntdata"/><Relationship Id="rId24" Type="http://schemas.openxmlformats.org/officeDocument/2006/relationships/font" Target="fonts/AdventProSemiBold-boldItalic.fntdata"/><Relationship Id="rId23" Type="http://schemas.openxmlformats.org/officeDocument/2006/relationships/font" Target="fonts/AdventPro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raSansExtraCondensedMedium-bold.fntdata"/><Relationship Id="rId25" Type="http://schemas.openxmlformats.org/officeDocument/2006/relationships/font" Target="fonts/FiraSansExtraCondensedMedium-regular.fntdata"/><Relationship Id="rId28" Type="http://schemas.openxmlformats.org/officeDocument/2006/relationships/font" Target="fonts/FiraSansExtraCondensedMedium-boldItalic.fntdata"/><Relationship Id="rId27" Type="http://schemas.openxmlformats.org/officeDocument/2006/relationships/font" Target="fonts/FiraSansExtraCondensed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SansCondensed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CondensedMedium-italic.fntdata"/><Relationship Id="rId30" Type="http://schemas.openxmlformats.org/officeDocument/2006/relationships/font" Target="fonts/FiraSansCondensedMedium-bold.fntdata"/><Relationship Id="rId11" Type="http://schemas.openxmlformats.org/officeDocument/2006/relationships/slide" Target="slides/slide6.xml"/><Relationship Id="rId33" Type="http://schemas.openxmlformats.org/officeDocument/2006/relationships/font" Target="fonts/MavenPro-regular.fntdata"/><Relationship Id="rId10" Type="http://schemas.openxmlformats.org/officeDocument/2006/relationships/slide" Target="slides/slide5.xml"/><Relationship Id="rId32" Type="http://schemas.openxmlformats.org/officeDocument/2006/relationships/font" Target="fonts/FiraSansCondensedMedium-boldItalic.fntdata"/><Relationship Id="rId13" Type="http://schemas.openxmlformats.org/officeDocument/2006/relationships/slide" Target="slides/slide8.xml"/><Relationship Id="rId35" Type="http://schemas.openxmlformats.org/officeDocument/2006/relationships/font" Target="fonts/ShareTech-regular.fntdata"/><Relationship Id="rId12" Type="http://schemas.openxmlformats.org/officeDocument/2006/relationships/slide" Target="slides/slide7.xml"/><Relationship Id="rId34" Type="http://schemas.openxmlformats.org/officeDocument/2006/relationships/font" Target="fonts/MavenPro-bold.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b3e889b9f3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g2b3e889b9f3_2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16"/>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16"/>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16"/>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6"/>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6"/>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6"/>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6"/>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6"/>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16"/>
          <p:cNvGrpSpPr/>
          <p:nvPr/>
        </p:nvGrpSpPr>
        <p:grpSpPr>
          <a:xfrm>
            <a:off x="8263682" y="-434366"/>
            <a:ext cx="188886" cy="1181532"/>
            <a:chOff x="2877432" y="975334"/>
            <a:chExt cx="188886" cy="1181532"/>
          </a:xfrm>
        </p:grpSpPr>
        <p:sp>
          <p:nvSpPr>
            <p:cNvPr id="18" name="Google Shape;18;p1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16"/>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16"/>
          <p:cNvGrpSpPr/>
          <p:nvPr/>
        </p:nvGrpSpPr>
        <p:grpSpPr>
          <a:xfrm>
            <a:off x="3090746" y="-533657"/>
            <a:ext cx="98059" cy="1147595"/>
            <a:chOff x="3347921" y="16006"/>
            <a:chExt cx="98059" cy="1147595"/>
          </a:xfrm>
        </p:grpSpPr>
        <p:sp>
          <p:nvSpPr>
            <p:cNvPr id="23" name="Google Shape;23;p16"/>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6"/>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16"/>
          <p:cNvGrpSpPr/>
          <p:nvPr/>
        </p:nvGrpSpPr>
        <p:grpSpPr>
          <a:xfrm>
            <a:off x="4892771" y="-340112"/>
            <a:ext cx="121172" cy="760495"/>
            <a:chOff x="5245196" y="3136513"/>
            <a:chExt cx="121172" cy="760495"/>
          </a:xfrm>
        </p:grpSpPr>
        <p:sp>
          <p:nvSpPr>
            <p:cNvPr id="26" name="Google Shape;26;p1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16"/>
          <p:cNvGrpSpPr/>
          <p:nvPr/>
        </p:nvGrpSpPr>
        <p:grpSpPr>
          <a:xfrm>
            <a:off x="250617" y="2402301"/>
            <a:ext cx="188650" cy="2468355"/>
            <a:chOff x="250617" y="2402301"/>
            <a:chExt cx="188650" cy="2468355"/>
          </a:xfrm>
        </p:grpSpPr>
        <p:sp>
          <p:nvSpPr>
            <p:cNvPr id="29" name="Google Shape;29;p16"/>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6"/>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6"/>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6"/>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16"/>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6"/>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16"/>
          <p:cNvGrpSpPr/>
          <p:nvPr/>
        </p:nvGrpSpPr>
        <p:grpSpPr>
          <a:xfrm>
            <a:off x="2038689" y="173907"/>
            <a:ext cx="57599" cy="831799"/>
            <a:chOff x="2038689" y="173907"/>
            <a:chExt cx="57599" cy="831799"/>
          </a:xfrm>
        </p:grpSpPr>
        <p:sp>
          <p:nvSpPr>
            <p:cNvPr id="36" name="Google Shape;36;p16"/>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17"/>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0" name="Google Shape;40;p17"/>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 name="Google Shape;41;p17"/>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7"/>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7"/>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7"/>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 name="Google Shape;45;p17"/>
          <p:cNvGrpSpPr/>
          <p:nvPr/>
        </p:nvGrpSpPr>
        <p:grpSpPr>
          <a:xfrm>
            <a:off x="6626134" y="-164562"/>
            <a:ext cx="121172" cy="760495"/>
            <a:chOff x="5245196" y="3136513"/>
            <a:chExt cx="121172" cy="760495"/>
          </a:xfrm>
        </p:grpSpPr>
        <p:sp>
          <p:nvSpPr>
            <p:cNvPr id="46" name="Google Shape;46;p1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 name="Google Shape;48;p17"/>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7"/>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18"/>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 name="Google Shape;53;p18"/>
          <p:cNvGrpSpPr/>
          <p:nvPr/>
        </p:nvGrpSpPr>
        <p:grpSpPr>
          <a:xfrm>
            <a:off x="8263682" y="-434366"/>
            <a:ext cx="188886" cy="1181532"/>
            <a:chOff x="2877432" y="975334"/>
            <a:chExt cx="188886" cy="1181532"/>
          </a:xfrm>
        </p:grpSpPr>
        <p:sp>
          <p:nvSpPr>
            <p:cNvPr id="54" name="Google Shape;54;p1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 name="Google Shape;57;p18"/>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18"/>
          <p:cNvGrpSpPr/>
          <p:nvPr/>
        </p:nvGrpSpPr>
        <p:grpSpPr>
          <a:xfrm>
            <a:off x="3643898" y="-436198"/>
            <a:ext cx="133252" cy="1952377"/>
            <a:chOff x="6780548" y="337714"/>
            <a:chExt cx="133252" cy="1952377"/>
          </a:xfrm>
        </p:grpSpPr>
        <p:sp>
          <p:nvSpPr>
            <p:cNvPr id="59" name="Google Shape;59;p1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18"/>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2" name="Google Shape;62;p18"/>
          <p:cNvGrpSpPr/>
          <p:nvPr/>
        </p:nvGrpSpPr>
        <p:grpSpPr>
          <a:xfrm>
            <a:off x="8008096" y="2108910"/>
            <a:ext cx="199001" cy="2139770"/>
            <a:chOff x="8008096" y="2108910"/>
            <a:chExt cx="199001" cy="2139770"/>
          </a:xfrm>
        </p:grpSpPr>
        <p:sp>
          <p:nvSpPr>
            <p:cNvPr id="63" name="Google Shape;63;p1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 name="Google Shape;65;p18"/>
          <p:cNvGrpSpPr/>
          <p:nvPr/>
        </p:nvGrpSpPr>
        <p:grpSpPr>
          <a:xfrm>
            <a:off x="520996" y="1091548"/>
            <a:ext cx="199001" cy="2139770"/>
            <a:chOff x="8008096" y="2108910"/>
            <a:chExt cx="199001" cy="2139770"/>
          </a:xfrm>
        </p:grpSpPr>
        <p:sp>
          <p:nvSpPr>
            <p:cNvPr id="66" name="Google Shape;66;p1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8"/>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69" name="Google Shape;69;p18"/>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70" name="Google Shape;70;p18"/>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9"/>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3" name="Google Shape;73;p19"/>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74" name="Google Shape;74;p19"/>
          <p:cNvGrpSpPr/>
          <p:nvPr/>
        </p:nvGrpSpPr>
        <p:grpSpPr>
          <a:xfrm>
            <a:off x="722446" y="3412541"/>
            <a:ext cx="7699120" cy="1883463"/>
            <a:chOff x="4558950" y="838825"/>
            <a:chExt cx="2813800" cy="688350"/>
          </a:xfrm>
        </p:grpSpPr>
        <p:sp>
          <p:nvSpPr>
            <p:cNvPr id="75" name="Google Shape;75;p19"/>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9"/>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9"/>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9"/>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9"/>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9"/>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9"/>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9"/>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9"/>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9"/>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9"/>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9"/>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9"/>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9"/>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9"/>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9"/>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9"/>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9"/>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9"/>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9"/>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9"/>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9"/>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9"/>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9"/>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9"/>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9"/>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9"/>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9"/>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9"/>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9"/>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9"/>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9"/>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9"/>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9"/>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0" name="Shape 110"/>
        <p:cNvGrpSpPr/>
        <p:nvPr/>
      </p:nvGrpSpPr>
      <p:grpSpPr>
        <a:xfrm>
          <a:off x="0" y="0"/>
          <a:ext cx="0" cy="0"/>
          <a:chOff x="0" y="0"/>
          <a:chExt cx="0" cy="0"/>
        </a:xfrm>
      </p:grpSpPr>
      <p:sp>
        <p:nvSpPr>
          <p:cNvPr id="111" name="Google Shape;111;p20"/>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2" name="Google Shape;112;p20"/>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0"/>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0"/>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0"/>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8" name="Google Shape;118;p20"/>
          <p:cNvGrpSpPr/>
          <p:nvPr/>
        </p:nvGrpSpPr>
        <p:grpSpPr>
          <a:xfrm>
            <a:off x="8263682" y="-434366"/>
            <a:ext cx="188886" cy="1181532"/>
            <a:chOff x="2877432" y="975334"/>
            <a:chExt cx="188886" cy="1181532"/>
          </a:xfrm>
        </p:grpSpPr>
        <p:sp>
          <p:nvSpPr>
            <p:cNvPr id="119" name="Google Shape;119;p2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 name="Google Shape;122;p20"/>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0"/>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0"/>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5" name="Google Shape;125;p20"/>
          <p:cNvGrpSpPr/>
          <p:nvPr/>
        </p:nvGrpSpPr>
        <p:grpSpPr>
          <a:xfrm>
            <a:off x="3090746" y="-533657"/>
            <a:ext cx="98059" cy="1147595"/>
            <a:chOff x="3347921" y="16006"/>
            <a:chExt cx="98059" cy="1147595"/>
          </a:xfrm>
        </p:grpSpPr>
        <p:sp>
          <p:nvSpPr>
            <p:cNvPr id="126" name="Google Shape;126;p2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8" name="Google Shape;128;p20"/>
          <p:cNvGrpSpPr/>
          <p:nvPr/>
        </p:nvGrpSpPr>
        <p:grpSpPr>
          <a:xfrm>
            <a:off x="4892771" y="-340112"/>
            <a:ext cx="121172" cy="760495"/>
            <a:chOff x="5245196" y="3136513"/>
            <a:chExt cx="121172" cy="760495"/>
          </a:xfrm>
        </p:grpSpPr>
        <p:sp>
          <p:nvSpPr>
            <p:cNvPr id="129" name="Google Shape;129;p2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20"/>
          <p:cNvGrpSpPr/>
          <p:nvPr/>
        </p:nvGrpSpPr>
        <p:grpSpPr>
          <a:xfrm>
            <a:off x="6967836" y="85439"/>
            <a:ext cx="133252" cy="1952377"/>
            <a:chOff x="6780548" y="337714"/>
            <a:chExt cx="133252" cy="1952377"/>
          </a:xfrm>
        </p:grpSpPr>
        <p:sp>
          <p:nvSpPr>
            <p:cNvPr id="132" name="Google Shape;132;p20"/>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0"/>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 name="Google Shape;134;p20"/>
          <p:cNvGrpSpPr/>
          <p:nvPr/>
        </p:nvGrpSpPr>
        <p:grpSpPr>
          <a:xfrm>
            <a:off x="250617" y="2402301"/>
            <a:ext cx="188650" cy="2468355"/>
            <a:chOff x="250617" y="2402301"/>
            <a:chExt cx="188650" cy="2468355"/>
          </a:xfrm>
        </p:grpSpPr>
        <p:sp>
          <p:nvSpPr>
            <p:cNvPr id="135" name="Google Shape;135;p2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9" name="Google Shape;139;p20"/>
          <p:cNvGrpSpPr/>
          <p:nvPr/>
        </p:nvGrpSpPr>
        <p:grpSpPr>
          <a:xfrm>
            <a:off x="982417" y="1695096"/>
            <a:ext cx="199237" cy="2828935"/>
            <a:chOff x="1608717" y="1280046"/>
            <a:chExt cx="199237" cy="2828935"/>
          </a:xfrm>
        </p:grpSpPr>
        <p:sp>
          <p:nvSpPr>
            <p:cNvPr id="140" name="Google Shape;140;p2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3" name="Google Shape;143;p2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4" name="Google Shape;144;p20"/>
          <p:cNvGrpSpPr/>
          <p:nvPr/>
        </p:nvGrpSpPr>
        <p:grpSpPr>
          <a:xfrm>
            <a:off x="2038689" y="173907"/>
            <a:ext cx="57599" cy="831799"/>
            <a:chOff x="2038689" y="173907"/>
            <a:chExt cx="57599" cy="831799"/>
          </a:xfrm>
        </p:grpSpPr>
        <p:sp>
          <p:nvSpPr>
            <p:cNvPr id="145" name="Google Shape;145;p2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7" name="Google Shape;147;p20"/>
          <p:cNvGrpSpPr/>
          <p:nvPr/>
        </p:nvGrpSpPr>
        <p:grpSpPr>
          <a:xfrm>
            <a:off x="8008096" y="2108910"/>
            <a:ext cx="199001" cy="2139770"/>
            <a:chOff x="8008096" y="2108910"/>
            <a:chExt cx="199001" cy="2139770"/>
          </a:xfrm>
        </p:grpSpPr>
        <p:sp>
          <p:nvSpPr>
            <p:cNvPr id="148" name="Google Shape;148;p2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 name="Google Shape;150;p20"/>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1" name="Google Shape;151;p20"/>
          <p:cNvGrpSpPr/>
          <p:nvPr/>
        </p:nvGrpSpPr>
        <p:grpSpPr>
          <a:xfrm>
            <a:off x="4095146" y="-859690"/>
            <a:ext cx="199001" cy="2139770"/>
            <a:chOff x="8008096" y="2108910"/>
            <a:chExt cx="199001" cy="2139770"/>
          </a:xfrm>
        </p:grpSpPr>
        <p:sp>
          <p:nvSpPr>
            <p:cNvPr id="152" name="Google Shape;152;p2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4" name="Google Shape;154;p20"/>
          <p:cNvGrpSpPr/>
          <p:nvPr/>
        </p:nvGrpSpPr>
        <p:grpSpPr>
          <a:xfrm>
            <a:off x="6333286" y="3704939"/>
            <a:ext cx="133252" cy="1952377"/>
            <a:chOff x="6780548" y="337714"/>
            <a:chExt cx="133252" cy="1952377"/>
          </a:xfrm>
        </p:grpSpPr>
        <p:sp>
          <p:nvSpPr>
            <p:cNvPr id="155" name="Google Shape;155;p20"/>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0"/>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20"/>
          <p:cNvGrpSpPr/>
          <p:nvPr/>
        </p:nvGrpSpPr>
        <p:grpSpPr>
          <a:xfrm>
            <a:off x="2702021" y="3612763"/>
            <a:ext cx="121172" cy="760495"/>
            <a:chOff x="5245196" y="3136513"/>
            <a:chExt cx="121172" cy="760495"/>
          </a:xfrm>
        </p:grpSpPr>
        <p:sp>
          <p:nvSpPr>
            <p:cNvPr id="158" name="Google Shape;158;p2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0" name="Google Shape;160;p20"/>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0"/>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2" name="Shape 162"/>
        <p:cNvGrpSpPr/>
        <p:nvPr/>
      </p:nvGrpSpPr>
      <p:grpSpPr>
        <a:xfrm>
          <a:off x="0" y="0"/>
          <a:ext cx="0" cy="0"/>
          <a:chOff x="0" y="0"/>
          <a:chExt cx="0" cy="0"/>
        </a:xfrm>
      </p:grpSpPr>
      <p:sp>
        <p:nvSpPr>
          <p:cNvPr id="163" name="Google Shape;163;p21"/>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4" name="Google Shape;164;p21"/>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65" name="Google Shape;165;p21"/>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1"/>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1"/>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1"/>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1"/>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 name="Google Shape;170;p21"/>
          <p:cNvGrpSpPr/>
          <p:nvPr/>
        </p:nvGrpSpPr>
        <p:grpSpPr>
          <a:xfrm>
            <a:off x="8148521" y="3004593"/>
            <a:ext cx="98059" cy="1147595"/>
            <a:chOff x="3347921" y="16006"/>
            <a:chExt cx="98059" cy="1147595"/>
          </a:xfrm>
        </p:grpSpPr>
        <p:sp>
          <p:nvSpPr>
            <p:cNvPr id="171" name="Google Shape;171;p21"/>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1"/>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 name="Google Shape;173;p21"/>
          <p:cNvGrpSpPr/>
          <p:nvPr/>
        </p:nvGrpSpPr>
        <p:grpSpPr>
          <a:xfrm>
            <a:off x="281421" y="3769263"/>
            <a:ext cx="121172" cy="760495"/>
            <a:chOff x="5245196" y="3136513"/>
            <a:chExt cx="121172" cy="760495"/>
          </a:xfrm>
        </p:grpSpPr>
        <p:sp>
          <p:nvSpPr>
            <p:cNvPr id="174" name="Google Shape;174;p2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21"/>
          <p:cNvGrpSpPr/>
          <p:nvPr/>
        </p:nvGrpSpPr>
        <p:grpSpPr>
          <a:xfrm>
            <a:off x="8534739" y="4069632"/>
            <a:ext cx="57599" cy="831799"/>
            <a:chOff x="2038689" y="173907"/>
            <a:chExt cx="57599" cy="831799"/>
          </a:xfrm>
        </p:grpSpPr>
        <p:sp>
          <p:nvSpPr>
            <p:cNvPr id="177" name="Google Shape;177;p2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21"/>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1"/>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1" name="Shape 181"/>
        <p:cNvGrpSpPr/>
        <p:nvPr/>
      </p:nvGrpSpPr>
      <p:grpSpPr>
        <a:xfrm>
          <a:off x="0" y="0"/>
          <a:ext cx="0" cy="0"/>
          <a:chOff x="0" y="0"/>
          <a:chExt cx="0" cy="0"/>
        </a:xfrm>
      </p:grpSpPr>
      <p:sp>
        <p:nvSpPr>
          <p:cNvPr id="182" name="Google Shape;182;p22"/>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83" name="Google Shape;183;p22"/>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184" name="Google Shape;184;p22"/>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85" name="Google Shape;185;p22"/>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186" name="Google Shape;186;p22"/>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87" name="Google Shape;187;p22"/>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2"/>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2"/>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2"/>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1" name="Google Shape;191;p22"/>
          <p:cNvGrpSpPr/>
          <p:nvPr/>
        </p:nvGrpSpPr>
        <p:grpSpPr>
          <a:xfrm>
            <a:off x="6626134" y="-164562"/>
            <a:ext cx="121172" cy="760495"/>
            <a:chOff x="5245196" y="3136513"/>
            <a:chExt cx="121172" cy="760495"/>
          </a:xfrm>
        </p:grpSpPr>
        <p:sp>
          <p:nvSpPr>
            <p:cNvPr id="192" name="Google Shape;192;p2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 name="Google Shape;194;p22"/>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2"/>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6" name="Shape 196"/>
        <p:cNvGrpSpPr/>
        <p:nvPr/>
      </p:nvGrpSpPr>
      <p:grpSpPr>
        <a:xfrm>
          <a:off x="0" y="0"/>
          <a:ext cx="0" cy="0"/>
          <a:chOff x="0" y="0"/>
          <a:chExt cx="0" cy="0"/>
        </a:xfrm>
      </p:grpSpPr>
      <p:sp>
        <p:nvSpPr>
          <p:cNvPr id="197" name="Google Shape;197;p23"/>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98" name="Google Shape;198;p23"/>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3"/>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3"/>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8" name="Shape 208"/>
        <p:cNvGrpSpPr/>
        <p:nvPr/>
      </p:nvGrpSpPr>
      <p:grpSpPr>
        <a:xfrm>
          <a:off x="0" y="0"/>
          <a:ext cx="0" cy="0"/>
          <a:chOff x="0" y="0"/>
          <a:chExt cx="0" cy="0"/>
        </a:xfrm>
      </p:grpSpPr>
      <p:sp>
        <p:nvSpPr>
          <p:cNvPr id="209" name="Google Shape;209;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10" name="Google Shape;210;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11" name="Google Shape;211;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2" name="Shape 212"/>
        <p:cNvGrpSpPr/>
        <p:nvPr/>
      </p:nvGrpSpPr>
      <p:grpSpPr>
        <a:xfrm>
          <a:off x="0" y="0"/>
          <a:ext cx="0" cy="0"/>
          <a:chOff x="0" y="0"/>
          <a:chExt cx="0" cy="0"/>
        </a:xfrm>
      </p:grpSpPr>
      <p:sp>
        <p:nvSpPr>
          <p:cNvPr id="213" name="Google Shape;213;p25"/>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214" name="Shape 214"/>
        <p:cNvGrpSpPr/>
        <p:nvPr/>
      </p:nvGrpSpPr>
      <p:grpSpPr>
        <a:xfrm>
          <a:off x="0" y="0"/>
          <a:ext cx="0" cy="0"/>
          <a:chOff x="0" y="0"/>
          <a:chExt cx="0" cy="0"/>
        </a:xfrm>
      </p:grpSpPr>
      <p:sp>
        <p:nvSpPr>
          <p:cNvPr id="215" name="Google Shape;215;p26"/>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6" name="Google Shape;216;p26"/>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7" name="Google Shape;217;p26"/>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6"/>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6"/>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6"/>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6"/>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2" name="Google Shape;222;p26"/>
          <p:cNvGrpSpPr/>
          <p:nvPr/>
        </p:nvGrpSpPr>
        <p:grpSpPr>
          <a:xfrm>
            <a:off x="8217007" y="3576772"/>
            <a:ext cx="188886" cy="1181532"/>
            <a:chOff x="2877432" y="975334"/>
            <a:chExt cx="188886" cy="1181532"/>
          </a:xfrm>
        </p:grpSpPr>
        <p:sp>
          <p:nvSpPr>
            <p:cNvPr id="223" name="Google Shape;223;p2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6" name="Google Shape;226;p26"/>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7" name="Google Shape;227;p26"/>
          <p:cNvGrpSpPr/>
          <p:nvPr/>
        </p:nvGrpSpPr>
        <p:grpSpPr>
          <a:xfrm>
            <a:off x="7519346" y="3243318"/>
            <a:ext cx="98059" cy="1147595"/>
            <a:chOff x="3347921" y="16006"/>
            <a:chExt cx="98059" cy="1147595"/>
          </a:xfrm>
        </p:grpSpPr>
        <p:sp>
          <p:nvSpPr>
            <p:cNvPr id="228" name="Google Shape;228;p26"/>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6"/>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 name="Google Shape;230;p26"/>
          <p:cNvGrpSpPr/>
          <p:nvPr/>
        </p:nvGrpSpPr>
        <p:grpSpPr>
          <a:xfrm>
            <a:off x="805821" y="2953663"/>
            <a:ext cx="121172" cy="760495"/>
            <a:chOff x="5245196" y="3136513"/>
            <a:chExt cx="121172" cy="760495"/>
          </a:xfrm>
        </p:grpSpPr>
        <p:sp>
          <p:nvSpPr>
            <p:cNvPr id="231" name="Google Shape;231;p2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3" name="Google Shape;233;p26"/>
          <p:cNvGrpSpPr/>
          <p:nvPr/>
        </p:nvGrpSpPr>
        <p:grpSpPr>
          <a:xfrm>
            <a:off x="250617" y="2402301"/>
            <a:ext cx="188650" cy="2468355"/>
            <a:chOff x="250617" y="2402301"/>
            <a:chExt cx="188650" cy="2468355"/>
          </a:xfrm>
        </p:grpSpPr>
        <p:sp>
          <p:nvSpPr>
            <p:cNvPr id="234" name="Google Shape;234;p26"/>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6"/>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6"/>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6"/>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8" name="Google Shape;238;p26"/>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6"/>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0" name="Google Shape;240;p26"/>
          <p:cNvGrpSpPr/>
          <p:nvPr/>
        </p:nvGrpSpPr>
        <p:grpSpPr>
          <a:xfrm>
            <a:off x="2038689" y="173907"/>
            <a:ext cx="57599" cy="831799"/>
            <a:chOff x="2038689" y="173907"/>
            <a:chExt cx="57599" cy="831799"/>
          </a:xfrm>
        </p:grpSpPr>
        <p:sp>
          <p:nvSpPr>
            <p:cNvPr id="241" name="Google Shape;241;p26"/>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6"/>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 name="Google Shape;243;p26"/>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4" name="Google Shape;244;p26"/>
          <p:cNvGrpSpPr/>
          <p:nvPr/>
        </p:nvGrpSpPr>
        <p:grpSpPr>
          <a:xfrm>
            <a:off x="4920170" y="-496491"/>
            <a:ext cx="188886" cy="1181532"/>
            <a:chOff x="2877432" y="975334"/>
            <a:chExt cx="188886" cy="1181532"/>
          </a:xfrm>
        </p:grpSpPr>
        <p:sp>
          <p:nvSpPr>
            <p:cNvPr id="245" name="Google Shape;245;p2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p26"/>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9" name="Google Shape;249;p26"/>
          <p:cNvGrpSpPr/>
          <p:nvPr/>
        </p:nvGrpSpPr>
        <p:grpSpPr>
          <a:xfrm>
            <a:off x="3030471" y="-223849"/>
            <a:ext cx="121172" cy="760495"/>
            <a:chOff x="5245196" y="3136513"/>
            <a:chExt cx="121172" cy="760495"/>
          </a:xfrm>
        </p:grpSpPr>
        <p:sp>
          <p:nvSpPr>
            <p:cNvPr id="250" name="Google Shape;250;p2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2" name="Google Shape;252;p26"/>
          <p:cNvGrpSpPr/>
          <p:nvPr/>
        </p:nvGrpSpPr>
        <p:grpSpPr>
          <a:xfrm>
            <a:off x="2306292" y="2569221"/>
            <a:ext cx="199237" cy="2828935"/>
            <a:chOff x="1608717" y="1280046"/>
            <a:chExt cx="199237" cy="2828935"/>
          </a:xfrm>
        </p:grpSpPr>
        <p:sp>
          <p:nvSpPr>
            <p:cNvPr id="253" name="Google Shape;253;p26"/>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6"/>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6"/>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56" name="Shape 256"/>
        <p:cNvGrpSpPr/>
        <p:nvPr/>
      </p:nvGrpSpPr>
      <p:grpSpPr>
        <a:xfrm>
          <a:off x="0" y="0"/>
          <a:ext cx="0" cy="0"/>
          <a:chOff x="0" y="0"/>
          <a:chExt cx="0" cy="0"/>
        </a:xfrm>
      </p:grpSpPr>
      <p:sp>
        <p:nvSpPr>
          <p:cNvPr id="257" name="Google Shape;257;p27"/>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58" name="Google Shape;258;p2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7"/>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7"/>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7"/>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69" name="Google Shape;269;p27"/>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0" name="Google Shape;270;p27"/>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1" name="Google Shape;271;p27"/>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2" name="Google Shape;272;p27"/>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3" name="Google Shape;273;p27"/>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4" name="Google Shape;274;p27"/>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75" name="Google Shape;275;p27"/>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27"/>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7" name="Google Shape;277;p27"/>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78" name="Shape 278"/>
        <p:cNvGrpSpPr/>
        <p:nvPr/>
      </p:nvGrpSpPr>
      <p:grpSpPr>
        <a:xfrm>
          <a:off x="0" y="0"/>
          <a:ext cx="0" cy="0"/>
          <a:chOff x="0" y="0"/>
          <a:chExt cx="0" cy="0"/>
        </a:xfrm>
      </p:grpSpPr>
      <p:sp>
        <p:nvSpPr>
          <p:cNvPr id="279" name="Google Shape;279;p28"/>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0" name="Google Shape;280;p28"/>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1" name="Google Shape;281;p28"/>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2" name="Google Shape;282;p28"/>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3" name="Google Shape;283;p28"/>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8"/>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8"/>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8"/>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7" name="Google Shape;287;p28"/>
          <p:cNvGrpSpPr/>
          <p:nvPr/>
        </p:nvGrpSpPr>
        <p:grpSpPr>
          <a:xfrm>
            <a:off x="6626134" y="-164562"/>
            <a:ext cx="121172" cy="760495"/>
            <a:chOff x="5245196" y="3136513"/>
            <a:chExt cx="121172" cy="760495"/>
          </a:xfrm>
        </p:grpSpPr>
        <p:sp>
          <p:nvSpPr>
            <p:cNvPr id="288" name="Google Shape;288;p2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0" name="Google Shape;290;p28"/>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8"/>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8"/>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93" name="Shape 293"/>
        <p:cNvGrpSpPr/>
        <p:nvPr/>
      </p:nvGrpSpPr>
      <p:grpSpPr>
        <a:xfrm>
          <a:off x="0" y="0"/>
          <a:ext cx="0" cy="0"/>
          <a:chOff x="0" y="0"/>
          <a:chExt cx="0" cy="0"/>
        </a:xfrm>
      </p:grpSpPr>
      <p:sp>
        <p:nvSpPr>
          <p:cNvPr id="294" name="Google Shape;294;p29"/>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9"/>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9"/>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9"/>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8" name="Google Shape;298;p29"/>
          <p:cNvGrpSpPr/>
          <p:nvPr/>
        </p:nvGrpSpPr>
        <p:grpSpPr>
          <a:xfrm>
            <a:off x="6626134" y="-164562"/>
            <a:ext cx="121172" cy="760495"/>
            <a:chOff x="5245196" y="3136513"/>
            <a:chExt cx="121172" cy="760495"/>
          </a:xfrm>
        </p:grpSpPr>
        <p:sp>
          <p:nvSpPr>
            <p:cNvPr id="299" name="Google Shape;299;p2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1" name="Google Shape;301;p29"/>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9"/>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9"/>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4" name="Google Shape;304;p29"/>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05" name="Google Shape;305;p29"/>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6" name="Google Shape;306;p29"/>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07" name="Google Shape;307;p29"/>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8" name="Google Shape;308;p29"/>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09" name="Google Shape;309;p29"/>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0" name="Shape 310"/>
        <p:cNvGrpSpPr/>
        <p:nvPr/>
      </p:nvGrpSpPr>
      <p:grpSpPr>
        <a:xfrm>
          <a:off x="0" y="0"/>
          <a:ext cx="0" cy="0"/>
          <a:chOff x="0" y="0"/>
          <a:chExt cx="0" cy="0"/>
        </a:xfrm>
      </p:grpSpPr>
      <p:sp>
        <p:nvSpPr>
          <p:cNvPr id="311" name="Google Shape;311;p30"/>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2" name="Google Shape;312;p30"/>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3" name="Google Shape;313;p30"/>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4" name="Google Shape;314;p30"/>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5" name="Google Shape;315;p30"/>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6" name="Google Shape;316;p30"/>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7" name="Google Shape;317;p30"/>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18" name="Google Shape;318;p30"/>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30"/>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30"/>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30"/>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30"/>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30"/>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30"/>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0"/>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0"/>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0"/>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0"/>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0"/>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0"/>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0"/>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0"/>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33" name="Shape 333"/>
        <p:cNvGrpSpPr/>
        <p:nvPr/>
      </p:nvGrpSpPr>
      <p:grpSpPr>
        <a:xfrm>
          <a:off x="0" y="0"/>
          <a:ext cx="0" cy="0"/>
          <a:chOff x="0" y="0"/>
          <a:chExt cx="0" cy="0"/>
        </a:xfrm>
      </p:grpSpPr>
      <p:sp>
        <p:nvSpPr>
          <p:cNvPr id="334" name="Google Shape;334;p31"/>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5" name="Google Shape;335;p31"/>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36" name="Google Shape;336;p31"/>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7" name="Google Shape;337;p31"/>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38" name="Google Shape;338;p31"/>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9" name="Google Shape;339;p31"/>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0" name="Google Shape;340;p31"/>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1" name="Google Shape;341;p31"/>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2" name="Google Shape;342;p31"/>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43" name="Google Shape;343;p31"/>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1"/>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1"/>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1"/>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1"/>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1"/>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1"/>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31"/>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1"/>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1"/>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53" name="Shape 353"/>
        <p:cNvGrpSpPr/>
        <p:nvPr/>
      </p:nvGrpSpPr>
      <p:grpSpPr>
        <a:xfrm>
          <a:off x="0" y="0"/>
          <a:ext cx="0" cy="0"/>
          <a:chOff x="0" y="0"/>
          <a:chExt cx="0" cy="0"/>
        </a:xfrm>
      </p:grpSpPr>
      <p:sp>
        <p:nvSpPr>
          <p:cNvPr id="354" name="Google Shape;354;p32"/>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55" name="Google Shape;355;p32"/>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56" name="Google Shape;356;p32"/>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57" name="Google Shape;357;p32"/>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58" name="Google Shape;358;p32"/>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59" name="Google Shape;359;p32"/>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0" name="Google Shape;360;p32"/>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1" name="Google Shape;361;p32"/>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2" name="Google Shape;362;p32"/>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63" name="Google Shape;363;p32"/>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2"/>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2"/>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32"/>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32"/>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2"/>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2"/>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2"/>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2"/>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2"/>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73" name="Shape 373"/>
        <p:cNvGrpSpPr/>
        <p:nvPr/>
      </p:nvGrpSpPr>
      <p:grpSpPr>
        <a:xfrm>
          <a:off x="0" y="0"/>
          <a:ext cx="0" cy="0"/>
          <a:chOff x="0" y="0"/>
          <a:chExt cx="0" cy="0"/>
        </a:xfrm>
      </p:grpSpPr>
      <p:sp>
        <p:nvSpPr>
          <p:cNvPr id="374" name="Google Shape;374;p33"/>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75" name="Google Shape;375;p33"/>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6" name="Google Shape;376;p33"/>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377" name="Google Shape;377;p33"/>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3"/>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3"/>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3"/>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3"/>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3"/>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3"/>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3"/>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5" name="Google Shape;385;p33"/>
          <p:cNvGrpSpPr/>
          <p:nvPr/>
        </p:nvGrpSpPr>
        <p:grpSpPr>
          <a:xfrm>
            <a:off x="6669747" y="-389684"/>
            <a:ext cx="143766" cy="2106420"/>
            <a:chOff x="6780548" y="337714"/>
            <a:chExt cx="133252" cy="1952377"/>
          </a:xfrm>
        </p:grpSpPr>
        <p:sp>
          <p:nvSpPr>
            <p:cNvPr id="386" name="Google Shape;386;p33"/>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3"/>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8" name="Google Shape;388;p33"/>
          <p:cNvGrpSpPr/>
          <p:nvPr/>
        </p:nvGrpSpPr>
        <p:grpSpPr>
          <a:xfrm>
            <a:off x="1510029" y="507749"/>
            <a:ext cx="203534" cy="2663108"/>
            <a:chOff x="250617" y="2402301"/>
            <a:chExt cx="188650" cy="2468355"/>
          </a:xfrm>
        </p:grpSpPr>
        <p:sp>
          <p:nvSpPr>
            <p:cNvPr id="389" name="Google Shape;389;p33"/>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3"/>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3"/>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3"/>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3" name="Google Shape;393;p33"/>
          <p:cNvGrpSpPr/>
          <p:nvPr/>
        </p:nvGrpSpPr>
        <p:grpSpPr>
          <a:xfrm>
            <a:off x="385355" y="1380671"/>
            <a:ext cx="199237" cy="2828935"/>
            <a:chOff x="1608717" y="1280046"/>
            <a:chExt cx="199237" cy="2828935"/>
          </a:xfrm>
        </p:grpSpPr>
        <p:sp>
          <p:nvSpPr>
            <p:cNvPr id="394" name="Google Shape;394;p33"/>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33"/>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33"/>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7" name="Google Shape;397;p33"/>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33"/>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9" name="Google Shape;399;p33"/>
          <p:cNvGrpSpPr/>
          <p:nvPr/>
        </p:nvGrpSpPr>
        <p:grpSpPr>
          <a:xfrm>
            <a:off x="989005" y="-389666"/>
            <a:ext cx="62143" cy="897428"/>
            <a:chOff x="2038689" y="173907"/>
            <a:chExt cx="57599" cy="831799"/>
          </a:xfrm>
        </p:grpSpPr>
        <p:sp>
          <p:nvSpPr>
            <p:cNvPr id="400" name="Google Shape;400;p33"/>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33"/>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2" name="Google Shape;402;p33"/>
          <p:cNvGrpSpPr/>
          <p:nvPr/>
        </p:nvGrpSpPr>
        <p:grpSpPr>
          <a:xfrm>
            <a:off x="8568723" y="2184809"/>
            <a:ext cx="214702" cy="2308598"/>
            <a:chOff x="8008096" y="2108910"/>
            <a:chExt cx="199001" cy="2139770"/>
          </a:xfrm>
        </p:grpSpPr>
        <p:sp>
          <p:nvSpPr>
            <p:cNvPr id="403" name="Google Shape;403;p3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3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5" name="Google Shape;405;p33"/>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6" name="Google Shape;406;p33"/>
          <p:cNvGrpSpPr/>
          <p:nvPr/>
        </p:nvGrpSpPr>
        <p:grpSpPr>
          <a:xfrm>
            <a:off x="8221223" y="9"/>
            <a:ext cx="214702" cy="2308598"/>
            <a:chOff x="8008096" y="2108910"/>
            <a:chExt cx="199001" cy="2139770"/>
          </a:xfrm>
        </p:grpSpPr>
        <p:sp>
          <p:nvSpPr>
            <p:cNvPr id="407" name="Google Shape;407;p3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3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09" name="Shape 409"/>
        <p:cNvGrpSpPr/>
        <p:nvPr/>
      </p:nvGrpSpPr>
      <p:grpSpPr>
        <a:xfrm>
          <a:off x="0" y="0"/>
          <a:ext cx="0" cy="0"/>
          <a:chOff x="0" y="0"/>
          <a:chExt cx="0" cy="0"/>
        </a:xfrm>
      </p:grpSpPr>
      <p:sp>
        <p:nvSpPr>
          <p:cNvPr id="410" name="Google Shape;410;p34"/>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1" name="Google Shape;411;p34"/>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2" name="Google Shape;412;p34"/>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13" name="Google Shape;413;p34"/>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4"/>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34"/>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4"/>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34"/>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34"/>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4"/>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4"/>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4"/>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4"/>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4"/>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24" name="Shape 42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25" name="Shape 42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26" name="Shape 426"/>
        <p:cNvGrpSpPr/>
        <p:nvPr/>
      </p:nvGrpSpPr>
      <p:grpSpPr>
        <a:xfrm>
          <a:off x="0" y="0"/>
          <a:ext cx="0" cy="0"/>
          <a:chOff x="0" y="0"/>
          <a:chExt cx="0" cy="0"/>
        </a:xfrm>
      </p:grpSpPr>
      <p:sp>
        <p:nvSpPr>
          <p:cNvPr id="427" name="Google Shape;427;p3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28" name="Google Shape;42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29" name="Shape 429"/>
        <p:cNvGrpSpPr/>
        <p:nvPr/>
      </p:nvGrpSpPr>
      <p:grpSpPr>
        <a:xfrm>
          <a:off x="0" y="0"/>
          <a:ext cx="0" cy="0"/>
          <a:chOff x="0" y="0"/>
          <a:chExt cx="0" cy="0"/>
        </a:xfrm>
      </p:grpSpPr>
      <p:sp>
        <p:nvSpPr>
          <p:cNvPr id="430" name="Google Shape;43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1" name="Google Shape;431;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32" name="Google Shape;43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ivp.i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mett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iscuss.codechef.com/t/cognizant-genc-next-coding-assessment-help-me-in-solving-this-question/93781" TargetMode="External"/><Relationship Id="rId4" Type="http://schemas.openxmlformats.org/officeDocument/2006/relationships/hyperlink" Target="https://www.indiabix.com/" TargetMode="External"/><Relationship Id="rId5" Type="http://schemas.openxmlformats.org/officeDocument/2006/relationships/hyperlink" Target="https://www.geeksforgeeks.org/aptitude-gq/" TargetMode="External"/><Relationship Id="rId6" Type="http://schemas.openxmlformats.org/officeDocument/2006/relationships/hyperlink" Target="https://www.javatpoint.com/aptitude/quantitativ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mailto:2020.jasmine.dhirwani@ves.ac.i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a:t> </a:t>
            </a:r>
            <a:endParaRPr/>
          </a:p>
        </p:txBody>
      </p:sp>
      <p:sp>
        <p:nvSpPr>
          <p:cNvPr id="438" name="Google Shape;438;p1"/>
          <p:cNvSpPr txBox="1"/>
          <p:nvPr>
            <p:ph idx="1" type="subTitle"/>
          </p:nvPr>
        </p:nvSpPr>
        <p:spPr>
          <a:xfrm>
            <a:off x="2693075" y="2973775"/>
            <a:ext cx="4101600" cy="1050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Placement Interview Experience By</a:t>
            </a:r>
            <a:endParaRPr/>
          </a:p>
          <a:p>
            <a:pPr indent="0" lvl="0" marL="0" rtl="0" algn="ctr">
              <a:lnSpc>
                <a:spcPct val="100000"/>
              </a:lnSpc>
              <a:spcBef>
                <a:spcPts val="0"/>
              </a:spcBef>
              <a:spcAft>
                <a:spcPts val="0"/>
              </a:spcAft>
              <a:buSzPts val="2800"/>
              <a:buNone/>
            </a:pPr>
            <a:r>
              <a:t/>
            </a:r>
            <a:endParaRPr/>
          </a:p>
          <a:p>
            <a:pPr indent="0" lvl="0" marL="0" rtl="0" algn="ctr">
              <a:lnSpc>
                <a:spcPct val="100000"/>
              </a:lnSpc>
              <a:spcBef>
                <a:spcPts val="0"/>
              </a:spcBef>
              <a:spcAft>
                <a:spcPts val="0"/>
              </a:spcAft>
              <a:buSzPts val="2800"/>
              <a:buNone/>
            </a:pPr>
            <a:r>
              <a:rPr lang="en"/>
              <a:t>Jasmine Dhirwani(D17B)</a:t>
            </a:r>
            <a:endParaRPr/>
          </a:p>
        </p:txBody>
      </p:sp>
      <p:pic>
        <p:nvPicPr>
          <p:cNvPr id="439" name="Google Shape;439;p1"/>
          <p:cNvPicPr preferRelativeResize="0"/>
          <p:nvPr/>
        </p:nvPicPr>
        <p:blipFill rotWithShape="1">
          <a:blip r:embed="rId3">
            <a:alphaModFix/>
          </a:blip>
          <a:srcRect b="0" l="0" r="0" t="0"/>
          <a:stretch/>
        </p:blipFill>
        <p:spPr>
          <a:xfrm>
            <a:off x="152400" y="152400"/>
            <a:ext cx="1676401" cy="1676401"/>
          </a:xfrm>
          <a:prstGeom prst="rect">
            <a:avLst/>
          </a:prstGeom>
          <a:noFill/>
          <a:ln>
            <a:noFill/>
          </a:ln>
        </p:spPr>
      </p:pic>
      <p:pic>
        <p:nvPicPr>
          <p:cNvPr id="440" name="Google Shape;440;p1"/>
          <p:cNvPicPr preferRelativeResize="0"/>
          <p:nvPr/>
        </p:nvPicPr>
        <p:blipFill rotWithShape="1">
          <a:blip r:embed="rId4">
            <a:alphaModFix/>
          </a:blip>
          <a:srcRect b="0" l="0" r="0" t="0"/>
          <a:stretch/>
        </p:blipFill>
        <p:spPr>
          <a:xfrm>
            <a:off x="1828800" y="1585288"/>
            <a:ext cx="5486400" cy="1219200"/>
          </a:xfrm>
          <a:prstGeom prst="rect">
            <a:avLst/>
          </a:prstGeom>
          <a:noFill/>
          <a:ln>
            <a:noFill/>
          </a:ln>
        </p:spPr>
      </p:pic>
      <p:sp>
        <p:nvSpPr>
          <p:cNvPr id="441" name="Google Shape;441;p1"/>
          <p:cNvSpPr txBox="1"/>
          <p:nvPr/>
        </p:nvSpPr>
        <p:spPr>
          <a:xfrm>
            <a:off x="1922225" y="4464425"/>
            <a:ext cx="56433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Maven Pro"/>
                <a:ea typeface="Maven Pro"/>
                <a:cs typeface="Maven Pro"/>
                <a:sym typeface="Maven Pro"/>
              </a:rPr>
              <a:t>Computer Engineering Department, 2024 Batch</a:t>
            </a:r>
            <a:endParaRPr b="0" i="0" sz="1800" u="none" cap="none" strike="noStrike">
              <a:solidFill>
                <a:schemeClr val="lt1"/>
              </a:solidFill>
              <a:latin typeface="Maven Pro"/>
              <a:ea typeface="Maven Pro"/>
              <a:cs typeface="Maven Pro"/>
              <a:sym typeface="Maven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
          <p:cNvSpPr txBox="1"/>
          <p:nvPr>
            <p:ph idx="1" type="body"/>
          </p:nvPr>
        </p:nvSpPr>
        <p:spPr>
          <a:xfrm>
            <a:off x="496100" y="1163114"/>
            <a:ext cx="7844400" cy="32166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Char char="●"/>
            </a:pPr>
            <a:r>
              <a:rPr lang="en" sz="1400"/>
              <a:t>Indus Valley Partners is a leading fintech organization which provides services and technology solutions to the alternative investment industry.</a:t>
            </a:r>
            <a:endParaRPr sz="1400"/>
          </a:p>
          <a:p>
            <a:pPr indent="-292100" lvl="0" marL="457200" rtl="0" algn="l">
              <a:lnSpc>
                <a:spcPct val="115000"/>
              </a:lnSpc>
              <a:spcBef>
                <a:spcPts val="1600"/>
              </a:spcBef>
              <a:spcAft>
                <a:spcPts val="0"/>
              </a:spcAft>
              <a:buSzPts val="1000"/>
              <a:buChar char="●"/>
            </a:pPr>
            <a:r>
              <a:rPr lang="en" sz="1400"/>
              <a:t>IVP was founded in 2000, its client base includes 25 of the top 50 global hedge funds.</a:t>
            </a:r>
            <a:endParaRPr sz="1400"/>
          </a:p>
          <a:p>
            <a:pPr indent="-292100" lvl="0" marL="457200" rtl="0" algn="l">
              <a:lnSpc>
                <a:spcPct val="115000"/>
              </a:lnSpc>
              <a:spcBef>
                <a:spcPts val="1600"/>
              </a:spcBef>
              <a:spcAft>
                <a:spcPts val="0"/>
              </a:spcAft>
              <a:buSzPts val="1000"/>
              <a:buChar char="●"/>
            </a:pPr>
            <a:r>
              <a:rPr lang="en" sz="1400"/>
              <a:t>It offers multiple products for portfolio management, hedge fund management and provides consulting services etc.</a:t>
            </a:r>
            <a:endParaRPr sz="1400"/>
          </a:p>
          <a:p>
            <a:pPr indent="-292100" lvl="0" marL="457200" rtl="0" algn="l">
              <a:lnSpc>
                <a:spcPct val="115000"/>
              </a:lnSpc>
              <a:spcBef>
                <a:spcPts val="1600"/>
              </a:spcBef>
              <a:spcAft>
                <a:spcPts val="0"/>
              </a:spcAft>
              <a:buSzPts val="1000"/>
              <a:buChar char="●"/>
            </a:pPr>
            <a:r>
              <a:rPr b="1" lang="en" sz="1400"/>
              <a:t>Website:</a:t>
            </a:r>
            <a:r>
              <a:rPr lang="en" sz="1400"/>
              <a:t> </a:t>
            </a:r>
            <a:r>
              <a:rPr lang="en" sz="1400" u="sng">
                <a:solidFill>
                  <a:schemeClr val="hlink"/>
                </a:solidFill>
                <a:hlinkClick r:id="rId3"/>
              </a:rPr>
              <a:t>https://www.ivp.in/</a:t>
            </a:r>
            <a:endParaRPr sz="1400"/>
          </a:p>
          <a:p>
            <a:pPr indent="-292100" lvl="0" marL="457200" rtl="0" algn="l">
              <a:lnSpc>
                <a:spcPct val="115000"/>
              </a:lnSpc>
              <a:spcBef>
                <a:spcPts val="1600"/>
              </a:spcBef>
              <a:spcAft>
                <a:spcPts val="1600"/>
              </a:spcAft>
              <a:buSzPts val="1000"/>
              <a:buChar char="●"/>
            </a:pPr>
            <a:r>
              <a:rPr b="1" lang="en" sz="1400"/>
              <a:t>Tech Stack:</a:t>
            </a:r>
            <a:r>
              <a:rPr lang="en" sz="1400"/>
              <a:t> .Net core, SQL, JS, Java, Angular, ReactJS, NodeJS, AWS/Azure, Scala/Databricks.</a:t>
            </a:r>
            <a:endParaRPr sz="1400"/>
          </a:p>
        </p:txBody>
      </p:sp>
      <p:sp>
        <p:nvSpPr>
          <p:cNvPr id="447" name="Google Shape;447;p2"/>
          <p:cNvSpPr txBox="1"/>
          <p:nvPr>
            <p:ph type="ctrTitle"/>
          </p:nvPr>
        </p:nvSpPr>
        <p:spPr>
          <a:xfrm>
            <a:off x="874103" y="279539"/>
            <a:ext cx="4342500" cy="628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About IVP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
          <p:cNvSpPr txBox="1"/>
          <p:nvPr>
            <p:ph idx="1" type="body"/>
          </p:nvPr>
        </p:nvSpPr>
        <p:spPr>
          <a:xfrm>
            <a:off x="734375" y="902775"/>
            <a:ext cx="7863600" cy="37131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1607"/>
              <a:t>Name of the Company:</a:t>
            </a:r>
            <a:r>
              <a:rPr lang="en" sz="1607"/>
              <a:t> Indus Valley Partners</a:t>
            </a:r>
            <a:endParaRPr sz="1607"/>
          </a:p>
          <a:p>
            <a:pPr indent="0" lvl="0" marL="0" rtl="0" algn="l">
              <a:lnSpc>
                <a:spcPct val="95000"/>
              </a:lnSpc>
              <a:spcBef>
                <a:spcPts val="1600"/>
              </a:spcBef>
              <a:spcAft>
                <a:spcPts val="0"/>
              </a:spcAft>
              <a:buSzPts val="852"/>
              <a:buNone/>
            </a:pPr>
            <a:r>
              <a:rPr b="1" lang="en" sz="1607"/>
              <a:t>Company Status:</a:t>
            </a:r>
            <a:r>
              <a:rPr lang="en" sz="1607"/>
              <a:t> Dream</a:t>
            </a:r>
            <a:endParaRPr sz="1607"/>
          </a:p>
          <a:p>
            <a:pPr indent="0" lvl="0" marL="0" rtl="0" algn="l">
              <a:lnSpc>
                <a:spcPct val="95000"/>
              </a:lnSpc>
              <a:spcBef>
                <a:spcPts val="1600"/>
              </a:spcBef>
              <a:spcAft>
                <a:spcPts val="0"/>
              </a:spcAft>
              <a:buSzPts val="852"/>
              <a:buNone/>
            </a:pPr>
            <a:r>
              <a:rPr b="1" lang="en" sz="1607"/>
              <a:t>Date of Drive:</a:t>
            </a:r>
            <a:r>
              <a:rPr lang="en" sz="1607"/>
              <a:t> 7th-8th August, 2024</a:t>
            </a:r>
            <a:endParaRPr sz="1607"/>
          </a:p>
          <a:p>
            <a:pPr indent="0" lvl="0" marL="0" rtl="0" algn="l">
              <a:lnSpc>
                <a:spcPct val="95000"/>
              </a:lnSpc>
              <a:spcBef>
                <a:spcPts val="1600"/>
              </a:spcBef>
              <a:spcAft>
                <a:spcPts val="0"/>
              </a:spcAft>
              <a:buSzPts val="852"/>
              <a:buNone/>
            </a:pPr>
            <a:r>
              <a:rPr b="1" lang="en" sz="1607"/>
              <a:t>Salary (CTC):</a:t>
            </a:r>
            <a:r>
              <a:rPr lang="en" sz="1607"/>
              <a:t> 8.52 LPA (7.5LPA + deferred cash &amp; non-encashable benefits worth 1.02L)</a:t>
            </a:r>
            <a:endParaRPr sz="1607"/>
          </a:p>
          <a:p>
            <a:pPr indent="0" lvl="0" marL="0" rtl="0" algn="l">
              <a:lnSpc>
                <a:spcPct val="95000"/>
              </a:lnSpc>
              <a:spcBef>
                <a:spcPts val="1600"/>
              </a:spcBef>
              <a:spcAft>
                <a:spcPts val="0"/>
              </a:spcAft>
              <a:buSzPts val="852"/>
              <a:buNone/>
            </a:pPr>
            <a:r>
              <a:rPr b="1" lang="en" sz="1607"/>
              <a:t>Eligible Branches:</a:t>
            </a:r>
            <a:r>
              <a:rPr lang="en" sz="1607"/>
              <a:t> BE (CS/ INFT/ EXTC/AIDS), MCA</a:t>
            </a:r>
            <a:endParaRPr sz="1607"/>
          </a:p>
          <a:p>
            <a:pPr indent="0" lvl="0" marL="0" rtl="0" algn="l">
              <a:lnSpc>
                <a:spcPct val="95000"/>
              </a:lnSpc>
              <a:spcBef>
                <a:spcPts val="1600"/>
              </a:spcBef>
              <a:spcAft>
                <a:spcPts val="0"/>
              </a:spcAft>
              <a:buSzPts val="852"/>
              <a:buNone/>
            </a:pPr>
            <a:r>
              <a:rPr b="1" lang="en" sz="1607"/>
              <a:t>Eligibility Criteria:</a:t>
            </a:r>
            <a:r>
              <a:rPr lang="en" sz="1607"/>
              <a:t> 65% through 10th, 12th and 7 Aggregate CGPI upto sem 5 in BE , No Live KT</a:t>
            </a:r>
            <a:endParaRPr sz="1607"/>
          </a:p>
          <a:p>
            <a:pPr indent="0" lvl="0" marL="0" rtl="0" algn="l">
              <a:lnSpc>
                <a:spcPct val="95000"/>
              </a:lnSpc>
              <a:spcBef>
                <a:spcPts val="1600"/>
              </a:spcBef>
              <a:spcAft>
                <a:spcPts val="0"/>
              </a:spcAft>
              <a:buSzPts val="852"/>
              <a:buNone/>
            </a:pPr>
            <a:r>
              <a:rPr b="1" lang="en" sz="1607"/>
              <a:t>Role:</a:t>
            </a:r>
            <a:r>
              <a:rPr lang="en" sz="1607"/>
              <a:t> Associate Software Engineer</a:t>
            </a:r>
            <a:endParaRPr sz="1607"/>
          </a:p>
          <a:p>
            <a:pPr indent="0" lvl="0" marL="0" rtl="0" algn="l">
              <a:lnSpc>
                <a:spcPct val="95000"/>
              </a:lnSpc>
              <a:spcBef>
                <a:spcPts val="1600"/>
              </a:spcBef>
              <a:spcAft>
                <a:spcPts val="1600"/>
              </a:spcAft>
              <a:buSzPts val="852"/>
              <a:buNone/>
            </a:pPr>
            <a:r>
              <a:rPr b="1" lang="en" sz="1607"/>
              <a:t>Office Location:</a:t>
            </a:r>
            <a:r>
              <a:rPr lang="en" sz="1607"/>
              <a:t> Andheri East, Mumbai</a:t>
            </a:r>
            <a:endParaRPr sz="1607"/>
          </a:p>
        </p:txBody>
      </p:sp>
      <p:sp>
        <p:nvSpPr>
          <p:cNvPr id="453" name="Google Shape;453;p3"/>
          <p:cNvSpPr txBox="1"/>
          <p:nvPr>
            <p:ph type="ctrTitle"/>
          </p:nvPr>
        </p:nvSpPr>
        <p:spPr>
          <a:xfrm>
            <a:off x="734375" y="324975"/>
            <a:ext cx="47277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sz="2600"/>
              <a:t>Company Details</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
          <p:cNvSpPr txBox="1"/>
          <p:nvPr>
            <p:ph idx="1" type="body"/>
          </p:nvPr>
        </p:nvSpPr>
        <p:spPr>
          <a:xfrm>
            <a:off x="618300" y="1546000"/>
            <a:ext cx="7953000" cy="242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200"/>
              <a:buNone/>
            </a:pPr>
            <a:r>
              <a:rPr lang="en"/>
              <a:t>The Placement process was completely virtual and consisted of 3 rounds and a Pre-Placement Talk.</a:t>
            </a:r>
            <a:endParaRPr/>
          </a:p>
          <a:p>
            <a:pPr indent="-304800" lvl="0" marL="457200" rtl="0" algn="l">
              <a:lnSpc>
                <a:spcPct val="115000"/>
              </a:lnSpc>
              <a:spcBef>
                <a:spcPts val="1600"/>
              </a:spcBef>
              <a:spcAft>
                <a:spcPts val="0"/>
              </a:spcAft>
              <a:buSzPts val="1200"/>
              <a:buAutoNum type="arabicPeriod"/>
            </a:pPr>
            <a:r>
              <a:rPr lang="en"/>
              <a:t>Online Test (Quantitative + Technical) + Coding Test</a:t>
            </a:r>
            <a:endParaRPr/>
          </a:p>
          <a:p>
            <a:pPr indent="-304800" lvl="0" marL="457200" rtl="0" algn="l">
              <a:lnSpc>
                <a:spcPct val="115000"/>
              </a:lnSpc>
              <a:spcBef>
                <a:spcPts val="1600"/>
              </a:spcBef>
              <a:spcAft>
                <a:spcPts val="0"/>
              </a:spcAft>
              <a:buSzPts val="1200"/>
              <a:buAutoNum type="arabicPeriod"/>
            </a:pPr>
            <a:r>
              <a:rPr lang="en"/>
              <a:t>Technical Interview</a:t>
            </a:r>
            <a:endParaRPr/>
          </a:p>
          <a:p>
            <a:pPr indent="-304800" lvl="0" marL="457200" rtl="0" algn="l">
              <a:lnSpc>
                <a:spcPct val="115000"/>
              </a:lnSpc>
              <a:spcBef>
                <a:spcPts val="1600"/>
              </a:spcBef>
              <a:spcAft>
                <a:spcPts val="1600"/>
              </a:spcAft>
              <a:buSzPts val="1200"/>
              <a:buAutoNum type="arabicPeriod"/>
            </a:pPr>
            <a:r>
              <a:rPr lang="en"/>
              <a:t>Director + HR Interview</a:t>
            </a:r>
            <a:endParaRPr/>
          </a:p>
        </p:txBody>
      </p:sp>
      <p:sp>
        <p:nvSpPr>
          <p:cNvPr id="459" name="Google Shape;459;p4"/>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Placement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
          <p:cNvSpPr txBox="1"/>
          <p:nvPr>
            <p:ph idx="4294967295" type="title"/>
          </p:nvPr>
        </p:nvSpPr>
        <p:spPr>
          <a:xfrm>
            <a:off x="311700" y="2150850"/>
            <a:ext cx="85206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t>Experience</a:t>
            </a:r>
            <a:endParaRPr sz="3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
          <p:cNvSpPr txBox="1"/>
          <p:nvPr>
            <p:ph idx="1" type="body"/>
          </p:nvPr>
        </p:nvSpPr>
        <p:spPr>
          <a:xfrm>
            <a:off x="546600" y="1161450"/>
            <a:ext cx="7824600" cy="36330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The test was conducted on </a:t>
            </a:r>
            <a:r>
              <a:rPr lang="en" sz="1400" u="sng">
                <a:solidFill>
                  <a:schemeClr val="hlink"/>
                </a:solidFill>
                <a:hlinkClick r:id="rId3"/>
              </a:rPr>
              <a:t>Mettl Platform.</a:t>
            </a:r>
            <a:endParaRPr sz="1400"/>
          </a:p>
          <a:p>
            <a:pPr indent="-317500" lvl="0" marL="457200" rtl="0" algn="l">
              <a:lnSpc>
                <a:spcPct val="100000"/>
              </a:lnSpc>
              <a:spcBef>
                <a:spcPts val="1600"/>
              </a:spcBef>
              <a:spcAft>
                <a:spcPts val="0"/>
              </a:spcAft>
              <a:buSzPts val="1400"/>
              <a:buChar char="●"/>
            </a:pPr>
            <a:r>
              <a:rPr lang="en" sz="1400"/>
              <a:t>The test consisted of 3 sections:</a:t>
            </a:r>
            <a:endParaRPr sz="1400"/>
          </a:p>
          <a:p>
            <a:pPr indent="-317500" lvl="1" marL="914400" rtl="0" algn="l">
              <a:lnSpc>
                <a:spcPct val="100000"/>
              </a:lnSpc>
              <a:spcBef>
                <a:spcPts val="1600"/>
              </a:spcBef>
              <a:spcAft>
                <a:spcPts val="0"/>
              </a:spcAft>
              <a:buSzPts val="1400"/>
              <a:buChar char="○"/>
            </a:pPr>
            <a:r>
              <a:rPr lang="en" sz="1400"/>
              <a:t>Quantitative Ability</a:t>
            </a:r>
            <a:endParaRPr sz="1400"/>
          </a:p>
          <a:p>
            <a:pPr indent="-317500" lvl="1" marL="914400" rtl="0" algn="l">
              <a:lnSpc>
                <a:spcPct val="100000"/>
              </a:lnSpc>
              <a:spcBef>
                <a:spcPts val="1600"/>
              </a:spcBef>
              <a:spcAft>
                <a:spcPts val="0"/>
              </a:spcAft>
              <a:buSzPts val="1400"/>
              <a:buChar char="○"/>
            </a:pPr>
            <a:r>
              <a:rPr lang="en" sz="1400"/>
              <a:t>Technical Skills</a:t>
            </a:r>
            <a:endParaRPr sz="1400"/>
          </a:p>
          <a:p>
            <a:pPr indent="-317500" lvl="1" marL="914400" rtl="0" algn="l">
              <a:lnSpc>
                <a:spcPct val="100000"/>
              </a:lnSpc>
              <a:spcBef>
                <a:spcPts val="1600"/>
              </a:spcBef>
              <a:spcAft>
                <a:spcPts val="0"/>
              </a:spcAft>
              <a:buSzPts val="1400"/>
              <a:buChar char="○"/>
            </a:pPr>
            <a:r>
              <a:rPr lang="en" sz="1400"/>
              <a:t>Coding </a:t>
            </a:r>
            <a:endParaRPr sz="1400"/>
          </a:p>
          <a:p>
            <a:pPr indent="-317500" lvl="0" marL="457200" rtl="0" algn="l">
              <a:lnSpc>
                <a:spcPct val="100000"/>
              </a:lnSpc>
              <a:spcBef>
                <a:spcPts val="1600"/>
              </a:spcBef>
              <a:spcAft>
                <a:spcPts val="0"/>
              </a:spcAft>
              <a:buSzPts val="1400"/>
              <a:buChar char="●"/>
            </a:pPr>
            <a:r>
              <a:rPr lang="en" sz="1400"/>
              <a:t>There were a total of 36 questions (only 1 coding question) to be solved in 60 minutes.No negative marking. Switching through sections of test allowed.</a:t>
            </a:r>
            <a:endParaRPr sz="1400"/>
          </a:p>
          <a:p>
            <a:pPr indent="-317500" lvl="0" marL="457200" rtl="0" algn="l">
              <a:lnSpc>
                <a:spcPct val="100000"/>
              </a:lnSpc>
              <a:spcBef>
                <a:spcPts val="1600"/>
              </a:spcBef>
              <a:spcAft>
                <a:spcPts val="1600"/>
              </a:spcAft>
              <a:buSzPts val="1400"/>
              <a:buChar char="●"/>
            </a:pPr>
            <a:r>
              <a:rPr lang="en" sz="1400"/>
              <a:t>The Aptitude questions were of easy difficulty with a few a couple of medium difficulty questions.</a:t>
            </a:r>
            <a:endParaRPr sz="1400"/>
          </a:p>
        </p:txBody>
      </p:sp>
      <p:sp>
        <p:nvSpPr>
          <p:cNvPr id="470" name="Google Shape;470;p6"/>
          <p:cNvSpPr txBox="1"/>
          <p:nvPr>
            <p:ph type="ctrTitle"/>
          </p:nvPr>
        </p:nvSpPr>
        <p:spPr>
          <a:xfrm>
            <a:off x="618825" y="119925"/>
            <a:ext cx="5337900" cy="869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sz="2800"/>
              <a:t>Round 1 - Online Test(7th August)</a:t>
            </a:r>
            <a:endParaRPr sz="2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
          <p:cNvSpPr txBox="1"/>
          <p:nvPr>
            <p:ph idx="1" type="body"/>
          </p:nvPr>
        </p:nvSpPr>
        <p:spPr>
          <a:xfrm>
            <a:off x="580550" y="1135775"/>
            <a:ext cx="7834500" cy="32874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Char char="●"/>
            </a:pPr>
            <a:r>
              <a:rPr lang="en" sz="1400"/>
              <a:t>The coding question was different for everyone and was of variable difficulty.</a:t>
            </a:r>
            <a:endParaRPr sz="1400"/>
          </a:p>
          <a:p>
            <a:pPr indent="-292100" lvl="0" marL="457200" rtl="0" algn="l">
              <a:lnSpc>
                <a:spcPct val="115000"/>
              </a:lnSpc>
              <a:spcBef>
                <a:spcPts val="1600"/>
              </a:spcBef>
              <a:spcAft>
                <a:spcPts val="0"/>
              </a:spcAft>
              <a:buSzPts val="1000"/>
              <a:buChar char="●"/>
            </a:pPr>
            <a:r>
              <a:rPr lang="en" sz="1400"/>
              <a:t>The question I got can be found </a:t>
            </a:r>
            <a:r>
              <a:rPr lang="en" sz="1400" u="sng">
                <a:solidFill>
                  <a:schemeClr val="hlink"/>
                </a:solidFill>
                <a:hlinkClick r:id="rId3"/>
              </a:rPr>
              <a:t>here</a:t>
            </a:r>
            <a:r>
              <a:rPr lang="en" sz="1400"/>
              <a:t>.</a:t>
            </a:r>
            <a:endParaRPr sz="1400"/>
          </a:p>
          <a:p>
            <a:pPr indent="-292100" lvl="0" marL="457200" rtl="0" algn="l">
              <a:lnSpc>
                <a:spcPct val="115000"/>
              </a:lnSpc>
              <a:spcBef>
                <a:spcPts val="1600"/>
              </a:spcBef>
              <a:spcAft>
                <a:spcPts val="0"/>
              </a:spcAft>
              <a:buSzPts val="1000"/>
              <a:buChar char="●"/>
            </a:pPr>
            <a:r>
              <a:rPr lang="en" sz="1400"/>
              <a:t>I attempted a brute force solution which passed 8/10 test cases.</a:t>
            </a:r>
            <a:endParaRPr sz="1400"/>
          </a:p>
          <a:p>
            <a:pPr indent="-317500" lvl="0" marL="457200" rtl="0" algn="l">
              <a:lnSpc>
                <a:spcPct val="115000"/>
              </a:lnSpc>
              <a:spcBef>
                <a:spcPts val="1600"/>
              </a:spcBef>
              <a:spcAft>
                <a:spcPts val="0"/>
              </a:spcAft>
              <a:buSzPts val="1400"/>
              <a:buChar char="●"/>
            </a:pPr>
            <a:r>
              <a:rPr lang="en" sz="1400"/>
              <a:t>Personally , I found the question to be of easy level. But due to the time constraint , it can be difficult to attempt the optimised solution .</a:t>
            </a:r>
            <a:endParaRPr sz="1400"/>
          </a:p>
          <a:p>
            <a:pPr indent="-292100" lvl="0" marL="457200" rtl="0" algn="l">
              <a:lnSpc>
                <a:spcPct val="115000"/>
              </a:lnSpc>
              <a:spcBef>
                <a:spcPts val="1600"/>
              </a:spcBef>
              <a:spcAft>
                <a:spcPts val="0"/>
              </a:spcAft>
              <a:buSzPts val="1000"/>
              <a:buChar char="●"/>
            </a:pPr>
            <a:r>
              <a:rPr lang="en" sz="1400"/>
              <a:t>You can practice aptitude on </a:t>
            </a:r>
            <a:r>
              <a:rPr lang="en" sz="1400" u="sng">
                <a:solidFill>
                  <a:schemeClr val="hlink"/>
                </a:solidFill>
                <a:hlinkClick r:id="rId4"/>
              </a:rPr>
              <a:t>Indiabix</a:t>
            </a:r>
            <a:r>
              <a:rPr lang="en" sz="1400"/>
              <a:t>, </a:t>
            </a:r>
            <a:r>
              <a:rPr lang="en" sz="1400" u="sng">
                <a:solidFill>
                  <a:schemeClr val="hlink"/>
                </a:solidFill>
                <a:hlinkClick r:id="rId5"/>
              </a:rPr>
              <a:t>G4G</a:t>
            </a:r>
            <a:r>
              <a:rPr lang="en" sz="1400"/>
              <a:t> and </a:t>
            </a:r>
            <a:r>
              <a:rPr lang="en" sz="1400" u="sng">
                <a:solidFill>
                  <a:schemeClr val="hlink"/>
                </a:solidFill>
                <a:hlinkClick r:id="rId6"/>
              </a:rPr>
              <a:t>Javatpoint</a:t>
            </a:r>
            <a:r>
              <a:rPr lang="en" sz="1400"/>
              <a:t> and coding problems on Leetcode, Hackerank and G4G.</a:t>
            </a:r>
            <a:endParaRPr sz="1400"/>
          </a:p>
          <a:p>
            <a:pPr indent="-292100" lvl="0" marL="457200" rtl="0" algn="l">
              <a:lnSpc>
                <a:spcPct val="115000"/>
              </a:lnSpc>
              <a:spcBef>
                <a:spcPts val="1600"/>
              </a:spcBef>
              <a:spcAft>
                <a:spcPts val="1600"/>
              </a:spcAft>
              <a:buSzPts val="1000"/>
              <a:buChar char="●"/>
            </a:pPr>
            <a:r>
              <a:rPr lang="en" sz="1400"/>
              <a:t>50 students were selected for the next round.</a:t>
            </a:r>
            <a:endParaRPr sz="1400"/>
          </a:p>
        </p:txBody>
      </p:sp>
      <p:sp>
        <p:nvSpPr>
          <p:cNvPr id="476" name="Google Shape;476;p7"/>
          <p:cNvSpPr txBox="1"/>
          <p:nvPr>
            <p:ph type="ctrTitle"/>
          </p:nvPr>
        </p:nvSpPr>
        <p:spPr>
          <a:xfrm>
            <a:off x="717800" y="399325"/>
            <a:ext cx="58101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sz="2800"/>
              <a:t>Round 1 - Online Test (continued)</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
          <p:cNvSpPr txBox="1"/>
          <p:nvPr>
            <p:ph idx="1" type="body"/>
          </p:nvPr>
        </p:nvSpPr>
        <p:spPr>
          <a:xfrm>
            <a:off x="471450" y="746300"/>
            <a:ext cx="8201100" cy="42165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The interview was conducted on Google Meet and lasted for about 30-40 minutes.</a:t>
            </a:r>
            <a:endParaRPr sz="1400"/>
          </a:p>
          <a:p>
            <a:pPr indent="-317500" lvl="0" marL="457200" rtl="0" algn="l">
              <a:lnSpc>
                <a:spcPct val="100000"/>
              </a:lnSpc>
              <a:spcBef>
                <a:spcPts val="1600"/>
              </a:spcBef>
              <a:spcAft>
                <a:spcPts val="0"/>
              </a:spcAft>
              <a:buSzPts val="1400"/>
              <a:buChar char="●"/>
            </a:pPr>
            <a:r>
              <a:rPr lang="en" sz="1400"/>
              <a:t>The interviewer was friendly and pretty chill.</a:t>
            </a:r>
            <a:endParaRPr sz="1400"/>
          </a:p>
          <a:p>
            <a:pPr indent="-317500" lvl="0" marL="457200" rtl="0" algn="l">
              <a:lnSpc>
                <a:spcPct val="100000"/>
              </a:lnSpc>
              <a:spcBef>
                <a:spcPts val="1600"/>
              </a:spcBef>
              <a:spcAft>
                <a:spcPts val="0"/>
              </a:spcAft>
              <a:buSzPts val="1400"/>
              <a:buChar char="●"/>
            </a:pPr>
            <a:r>
              <a:rPr lang="en" sz="1400"/>
              <a:t>The interview started with a short introduction of the interviewer followed by my introduction,through which she tried to make me comfortable with herself.</a:t>
            </a:r>
            <a:endParaRPr sz="1400"/>
          </a:p>
          <a:p>
            <a:pPr indent="-317500" lvl="0" marL="457200" rtl="0" algn="l">
              <a:lnSpc>
                <a:spcPct val="100000"/>
              </a:lnSpc>
              <a:spcBef>
                <a:spcPts val="1600"/>
              </a:spcBef>
              <a:spcAft>
                <a:spcPts val="0"/>
              </a:spcAft>
              <a:buSzPts val="1400"/>
              <a:buChar char="●"/>
            </a:pPr>
            <a:r>
              <a:rPr lang="en" sz="1400"/>
              <a:t>Since I had mentioned about my internship at Barclays in my resume, she asked about the details of my work during the internship period.</a:t>
            </a:r>
            <a:endParaRPr sz="1400"/>
          </a:p>
          <a:p>
            <a:pPr indent="-317500" lvl="1" marL="914400" rtl="0" algn="l">
              <a:lnSpc>
                <a:spcPct val="100000"/>
              </a:lnSpc>
              <a:spcBef>
                <a:spcPts val="1600"/>
              </a:spcBef>
              <a:spcAft>
                <a:spcPts val="0"/>
              </a:spcAft>
              <a:buSzPts val="1400"/>
              <a:buChar char="○"/>
            </a:pPr>
            <a:r>
              <a:rPr lang="en" sz="1400"/>
              <a:t>What kind of work I did during my internship?</a:t>
            </a:r>
            <a:endParaRPr sz="1400"/>
          </a:p>
          <a:p>
            <a:pPr indent="-317500" lvl="1" marL="914400" rtl="0" algn="l">
              <a:lnSpc>
                <a:spcPct val="100000"/>
              </a:lnSpc>
              <a:spcBef>
                <a:spcPts val="1600"/>
              </a:spcBef>
              <a:spcAft>
                <a:spcPts val="0"/>
              </a:spcAft>
              <a:buSzPts val="1400"/>
              <a:buChar char="○"/>
            </a:pPr>
            <a:r>
              <a:rPr lang="en" sz="1400"/>
              <a:t>What was the techstack I used?</a:t>
            </a:r>
            <a:endParaRPr sz="1400"/>
          </a:p>
          <a:p>
            <a:pPr indent="-317500" lvl="1" marL="914400" rtl="0" algn="l">
              <a:lnSpc>
                <a:spcPct val="100000"/>
              </a:lnSpc>
              <a:spcBef>
                <a:spcPts val="1600"/>
              </a:spcBef>
              <a:spcAft>
                <a:spcPts val="0"/>
              </a:spcAft>
              <a:buSzPts val="1400"/>
              <a:buChar char="○"/>
            </a:pPr>
            <a:r>
              <a:rPr lang="en" sz="1400"/>
              <a:t>How was my experience at Barclays?</a:t>
            </a:r>
            <a:endParaRPr sz="1400"/>
          </a:p>
          <a:p>
            <a:pPr indent="0" lvl="0" marL="91440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I had just completed my internship a few days back,I could confidently give all the answers . The discussion about my internship lasted for about 10 minutes.</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t/>
            </a:r>
            <a:endParaRPr sz="1400"/>
          </a:p>
          <a:p>
            <a:pPr indent="0" lvl="0" marL="91440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1600"/>
              </a:spcBef>
              <a:spcAft>
                <a:spcPts val="0"/>
              </a:spcAft>
              <a:buSzPts val="1200"/>
              <a:buNone/>
            </a:pPr>
            <a:r>
              <a:t/>
            </a:r>
            <a:endParaRPr sz="1400"/>
          </a:p>
          <a:p>
            <a:pPr indent="0" lvl="0" marL="457200" rtl="0" algn="l">
              <a:lnSpc>
                <a:spcPct val="100000"/>
              </a:lnSpc>
              <a:spcBef>
                <a:spcPts val="1600"/>
              </a:spcBef>
              <a:spcAft>
                <a:spcPts val="0"/>
              </a:spcAft>
              <a:buSzPts val="1200"/>
              <a:buNone/>
            </a:pPr>
            <a:r>
              <a:t/>
            </a:r>
            <a:endParaRPr sz="1400"/>
          </a:p>
          <a:p>
            <a:pPr indent="0" lvl="0" marL="457200" rtl="0" algn="l">
              <a:lnSpc>
                <a:spcPct val="100000"/>
              </a:lnSpc>
              <a:spcBef>
                <a:spcPts val="1600"/>
              </a:spcBef>
              <a:spcAft>
                <a:spcPts val="0"/>
              </a:spcAft>
              <a:buSzPts val="1200"/>
              <a:buNone/>
            </a:pPr>
            <a:r>
              <a:t/>
            </a:r>
            <a:endParaRPr sz="1400"/>
          </a:p>
        </p:txBody>
      </p:sp>
      <p:sp>
        <p:nvSpPr>
          <p:cNvPr id="482" name="Google Shape;482;p8"/>
          <p:cNvSpPr txBox="1"/>
          <p:nvPr>
            <p:ph type="ctrTitle"/>
          </p:nvPr>
        </p:nvSpPr>
        <p:spPr>
          <a:xfrm>
            <a:off x="471450" y="187700"/>
            <a:ext cx="6693600" cy="558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sz="2800"/>
              <a:t>Round 2 - Technical Interview (8th August)</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2b3e889b9f3_2_3"/>
          <p:cNvSpPr txBox="1"/>
          <p:nvPr>
            <p:ph idx="1" type="body"/>
          </p:nvPr>
        </p:nvSpPr>
        <p:spPr>
          <a:xfrm>
            <a:off x="519875" y="911250"/>
            <a:ext cx="8031300" cy="38400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Next, she moved forward with the following questions</a:t>
            </a:r>
            <a:endParaRPr sz="1400"/>
          </a:p>
          <a:p>
            <a:pPr indent="0" lvl="0" marL="457200" rtl="0" algn="l">
              <a:lnSpc>
                <a:spcPct val="100000"/>
              </a:lnSpc>
              <a:spcBef>
                <a:spcPts val="0"/>
              </a:spcBef>
              <a:spcAft>
                <a:spcPts val="0"/>
              </a:spcAft>
              <a:buSzPts val="1200"/>
              <a:buNone/>
            </a:pPr>
            <a:r>
              <a:t/>
            </a:r>
            <a:endParaRPr sz="1400"/>
          </a:p>
          <a:p>
            <a:pPr indent="-317500" lvl="1" marL="914400" rtl="0" algn="l">
              <a:lnSpc>
                <a:spcPct val="100000"/>
              </a:lnSpc>
              <a:spcBef>
                <a:spcPts val="0"/>
              </a:spcBef>
              <a:spcAft>
                <a:spcPts val="0"/>
              </a:spcAft>
              <a:buClr>
                <a:srgbClr val="FFFFFF"/>
              </a:buClr>
              <a:buSzPts val="1400"/>
              <a:buChar char="○"/>
            </a:pPr>
            <a:r>
              <a:rPr lang="en" sz="1400">
                <a:solidFill>
                  <a:srgbClr val="FFFFFF"/>
                </a:solidFill>
              </a:rPr>
              <a:t>What languages I was comfortable in.</a:t>
            </a:r>
            <a:endParaRPr sz="1400">
              <a:solidFill>
                <a:srgbClr val="FFFFFF"/>
              </a:solidFill>
            </a:endParaRPr>
          </a:p>
          <a:p>
            <a:pPr indent="0" lvl="0" marL="914400" rtl="0" algn="l">
              <a:lnSpc>
                <a:spcPct val="100000"/>
              </a:lnSpc>
              <a:spcBef>
                <a:spcPts val="0"/>
              </a:spcBef>
              <a:spcAft>
                <a:spcPts val="0"/>
              </a:spcAft>
              <a:buSzPts val="1200"/>
              <a:buNone/>
            </a:pPr>
            <a:r>
              <a:t/>
            </a:r>
            <a:endParaRPr sz="1400">
              <a:solidFill>
                <a:srgbClr val="FFFFFF"/>
              </a:solidFill>
            </a:endParaRPr>
          </a:p>
          <a:p>
            <a:pPr indent="-317500" lvl="1" marL="914400" rtl="0" algn="l">
              <a:lnSpc>
                <a:spcPct val="100000"/>
              </a:lnSpc>
              <a:spcBef>
                <a:spcPts val="0"/>
              </a:spcBef>
              <a:spcAft>
                <a:spcPts val="0"/>
              </a:spcAft>
              <a:buClr>
                <a:srgbClr val="FFFFFF"/>
              </a:buClr>
              <a:buSzPts val="1400"/>
              <a:buChar char="○"/>
            </a:pPr>
            <a:r>
              <a:rPr b="1" lang="en" sz="1400">
                <a:solidFill>
                  <a:srgbClr val="FFFFFF"/>
                </a:solidFill>
              </a:rPr>
              <a:t>Questions on OOPS:</a:t>
            </a:r>
            <a:endParaRPr b="1" sz="1400">
              <a:solidFill>
                <a:srgbClr val="FFFFFF"/>
              </a:solidFill>
            </a:endParaRPr>
          </a:p>
          <a:p>
            <a:pPr indent="-317500" lvl="2" marL="1371600" rtl="0" algn="l">
              <a:lnSpc>
                <a:spcPct val="100000"/>
              </a:lnSpc>
              <a:spcBef>
                <a:spcPts val="0"/>
              </a:spcBef>
              <a:spcAft>
                <a:spcPts val="0"/>
              </a:spcAft>
              <a:buClr>
                <a:srgbClr val="FFFFFF"/>
              </a:buClr>
              <a:buSzPts val="1400"/>
              <a:buChar char="■"/>
            </a:pPr>
            <a:r>
              <a:rPr lang="en" sz="1400">
                <a:solidFill>
                  <a:srgbClr val="FFFFFF"/>
                </a:solidFill>
              </a:rPr>
              <a:t>What is OOPS?</a:t>
            </a:r>
            <a:endParaRPr sz="1400">
              <a:solidFill>
                <a:srgbClr val="FFFFFF"/>
              </a:solidFill>
            </a:endParaRPr>
          </a:p>
          <a:p>
            <a:pPr indent="-317500" lvl="2" marL="1371600" rtl="0" algn="l">
              <a:lnSpc>
                <a:spcPct val="100000"/>
              </a:lnSpc>
              <a:spcBef>
                <a:spcPts val="0"/>
              </a:spcBef>
              <a:spcAft>
                <a:spcPts val="0"/>
              </a:spcAft>
              <a:buClr>
                <a:srgbClr val="FFFFFF"/>
              </a:buClr>
              <a:buSzPts val="1400"/>
              <a:buChar char="■"/>
            </a:pPr>
            <a:r>
              <a:rPr lang="en" sz="1400">
                <a:solidFill>
                  <a:srgbClr val="FFFFFF"/>
                </a:solidFill>
              </a:rPr>
              <a:t>Polymorphism</a:t>
            </a:r>
            <a:endParaRPr sz="1400">
              <a:solidFill>
                <a:srgbClr val="FFFFFF"/>
              </a:solidFill>
            </a:endParaRPr>
          </a:p>
          <a:p>
            <a:pPr indent="-317500" lvl="2" marL="1371600" rtl="0" algn="l">
              <a:lnSpc>
                <a:spcPct val="100000"/>
              </a:lnSpc>
              <a:spcBef>
                <a:spcPts val="0"/>
              </a:spcBef>
              <a:spcAft>
                <a:spcPts val="0"/>
              </a:spcAft>
              <a:buClr>
                <a:srgbClr val="FFFFFF"/>
              </a:buClr>
              <a:buSzPts val="1400"/>
              <a:buChar char="■"/>
            </a:pPr>
            <a:r>
              <a:rPr lang="en" sz="1400">
                <a:solidFill>
                  <a:srgbClr val="FFFFFF"/>
                </a:solidFill>
              </a:rPr>
              <a:t>Abstraction</a:t>
            </a:r>
            <a:endParaRPr sz="1400">
              <a:solidFill>
                <a:srgbClr val="FFFFFF"/>
              </a:solidFill>
            </a:endParaRPr>
          </a:p>
          <a:p>
            <a:pPr indent="-317500" lvl="2" marL="1371600" rtl="0" algn="l">
              <a:lnSpc>
                <a:spcPct val="100000"/>
              </a:lnSpc>
              <a:spcBef>
                <a:spcPts val="0"/>
              </a:spcBef>
              <a:spcAft>
                <a:spcPts val="0"/>
              </a:spcAft>
              <a:buClr>
                <a:srgbClr val="FFFFFF"/>
              </a:buClr>
              <a:buSzPts val="1400"/>
              <a:buChar char="■"/>
            </a:pPr>
            <a:r>
              <a:rPr lang="en" sz="1400">
                <a:solidFill>
                  <a:srgbClr val="FFFFFF"/>
                </a:solidFill>
              </a:rPr>
              <a:t>Inheritance and its Types</a:t>
            </a:r>
            <a:endParaRPr sz="1400">
              <a:solidFill>
                <a:srgbClr val="FFFFFF"/>
              </a:solidFill>
            </a:endParaRPr>
          </a:p>
          <a:p>
            <a:pPr indent="0" lvl="0" marL="1371600" rtl="0" algn="l">
              <a:lnSpc>
                <a:spcPct val="100000"/>
              </a:lnSpc>
              <a:spcBef>
                <a:spcPts val="0"/>
              </a:spcBef>
              <a:spcAft>
                <a:spcPts val="0"/>
              </a:spcAft>
              <a:buSzPts val="1200"/>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I tried to explain all the above concepts by giving examples</a:t>
            </a:r>
            <a:endParaRPr sz="1400">
              <a:solidFill>
                <a:srgbClr val="FFFFFF"/>
              </a:solidFill>
            </a:endParaRPr>
          </a:p>
          <a:p>
            <a:pPr indent="0" lvl="0" marL="0" rtl="0" algn="l">
              <a:lnSpc>
                <a:spcPct val="100000"/>
              </a:lnSpc>
              <a:spcBef>
                <a:spcPts val="0"/>
              </a:spcBef>
              <a:spcAft>
                <a:spcPts val="0"/>
              </a:spcAft>
              <a:buSzPts val="1200"/>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She then asked me what does static mean in the statement public static void main.</a:t>
            </a:r>
            <a:endParaRPr sz="1400">
              <a:solidFill>
                <a:srgbClr val="FFFFFF"/>
              </a:solidFill>
            </a:endParaRPr>
          </a:p>
          <a:p>
            <a:pPr indent="0" lvl="0" marL="914400" rtl="0" algn="l">
              <a:lnSpc>
                <a:spcPct val="100000"/>
              </a:lnSpc>
              <a:spcBef>
                <a:spcPts val="0"/>
              </a:spcBef>
              <a:spcAft>
                <a:spcPts val="0"/>
              </a:spcAft>
              <a:buSzPts val="1200"/>
              <a:buNone/>
            </a:pPr>
            <a:r>
              <a:t/>
            </a:r>
            <a:endParaRPr sz="1400">
              <a:solidFill>
                <a:srgbClr val="FFFFFF"/>
              </a:solidFill>
            </a:endParaRPr>
          </a:p>
          <a:p>
            <a:pPr indent="-317500" lvl="0" marL="457200" rtl="0" algn="l">
              <a:lnSpc>
                <a:spcPct val="100000"/>
              </a:lnSpc>
              <a:spcBef>
                <a:spcPts val="0"/>
              </a:spcBef>
              <a:spcAft>
                <a:spcPts val="0"/>
              </a:spcAft>
              <a:buClr>
                <a:srgbClr val="FFFFFF"/>
              </a:buClr>
              <a:buSzPts val="1400"/>
              <a:buChar char="●"/>
            </a:pPr>
            <a:r>
              <a:rPr lang="en" sz="1400">
                <a:solidFill>
                  <a:srgbClr val="FFFFFF"/>
                </a:solidFill>
              </a:rPr>
              <a:t>After all these questions , she asked me whether I am comfortable with DBMS and SQL concepts. I answered </a:t>
            </a:r>
            <a:r>
              <a:rPr b="1" lang="en" sz="1400">
                <a:solidFill>
                  <a:srgbClr val="FFFFFF"/>
                </a:solidFill>
              </a:rPr>
              <a:t>YES !</a:t>
            </a:r>
            <a:r>
              <a:rPr lang="en" sz="1400">
                <a:solidFill>
                  <a:srgbClr val="FFFFFF"/>
                </a:solidFill>
              </a:rPr>
              <a:t>(Please prepare OOPS and DBMS concepts well in advance.)</a:t>
            </a:r>
            <a:endParaRPr sz="1400">
              <a:solidFill>
                <a:srgbClr val="FFFFFF"/>
              </a:solidFill>
            </a:endParaRPr>
          </a:p>
          <a:p>
            <a:pPr indent="0" lvl="0" marL="914400" rtl="0" algn="l">
              <a:lnSpc>
                <a:spcPct val="100000"/>
              </a:lnSpc>
              <a:spcBef>
                <a:spcPts val="0"/>
              </a:spcBef>
              <a:spcAft>
                <a:spcPts val="0"/>
              </a:spcAft>
              <a:buSzPts val="1200"/>
              <a:buNone/>
            </a:pPr>
            <a:r>
              <a:t/>
            </a:r>
            <a:endParaRPr sz="1400">
              <a:solidFill>
                <a:srgbClr val="FFFFFF"/>
              </a:solidFill>
            </a:endParaRPr>
          </a:p>
          <a:p>
            <a:pPr indent="0" lvl="0" marL="457200" rtl="0" algn="l">
              <a:lnSpc>
                <a:spcPct val="100000"/>
              </a:lnSpc>
              <a:spcBef>
                <a:spcPts val="0"/>
              </a:spcBef>
              <a:spcAft>
                <a:spcPts val="0"/>
              </a:spcAft>
              <a:buSzPts val="1200"/>
              <a:buNone/>
            </a:pPr>
            <a:r>
              <a:t/>
            </a:r>
            <a:endParaRPr sz="1400"/>
          </a:p>
        </p:txBody>
      </p:sp>
      <p:sp>
        <p:nvSpPr>
          <p:cNvPr id="488" name="Google Shape;488;g2b3e889b9f3_2_3"/>
          <p:cNvSpPr txBox="1"/>
          <p:nvPr>
            <p:ph type="ctrTitle"/>
          </p:nvPr>
        </p:nvSpPr>
        <p:spPr>
          <a:xfrm>
            <a:off x="433275" y="287975"/>
            <a:ext cx="64974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Font typeface="Arial"/>
              <a:buNone/>
            </a:pPr>
            <a:r>
              <a:rPr lang="en" sz="2800"/>
              <a:t>Round 2 - Technical Interview (Continued)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9"/>
          <p:cNvSpPr txBox="1"/>
          <p:nvPr>
            <p:ph idx="1" type="body"/>
          </p:nvPr>
        </p:nvSpPr>
        <p:spPr>
          <a:xfrm>
            <a:off x="495125" y="952375"/>
            <a:ext cx="8192100" cy="39330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b="1" lang="en" sz="1400"/>
              <a:t>Questions on DBMS:</a:t>
            </a:r>
            <a:endParaRPr b="1" sz="1400"/>
          </a:p>
          <a:p>
            <a:pPr indent="-317500" lvl="1" marL="914400" rtl="0" algn="l">
              <a:lnSpc>
                <a:spcPct val="100000"/>
              </a:lnSpc>
              <a:spcBef>
                <a:spcPts val="1600"/>
              </a:spcBef>
              <a:spcAft>
                <a:spcPts val="0"/>
              </a:spcAft>
              <a:buSzPts val="1400"/>
              <a:buChar char="○"/>
            </a:pPr>
            <a:r>
              <a:rPr lang="en" sz="1400"/>
              <a:t>Joins and its Types</a:t>
            </a:r>
            <a:endParaRPr sz="1400"/>
          </a:p>
          <a:p>
            <a:pPr indent="-317500" lvl="1" marL="914400" rtl="0" algn="l">
              <a:lnSpc>
                <a:spcPct val="100000"/>
              </a:lnSpc>
              <a:spcBef>
                <a:spcPts val="0"/>
              </a:spcBef>
              <a:spcAft>
                <a:spcPts val="0"/>
              </a:spcAft>
              <a:buSzPts val="1400"/>
              <a:buChar char="○"/>
            </a:pPr>
            <a:r>
              <a:rPr lang="en" sz="1400"/>
              <a:t>Difference between Delete Table and Truncate Table</a:t>
            </a:r>
            <a:endParaRPr sz="1400"/>
          </a:p>
          <a:p>
            <a:pPr indent="-317500" lvl="1" marL="914400" rtl="0" algn="l">
              <a:lnSpc>
                <a:spcPct val="100000"/>
              </a:lnSpc>
              <a:spcBef>
                <a:spcPts val="0"/>
              </a:spcBef>
              <a:spcAft>
                <a:spcPts val="0"/>
              </a:spcAft>
              <a:buSzPts val="1400"/>
              <a:buChar char="○"/>
            </a:pPr>
            <a:r>
              <a:rPr lang="en" sz="1400"/>
              <a:t>SQL Queries on Supermart Database with 2 Tables,Customer(Id,Name,item_desc,quantity,price,etc.. ) and Item(id,name,expiry_date,category,etc..)</a:t>
            </a:r>
            <a:endParaRPr i="1" sz="1400"/>
          </a:p>
          <a:p>
            <a:pPr indent="-317500" lvl="1" marL="914400" rtl="0" algn="l">
              <a:lnSpc>
                <a:spcPct val="100000"/>
              </a:lnSpc>
              <a:spcBef>
                <a:spcPts val="0"/>
              </a:spcBef>
              <a:spcAft>
                <a:spcPts val="0"/>
              </a:spcAft>
              <a:buSzPts val="1400"/>
              <a:buChar char="○"/>
            </a:pPr>
            <a:r>
              <a:rPr lang="en" sz="1400"/>
              <a:t>(Can’t remember the exact question on queries,but it was based on inner join of the above tables)	</a:t>
            </a:r>
            <a:endParaRPr sz="1400"/>
          </a:p>
          <a:p>
            <a:pPr indent="-317500" lvl="1" marL="914400" rtl="0" algn="l">
              <a:lnSpc>
                <a:spcPct val="100000"/>
              </a:lnSpc>
              <a:spcBef>
                <a:spcPts val="0"/>
              </a:spcBef>
              <a:spcAft>
                <a:spcPts val="0"/>
              </a:spcAft>
              <a:buSzPts val="1400"/>
              <a:buChar char="○"/>
            </a:pPr>
            <a:r>
              <a:rPr lang="en" sz="1400"/>
              <a:t>Indexing in SQL(I only knew the concept which i explained with the help of an example ,she asked me whether I could implement it .Since I didn’t know the implementation , I was honest and said </a:t>
            </a:r>
            <a:r>
              <a:rPr b="1" lang="en" sz="1400"/>
              <a:t>NO.</a:t>
            </a:r>
            <a:r>
              <a:rPr lang="en" sz="1400"/>
              <a:t>)</a:t>
            </a:r>
            <a:endParaRPr sz="1400"/>
          </a:p>
          <a:p>
            <a:pPr indent="-317500" lvl="0" marL="457200" rtl="0" algn="l">
              <a:lnSpc>
                <a:spcPct val="100000"/>
              </a:lnSpc>
              <a:spcBef>
                <a:spcPts val="1600"/>
              </a:spcBef>
              <a:spcAft>
                <a:spcPts val="0"/>
              </a:spcAft>
              <a:buSzPts val="1400"/>
              <a:buChar char="●"/>
            </a:pPr>
            <a:r>
              <a:rPr lang="en" sz="1400"/>
              <a:t>At the end of the interview, she asked If I had any questions for her , so I asked a how her normal day at IVP looks like.</a:t>
            </a:r>
            <a:endParaRPr sz="1400"/>
          </a:p>
          <a:p>
            <a:pPr indent="-317500" lvl="0" marL="457200" rtl="0" algn="l">
              <a:lnSpc>
                <a:spcPct val="100000"/>
              </a:lnSpc>
              <a:spcBef>
                <a:spcPts val="1600"/>
              </a:spcBef>
              <a:spcAft>
                <a:spcPts val="1600"/>
              </a:spcAft>
              <a:buSzPts val="1400"/>
              <a:buChar char="●"/>
            </a:pPr>
            <a:r>
              <a:rPr lang="en" sz="1400"/>
              <a:t>I was shortlisted for the next - Director round.</a:t>
            </a:r>
            <a:endParaRPr sz="1400"/>
          </a:p>
        </p:txBody>
      </p:sp>
      <p:sp>
        <p:nvSpPr>
          <p:cNvPr id="494" name="Google Shape;494;p9"/>
          <p:cNvSpPr txBox="1"/>
          <p:nvPr>
            <p:ph type="ctrTitle"/>
          </p:nvPr>
        </p:nvSpPr>
        <p:spPr>
          <a:xfrm>
            <a:off x="631175" y="374575"/>
            <a:ext cx="72417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sz="2800"/>
              <a:t>Round 2- Technical Interview (continued)</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0"/>
          <p:cNvSpPr txBox="1"/>
          <p:nvPr>
            <p:ph idx="1" type="body"/>
          </p:nvPr>
        </p:nvSpPr>
        <p:spPr>
          <a:xfrm>
            <a:off x="259744" y="1071629"/>
            <a:ext cx="8006700" cy="365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The interview again was on Google Meet and lasted for 15-20 minutes.</a:t>
            </a:r>
            <a:endParaRPr sz="1400"/>
          </a:p>
          <a:p>
            <a:pPr indent="0" lvl="0" marL="457200" rtl="0" algn="l">
              <a:lnSpc>
                <a:spcPct val="115000"/>
              </a:lnSpc>
              <a:spcBef>
                <a:spcPts val="0"/>
              </a:spcBef>
              <a:spcAft>
                <a:spcPts val="0"/>
              </a:spcAft>
              <a:buSzPts val="1200"/>
              <a:buNone/>
            </a:pPr>
            <a:r>
              <a:t/>
            </a:r>
            <a:endParaRPr sz="1400"/>
          </a:p>
          <a:p>
            <a:pPr indent="-317500" lvl="0" marL="457200" rtl="0" algn="l">
              <a:lnSpc>
                <a:spcPct val="115000"/>
              </a:lnSpc>
              <a:spcBef>
                <a:spcPts val="0"/>
              </a:spcBef>
              <a:spcAft>
                <a:spcPts val="0"/>
              </a:spcAft>
              <a:buSzPts val="1400"/>
              <a:buChar char="●"/>
            </a:pPr>
            <a:r>
              <a:rPr lang="en" sz="1400"/>
              <a:t>It was conducted 1 hr after the 2nd round completed, however I had received the meet link for Director round just ten minutes after my Technical Interview.  </a:t>
            </a:r>
            <a:endParaRPr sz="1400"/>
          </a:p>
          <a:p>
            <a:pPr indent="-317500" lvl="0" marL="457200" rtl="0" algn="l">
              <a:lnSpc>
                <a:spcPct val="115000"/>
              </a:lnSpc>
              <a:spcBef>
                <a:spcPts val="1600"/>
              </a:spcBef>
              <a:spcAft>
                <a:spcPts val="0"/>
              </a:spcAft>
              <a:buSzPts val="1400"/>
              <a:buChar char="●"/>
            </a:pPr>
            <a:r>
              <a:rPr lang="en" sz="1400"/>
              <a:t>The interview was Conversation-types, with the Director being friendly. The Director went through my resume and asked me about my internship period at Barclays.                    (The questions were similar that were asked during my technical interview.)</a:t>
            </a:r>
            <a:endParaRPr sz="1400"/>
          </a:p>
          <a:p>
            <a:pPr indent="-317500" lvl="0" marL="457200" rtl="0" algn="l">
              <a:lnSpc>
                <a:spcPct val="115000"/>
              </a:lnSpc>
              <a:spcBef>
                <a:spcPts val="1600"/>
              </a:spcBef>
              <a:spcAft>
                <a:spcPts val="0"/>
              </a:spcAft>
              <a:buSzPts val="1400"/>
              <a:buChar char="●"/>
            </a:pPr>
            <a:r>
              <a:rPr lang="en" sz="1400"/>
              <a:t>He also asked whether Barclays gives PPO offers and whether I was expecting one or not ?(I didn’t answer with a </a:t>
            </a:r>
            <a:r>
              <a:rPr b="1" lang="en" sz="1400"/>
              <a:t>YES </a:t>
            </a:r>
            <a:r>
              <a:rPr lang="en" sz="1400"/>
              <a:t>or </a:t>
            </a:r>
            <a:r>
              <a:rPr b="1" lang="en" sz="1400"/>
              <a:t>NO </a:t>
            </a:r>
            <a:r>
              <a:rPr lang="en" sz="1400"/>
              <a:t>directly :), I told that I gave my 100% during my internship.</a:t>
            </a:r>
            <a:endParaRPr sz="1400"/>
          </a:p>
          <a:p>
            <a:pPr indent="-317500" lvl="0" marL="457200" rtl="0" algn="l">
              <a:lnSpc>
                <a:spcPct val="115000"/>
              </a:lnSpc>
              <a:spcBef>
                <a:spcPts val="1600"/>
              </a:spcBef>
              <a:spcAft>
                <a:spcPts val="0"/>
              </a:spcAft>
              <a:buSzPts val="1400"/>
              <a:buChar char="●"/>
            </a:pPr>
            <a:r>
              <a:rPr lang="en" sz="1400"/>
              <a:t>At the end , he also asked If I had any questions for him ,I asked the same question that I asked during my technical interview ;) </a:t>
            </a:r>
            <a:endParaRPr sz="1400"/>
          </a:p>
          <a:p>
            <a:pPr indent="0" lvl="0" marL="457200" rtl="0" algn="l">
              <a:lnSpc>
                <a:spcPct val="115000"/>
              </a:lnSpc>
              <a:spcBef>
                <a:spcPts val="1600"/>
              </a:spcBef>
              <a:spcAft>
                <a:spcPts val="0"/>
              </a:spcAft>
              <a:buSzPts val="1200"/>
              <a:buNone/>
            </a:pPr>
            <a:r>
              <a:t/>
            </a:r>
            <a:endParaRPr sz="1400"/>
          </a:p>
        </p:txBody>
      </p:sp>
      <p:sp>
        <p:nvSpPr>
          <p:cNvPr id="500" name="Google Shape;500;p10"/>
          <p:cNvSpPr txBox="1"/>
          <p:nvPr>
            <p:ph type="ctrTitle"/>
          </p:nvPr>
        </p:nvSpPr>
        <p:spPr>
          <a:xfrm>
            <a:off x="705425" y="263250"/>
            <a:ext cx="66591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sz="2800"/>
              <a:t>Round 3 - Director Interview</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1"/>
          <p:cNvSpPr txBox="1"/>
          <p:nvPr>
            <p:ph idx="1" type="body"/>
          </p:nvPr>
        </p:nvSpPr>
        <p:spPr>
          <a:xfrm>
            <a:off x="532250" y="1226775"/>
            <a:ext cx="8105700" cy="31863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1600"/>
              </a:spcBef>
              <a:spcAft>
                <a:spcPts val="0"/>
              </a:spcAft>
              <a:buSzPts val="1400"/>
              <a:buChar char="●"/>
            </a:pPr>
            <a:r>
              <a:rPr lang="en" sz="1400"/>
              <a:t>HR Round was conducted separately after the Director Interview. It was conducted after 30 mins of the Director Interview.</a:t>
            </a:r>
            <a:endParaRPr sz="1400"/>
          </a:p>
          <a:p>
            <a:pPr indent="-317500" lvl="0" marL="457200" rtl="0" algn="l">
              <a:lnSpc>
                <a:spcPct val="150000"/>
              </a:lnSpc>
              <a:spcBef>
                <a:spcPts val="0"/>
              </a:spcBef>
              <a:spcAft>
                <a:spcPts val="0"/>
              </a:spcAft>
              <a:buSzPts val="1400"/>
              <a:buChar char="●"/>
            </a:pPr>
            <a:r>
              <a:rPr lang="en" sz="1400"/>
              <a:t>It was a pretty chill round with the HR only which lasted for hardly 10 mins .</a:t>
            </a:r>
            <a:endParaRPr sz="1400"/>
          </a:p>
          <a:p>
            <a:pPr indent="-317500" lvl="0" marL="457200" rtl="0" algn="l">
              <a:lnSpc>
                <a:spcPct val="150000"/>
              </a:lnSpc>
              <a:spcBef>
                <a:spcPts val="0"/>
              </a:spcBef>
              <a:spcAft>
                <a:spcPts val="0"/>
              </a:spcAft>
              <a:buSzPts val="1400"/>
              <a:buChar char="●"/>
            </a:pPr>
            <a:r>
              <a:rPr lang="en" sz="1400"/>
              <a:t>She just asked me about my introduction , my hobbies .</a:t>
            </a:r>
            <a:endParaRPr sz="1400"/>
          </a:p>
          <a:p>
            <a:pPr indent="-317500" lvl="0" marL="457200" rtl="0" algn="l">
              <a:lnSpc>
                <a:spcPct val="150000"/>
              </a:lnSpc>
              <a:spcBef>
                <a:spcPts val="0"/>
              </a:spcBef>
              <a:spcAft>
                <a:spcPts val="0"/>
              </a:spcAft>
              <a:buSzPts val="1400"/>
              <a:buChar char="●"/>
            </a:pPr>
            <a:r>
              <a:rPr lang="en" sz="1400"/>
              <a:t>She also asked me about my family , how many members , what is the occupation of my family members.</a:t>
            </a:r>
            <a:endParaRPr sz="1400"/>
          </a:p>
          <a:p>
            <a:pPr indent="-317500" lvl="0" marL="457200" rtl="0" algn="l">
              <a:lnSpc>
                <a:spcPct val="150000"/>
              </a:lnSpc>
              <a:spcBef>
                <a:spcPts val="0"/>
              </a:spcBef>
              <a:spcAft>
                <a:spcPts val="0"/>
              </a:spcAft>
              <a:buSzPts val="1400"/>
              <a:buChar char="●"/>
            </a:pPr>
            <a:r>
              <a:rPr lang="en" sz="1400"/>
              <a:t>The results came out after 5 days .</a:t>
            </a:r>
            <a:endParaRPr sz="1400"/>
          </a:p>
          <a:p>
            <a:pPr indent="-317500" lvl="0" marL="457200" rtl="0" algn="l">
              <a:lnSpc>
                <a:spcPct val="150000"/>
              </a:lnSpc>
              <a:spcBef>
                <a:spcPts val="0"/>
              </a:spcBef>
              <a:spcAft>
                <a:spcPts val="0"/>
              </a:spcAft>
              <a:buSzPts val="1400"/>
              <a:buChar char="●"/>
            </a:pPr>
            <a:r>
              <a:rPr lang="en" sz="1400"/>
              <a:t>4 students were selected finally (1 from CMPN and 3 from IT)</a:t>
            </a:r>
            <a:endParaRPr sz="1400"/>
          </a:p>
        </p:txBody>
      </p:sp>
      <p:sp>
        <p:nvSpPr>
          <p:cNvPr id="506" name="Google Shape;506;p11"/>
          <p:cNvSpPr txBox="1"/>
          <p:nvPr>
            <p:ph type="ctrTitle"/>
          </p:nvPr>
        </p:nvSpPr>
        <p:spPr>
          <a:xfrm>
            <a:off x="532250" y="488075"/>
            <a:ext cx="6448200" cy="580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Round 3 - HR Interview (continued)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2"/>
          <p:cNvSpPr txBox="1"/>
          <p:nvPr>
            <p:ph idx="1" type="body"/>
          </p:nvPr>
        </p:nvSpPr>
        <p:spPr>
          <a:xfrm>
            <a:off x="605400" y="1190600"/>
            <a:ext cx="7933200" cy="3534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Be attentive during the Pre-placement talks as questions may be asked about during the Interviews.</a:t>
            </a:r>
            <a:endParaRPr sz="1400"/>
          </a:p>
          <a:p>
            <a:pPr indent="-317500" lvl="0" marL="457200" rtl="0" algn="l">
              <a:lnSpc>
                <a:spcPct val="115000"/>
              </a:lnSpc>
              <a:spcBef>
                <a:spcPts val="1600"/>
              </a:spcBef>
              <a:spcAft>
                <a:spcPts val="0"/>
              </a:spcAft>
              <a:buSzPts val="1400"/>
              <a:buChar char="●"/>
            </a:pPr>
            <a:r>
              <a:rPr lang="en" sz="1400"/>
              <a:t>Take some time (not a lot :p) to think about your answer before you answer.</a:t>
            </a:r>
            <a:endParaRPr sz="1400"/>
          </a:p>
          <a:p>
            <a:pPr indent="-317500" lvl="0" marL="457200" rtl="0" algn="l">
              <a:lnSpc>
                <a:spcPct val="115000"/>
              </a:lnSpc>
              <a:spcBef>
                <a:spcPts val="1600"/>
              </a:spcBef>
              <a:spcAft>
                <a:spcPts val="0"/>
              </a:spcAft>
              <a:buSzPts val="1400"/>
              <a:buChar char="●"/>
            </a:pPr>
            <a:r>
              <a:rPr lang="en" sz="1400"/>
              <a:t>Try to include an example with each answer.</a:t>
            </a:r>
            <a:endParaRPr sz="1400"/>
          </a:p>
          <a:p>
            <a:pPr indent="-317500" lvl="0" marL="457200" rtl="0" algn="l">
              <a:lnSpc>
                <a:spcPct val="115000"/>
              </a:lnSpc>
              <a:spcBef>
                <a:spcPts val="1600"/>
              </a:spcBef>
              <a:spcAft>
                <a:spcPts val="0"/>
              </a:spcAft>
              <a:buSzPts val="1400"/>
              <a:buChar char="●"/>
            </a:pPr>
            <a:r>
              <a:rPr lang="en" sz="1400"/>
              <a:t>It’s better to be honest when you are not sure about something rather than faking an answer.</a:t>
            </a:r>
            <a:endParaRPr sz="1400"/>
          </a:p>
          <a:p>
            <a:pPr indent="-317500" lvl="0" marL="457200" rtl="0" algn="l">
              <a:lnSpc>
                <a:spcPct val="115000"/>
              </a:lnSpc>
              <a:spcBef>
                <a:spcPts val="1600"/>
              </a:spcBef>
              <a:spcAft>
                <a:spcPts val="0"/>
              </a:spcAft>
              <a:buSzPts val="1400"/>
              <a:buChar char="●"/>
            </a:pPr>
            <a:r>
              <a:rPr lang="en" sz="1400"/>
              <a:t>Understand the interviewer’s demeanor (aka vibes) and act accordingly.</a:t>
            </a:r>
            <a:endParaRPr sz="1400"/>
          </a:p>
          <a:p>
            <a:pPr indent="-317500" lvl="0" marL="457200" rtl="0" algn="l">
              <a:lnSpc>
                <a:spcPct val="115000"/>
              </a:lnSpc>
              <a:spcBef>
                <a:spcPts val="1600"/>
              </a:spcBef>
              <a:spcAft>
                <a:spcPts val="1600"/>
              </a:spcAft>
              <a:buSzPts val="1400"/>
              <a:buChar char="●"/>
            </a:pPr>
            <a:r>
              <a:rPr lang="en" sz="1400"/>
              <a:t>Don’t worry if you get disconnected from the meet or if your mic stops working. (speaking from experience here). Definitely don’t ask them “Where were we?” instead of “Where did I lose you?” (again speaking from experience here).</a:t>
            </a:r>
            <a:endParaRPr sz="1400"/>
          </a:p>
        </p:txBody>
      </p:sp>
      <p:sp>
        <p:nvSpPr>
          <p:cNvPr id="512" name="Google Shape;512;p12"/>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General Tips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3"/>
          <p:cNvSpPr txBox="1"/>
          <p:nvPr>
            <p:ph type="title"/>
          </p:nvPr>
        </p:nvSpPr>
        <p:spPr>
          <a:xfrm>
            <a:off x="1400400" y="1341450"/>
            <a:ext cx="6343200" cy="1230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2000"/>
              <a:buNone/>
            </a:pPr>
            <a:r>
              <a:rPr lang="en" sz="3000"/>
              <a:t>Contact: </a:t>
            </a:r>
            <a:r>
              <a:rPr lang="en" sz="2800" u="sng">
                <a:solidFill>
                  <a:schemeClr val="hlink"/>
                </a:solidFill>
                <a:hlinkClick r:id="rId3"/>
              </a:rPr>
              <a:t>2020.jasmine.dhirwani@ves.ac.in</a:t>
            </a:r>
            <a:endParaRPr sz="2800">
              <a:solidFill>
                <a:schemeClr val="lt1"/>
              </a:solidFill>
            </a:endParaRPr>
          </a:p>
          <a:p>
            <a:pPr indent="0" lvl="0" marL="0" rtl="0" algn="ctr">
              <a:lnSpc>
                <a:spcPct val="100000"/>
              </a:lnSpc>
              <a:spcBef>
                <a:spcPts val="0"/>
              </a:spcBef>
              <a:spcAft>
                <a:spcPts val="0"/>
              </a:spcAft>
              <a:buSzPts val="12000"/>
              <a:buNone/>
            </a:pPr>
            <a:r>
              <a:rPr lang="en" sz="2800">
                <a:solidFill>
                  <a:schemeClr val="lt1"/>
                </a:solidFill>
              </a:rPr>
              <a:t>7038844244</a:t>
            </a:r>
            <a:endParaRPr sz="28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4"/>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 sz="3600"/>
              <a:t>Questions? and 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