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dvent Pro SemiBold"/>
      <p:regular r:id="rId22"/>
      <p:bold r:id="rId23"/>
      <p:italic r:id="rId24"/>
      <p:boldItalic r:id="rId25"/>
    </p:embeddedFont>
    <p:embeddedFont>
      <p:font typeface="Lato"/>
      <p:regular r:id="rId26"/>
      <p:bold r:id="rId27"/>
      <p:italic r:id="rId28"/>
      <p:boldItalic r:id="rId29"/>
    </p:embeddedFont>
    <p:embeddedFont>
      <p:font typeface="Montserrat"/>
      <p:regular r:id="rId30"/>
      <p:bold r:id="rId31"/>
      <p:italic r:id="rId32"/>
      <p:boldItalic r:id="rId33"/>
    </p:embeddedFont>
    <p:embeddedFont>
      <p:font typeface="Fira Sans Extra Condensed Medium"/>
      <p:regular r:id="rId34"/>
      <p:bold r:id="rId35"/>
      <p:italic r:id="rId36"/>
      <p:boldItalic r:id="rId37"/>
    </p:embeddedFont>
    <p:embeddedFont>
      <p:font typeface="Fira Sans Condensed Medium"/>
      <p:regular r:id="rId38"/>
      <p:bold r:id="rId39"/>
      <p:italic r:id="rId40"/>
      <p:boldItalic r:id="rId41"/>
    </p:embeddedFont>
    <p:embeddedFont>
      <p:font typeface="Maven Pro"/>
      <p:regular r:id="rId42"/>
      <p:bold r:id="rId43"/>
    </p:embeddedFont>
    <p:embeddedFont>
      <p:font typeface="Share Tech"/>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5" roundtripDataSignature="AMtx7mjgtOjJIpbQppEbsKKgw7gEQ+qo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raSansCondensedMedium-italic.fntdata"/><Relationship Id="rId20" Type="http://schemas.openxmlformats.org/officeDocument/2006/relationships/slide" Target="slides/slide15.xml"/><Relationship Id="rId42" Type="http://schemas.openxmlformats.org/officeDocument/2006/relationships/font" Target="fonts/MavenPro-regular.fntdata"/><Relationship Id="rId41" Type="http://schemas.openxmlformats.org/officeDocument/2006/relationships/font" Target="fonts/FiraSansCondensedMedium-boldItalic.fntdata"/><Relationship Id="rId22" Type="http://schemas.openxmlformats.org/officeDocument/2006/relationships/font" Target="fonts/AdventProSemiBold-regular.fntdata"/><Relationship Id="rId44" Type="http://schemas.openxmlformats.org/officeDocument/2006/relationships/font" Target="fonts/ShareTech-regular.fntdata"/><Relationship Id="rId21" Type="http://schemas.openxmlformats.org/officeDocument/2006/relationships/slide" Target="slides/slide16.xml"/><Relationship Id="rId43" Type="http://schemas.openxmlformats.org/officeDocument/2006/relationships/font" Target="fonts/MavenPro-bold.fntdata"/><Relationship Id="rId24" Type="http://schemas.openxmlformats.org/officeDocument/2006/relationships/font" Target="fonts/AdventProSemiBold-italic.fntdata"/><Relationship Id="rId23" Type="http://schemas.openxmlformats.org/officeDocument/2006/relationships/font" Target="fonts/AdventProSemiBold-bold.fntdata"/><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AdventProSemiBold-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6.xml"/><Relationship Id="rId33" Type="http://schemas.openxmlformats.org/officeDocument/2006/relationships/font" Target="fonts/Montserrat-boldItalic.fntdata"/><Relationship Id="rId10" Type="http://schemas.openxmlformats.org/officeDocument/2006/relationships/slide" Target="slides/slide5.xml"/><Relationship Id="rId32" Type="http://schemas.openxmlformats.org/officeDocument/2006/relationships/font" Target="fonts/Montserrat-italic.fntdata"/><Relationship Id="rId13" Type="http://schemas.openxmlformats.org/officeDocument/2006/relationships/slide" Target="slides/slide8.xml"/><Relationship Id="rId35" Type="http://schemas.openxmlformats.org/officeDocument/2006/relationships/font" Target="fonts/FiraSansExtraCondensedMedium-bold.fntdata"/><Relationship Id="rId12" Type="http://schemas.openxmlformats.org/officeDocument/2006/relationships/slide" Target="slides/slide7.xml"/><Relationship Id="rId34" Type="http://schemas.openxmlformats.org/officeDocument/2006/relationships/font" Target="fonts/FiraSansExtraCondensedMedium-regular.fntdata"/><Relationship Id="rId15" Type="http://schemas.openxmlformats.org/officeDocument/2006/relationships/slide" Target="slides/slide10.xml"/><Relationship Id="rId37" Type="http://schemas.openxmlformats.org/officeDocument/2006/relationships/font" Target="fonts/FiraSansExtraCondensedMedium-boldItalic.fntdata"/><Relationship Id="rId14" Type="http://schemas.openxmlformats.org/officeDocument/2006/relationships/slide" Target="slides/slide9.xml"/><Relationship Id="rId36" Type="http://schemas.openxmlformats.org/officeDocument/2006/relationships/font" Target="fonts/FiraSansExtraCondensedMedium-italic.fntdata"/><Relationship Id="rId17" Type="http://schemas.openxmlformats.org/officeDocument/2006/relationships/slide" Target="slides/slide12.xml"/><Relationship Id="rId39" Type="http://schemas.openxmlformats.org/officeDocument/2006/relationships/font" Target="fonts/FiraSansCondensedMedium-bold.fntdata"/><Relationship Id="rId16" Type="http://schemas.openxmlformats.org/officeDocument/2006/relationships/slide" Target="slides/slide11.xml"/><Relationship Id="rId38" Type="http://schemas.openxmlformats.org/officeDocument/2006/relationships/font" Target="fonts/FiraSansCondensed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b2a218cc7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g2b2a218cc7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7" name="Google Shape;46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b2c705b7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2b2c705b71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668d24ce5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g2668d24ce53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b2b0ed621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g2b2b0ed621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b2b0ed62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g2b2b0ed6219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b2c705b71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g2b2c705b71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b2be5d905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2b2be5d905a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0"/>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30"/>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30"/>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0"/>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0"/>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30"/>
          <p:cNvGrpSpPr/>
          <p:nvPr/>
        </p:nvGrpSpPr>
        <p:grpSpPr>
          <a:xfrm>
            <a:off x="8263682" y="-434366"/>
            <a:ext cx="188886" cy="1181532"/>
            <a:chOff x="2877432" y="975334"/>
            <a:chExt cx="188886" cy="1181532"/>
          </a:xfrm>
        </p:grpSpPr>
        <p:sp>
          <p:nvSpPr>
            <p:cNvPr id="18" name="Google Shape;18;p3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3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30"/>
          <p:cNvGrpSpPr/>
          <p:nvPr/>
        </p:nvGrpSpPr>
        <p:grpSpPr>
          <a:xfrm>
            <a:off x="3090746" y="-533657"/>
            <a:ext cx="98059" cy="1147595"/>
            <a:chOff x="3347921" y="16006"/>
            <a:chExt cx="98059" cy="1147595"/>
          </a:xfrm>
        </p:grpSpPr>
        <p:sp>
          <p:nvSpPr>
            <p:cNvPr id="23" name="Google Shape;23;p3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30"/>
          <p:cNvGrpSpPr/>
          <p:nvPr/>
        </p:nvGrpSpPr>
        <p:grpSpPr>
          <a:xfrm>
            <a:off x="4892771" y="-340112"/>
            <a:ext cx="121172" cy="760495"/>
            <a:chOff x="5245196" y="3136513"/>
            <a:chExt cx="121172" cy="760495"/>
          </a:xfrm>
        </p:grpSpPr>
        <p:sp>
          <p:nvSpPr>
            <p:cNvPr id="26" name="Google Shape;26;p3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30"/>
          <p:cNvGrpSpPr/>
          <p:nvPr/>
        </p:nvGrpSpPr>
        <p:grpSpPr>
          <a:xfrm>
            <a:off x="250617" y="2402301"/>
            <a:ext cx="188650" cy="2468355"/>
            <a:chOff x="250617" y="2402301"/>
            <a:chExt cx="188650" cy="2468355"/>
          </a:xfrm>
        </p:grpSpPr>
        <p:sp>
          <p:nvSpPr>
            <p:cNvPr id="29" name="Google Shape;29;p3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30"/>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30"/>
          <p:cNvGrpSpPr/>
          <p:nvPr/>
        </p:nvGrpSpPr>
        <p:grpSpPr>
          <a:xfrm>
            <a:off x="2038689" y="173907"/>
            <a:ext cx="57599" cy="831799"/>
            <a:chOff x="2038689" y="173907"/>
            <a:chExt cx="57599" cy="831799"/>
          </a:xfrm>
        </p:grpSpPr>
        <p:sp>
          <p:nvSpPr>
            <p:cNvPr id="36" name="Google Shape;36;p3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8" name="Shape 38"/>
        <p:cNvGrpSpPr/>
        <p:nvPr/>
      </p:nvGrpSpPr>
      <p:grpSpPr>
        <a:xfrm>
          <a:off x="0" y="0"/>
          <a:ext cx="0" cy="0"/>
          <a:chOff x="0" y="0"/>
          <a:chExt cx="0" cy="0"/>
        </a:xfrm>
      </p:grpSpPr>
      <p:grpSp>
        <p:nvGrpSpPr>
          <p:cNvPr id="39" name="Google Shape;39;p31"/>
          <p:cNvGrpSpPr/>
          <p:nvPr/>
        </p:nvGrpSpPr>
        <p:grpSpPr>
          <a:xfrm>
            <a:off x="0" y="381001"/>
            <a:ext cx="1037850" cy="1016288"/>
            <a:chOff x="0" y="381001"/>
            <a:chExt cx="1037850" cy="1016288"/>
          </a:xfrm>
        </p:grpSpPr>
        <p:sp>
          <p:nvSpPr>
            <p:cNvPr id="40" name="Google Shape;40;p3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p3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p3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32"/>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32"/>
          <p:cNvGrpSpPr/>
          <p:nvPr/>
        </p:nvGrpSpPr>
        <p:grpSpPr>
          <a:xfrm>
            <a:off x="8263682" y="-434366"/>
            <a:ext cx="188886" cy="1181532"/>
            <a:chOff x="2877432" y="975334"/>
            <a:chExt cx="188886" cy="1181532"/>
          </a:xfrm>
        </p:grpSpPr>
        <p:sp>
          <p:nvSpPr>
            <p:cNvPr id="49" name="Google Shape;49;p3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32"/>
          <p:cNvGrpSpPr/>
          <p:nvPr/>
        </p:nvGrpSpPr>
        <p:grpSpPr>
          <a:xfrm>
            <a:off x="3643898" y="-436198"/>
            <a:ext cx="133252" cy="1952377"/>
            <a:chOff x="6780548" y="337714"/>
            <a:chExt cx="133252" cy="1952377"/>
          </a:xfrm>
        </p:grpSpPr>
        <p:sp>
          <p:nvSpPr>
            <p:cNvPr id="54" name="Google Shape;54;p32"/>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2"/>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3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2"/>
          <p:cNvGrpSpPr/>
          <p:nvPr/>
        </p:nvGrpSpPr>
        <p:grpSpPr>
          <a:xfrm>
            <a:off x="8008096" y="2108910"/>
            <a:ext cx="199001" cy="2139770"/>
            <a:chOff x="8008096" y="2108910"/>
            <a:chExt cx="199001" cy="2139770"/>
          </a:xfrm>
        </p:grpSpPr>
        <p:sp>
          <p:nvSpPr>
            <p:cNvPr id="58" name="Google Shape;58;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32"/>
          <p:cNvGrpSpPr/>
          <p:nvPr/>
        </p:nvGrpSpPr>
        <p:grpSpPr>
          <a:xfrm>
            <a:off x="520996" y="1091548"/>
            <a:ext cx="199001" cy="2139770"/>
            <a:chOff x="8008096" y="2108910"/>
            <a:chExt cx="199001" cy="2139770"/>
          </a:xfrm>
        </p:grpSpPr>
        <p:sp>
          <p:nvSpPr>
            <p:cNvPr id="61" name="Google Shape;61;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32"/>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4" name="Google Shape;64;p32"/>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65" name="Google Shape;65;p32"/>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33"/>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33"/>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9" name="Google Shape;69;p33"/>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3"/>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3"/>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3"/>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 name="Google Shape;74;p33"/>
          <p:cNvGrpSpPr/>
          <p:nvPr/>
        </p:nvGrpSpPr>
        <p:grpSpPr>
          <a:xfrm>
            <a:off x="8148521" y="3004593"/>
            <a:ext cx="98059" cy="1147595"/>
            <a:chOff x="3347921" y="16006"/>
            <a:chExt cx="98059" cy="1147595"/>
          </a:xfrm>
        </p:grpSpPr>
        <p:sp>
          <p:nvSpPr>
            <p:cNvPr id="75" name="Google Shape;75;p33"/>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33"/>
          <p:cNvGrpSpPr/>
          <p:nvPr/>
        </p:nvGrpSpPr>
        <p:grpSpPr>
          <a:xfrm>
            <a:off x="281421" y="3769263"/>
            <a:ext cx="121172" cy="760495"/>
            <a:chOff x="5245196" y="3136513"/>
            <a:chExt cx="121172" cy="760495"/>
          </a:xfrm>
        </p:grpSpPr>
        <p:sp>
          <p:nvSpPr>
            <p:cNvPr id="78" name="Google Shape;78;p3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33"/>
          <p:cNvGrpSpPr/>
          <p:nvPr/>
        </p:nvGrpSpPr>
        <p:grpSpPr>
          <a:xfrm>
            <a:off x="8534739" y="4069632"/>
            <a:ext cx="57599" cy="831799"/>
            <a:chOff x="2038689" y="173907"/>
            <a:chExt cx="57599" cy="831799"/>
          </a:xfrm>
        </p:grpSpPr>
        <p:sp>
          <p:nvSpPr>
            <p:cNvPr id="81" name="Google Shape;81;p3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p33"/>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3"/>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p34"/>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7" name="Google Shape;87;p34"/>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8" name="Google Shape;88;p34"/>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9" name="Google Shape;89;p34"/>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90" name="Google Shape;90;p34"/>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1" name="Google Shape;91;p3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 name="Google Shape;95;p34"/>
          <p:cNvGrpSpPr/>
          <p:nvPr/>
        </p:nvGrpSpPr>
        <p:grpSpPr>
          <a:xfrm>
            <a:off x="6626134" y="-164562"/>
            <a:ext cx="121172" cy="760495"/>
            <a:chOff x="5245196" y="3136513"/>
            <a:chExt cx="121172" cy="760495"/>
          </a:xfrm>
        </p:grpSpPr>
        <p:sp>
          <p:nvSpPr>
            <p:cNvPr id="96" name="Google Shape;96;p3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3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35"/>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02" name="Google Shape;102;p3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36"/>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14" name="Google Shape;114;p36"/>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5" name="Google Shape;115;p3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 name="Google Shape;119;p36"/>
          <p:cNvGrpSpPr/>
          <p:nvPr/>
        </p:nvGrpSpPr>
        <p:grpSpPr>
          <a:xfrm>
            <a:off x="6626134" y="-164562"/>
            <a:ext cx="121172" cy="760495"/>
            <a:chOff x="5245196" y="3136513"/>
            <a:chExt cx="121172" cy="760495"/>
          </a:xfrm>
        </p:grpSpPr>
        <p:sp>
          <p:nvSpPr>
            <p:cNvPr id="120" name="Google Shape;120;p3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3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 name="Shape 124"/>
        <p:cNvGrpSpPr/>
        <p:nvPr/>
      </p:nvGrpSpPr>
      <p:grpSpPr>
        <a:xfrm>
          <a:off x="0" y="0"/>
          <a:ext cx="0" cy="0"/>
          <a:chOff x="0" y="0"/>
          <a:chExt cx="0" cy="0"/>
        </a:xfrm>
      </p:grpSpPr>
      <p:sp>
        <p:nvSpPr>
          <p:cNvPr id="125" name="Google Shape;125;p37"/>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6" name="Google Shape;126;p37"/>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7"/>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7"/>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7"/>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7"/>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7"/>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37"/>
          <p:cNvGrpSpPr/>
          <p:nvPr/>
        </p:nvGrpSpPr>
        <p:grpSpPr>
          <a:xfrm>
            <a:off x="8263682" y="-434366"/>
            <a:ext cx="188886" cy="1181532"/>
            <a:chOff x="2877432" y="975334"/>
            <a:chExt cx="188886" cy="1181532"/>
          </a:xfrm>
        </p:grpSpPr>
        <p:sp>
          <p:nvSpPr>
            <p:cNvPr id="133" name="Google Shape;133;p3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 name="Google Shape;136;p37"/>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7"/>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7"/>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37"/>
          <p:cNvGrpSpPr/>
          <p:nvPr/>
        </p:nvGrpSpPr>
        <p:grpSpPr>
          <a:xfrm>
            <a:off x="3090746" y="-533657"/>
            <a:ext cx="98059" cy="1147595"/>
            <a:chOff x="3347921" y="16006"/>
            <a:chExt cx="98059" cy="1147595"/>
          </a:xfrm>
        </p:grpSpPr>
        <p:sp>
          <p:nvSpPr>
            <p:cNvPr id="140" name="Google Shape;140;p3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37"/>
          <p:cNvGrpSpPr/>
          <p:nvPr/>
        </p:nvGrpSpPr>
        <p:grpSpPr>
          <a:xfrm>
            <a:off x="4892771" y="-340112"/>
            <a:ext cx="121172" cy="760495"/>
            <a:chOff x="5245196" y="3136513"/>
            <a:chExt cx="121172" cy="760495"/>
          </a:xfrm>
        </p:grpSpPr>
        <p:sp>
          <p:nvSpPr>
            <p:cNvPr id="143" name="Google Shape;143;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37"/>
          <p:cNvGrpSpPr/>
          <p:nvPr/>
        </p:nvGrpSpPr>
        <p:grpSpPr>
          <a:xfrm>
            <a:off x="6967836" y="85439"/>
            <a:ext cx="133252" cy="1952377"/>
            <a:chOff x="6780548" y="337714"/>
            <a:chExt cx="133252" cy="1952377"/>
          </a:xfrm>
        </p:grpSpPr>
        <p:sp>
          <p:nvSpPr>
            <p:cNvPr id="146" name="Google Shape;146;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37"/>
          <p:cNvGrpSpPr/>
          <p:nvPr/>
        </p:nvGrpSpPr>
        <p:grpSpPr>
          <a:xfrm>
            <a:off x="250617" y="2402301"/>
            <a:ext cx="188650" cy="2468355"/>
            <a:chOff x="250617" y="2402301"/>
            <a:chExt cx="188650" cy="2468355"/>
          </a:xfrm>
        </p:grpSpPr>
        <p:sp>
          <p:nvSpPr>
            <p:cNvPr id="149" name="Google Shape;149;p37"/>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7"/>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7"/>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7"/>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37"/>
          <p:cNvGrpSpPr/>
          <p:nvPr/>
        </p:nvGrpSpPr>
        <p:grpSpPr>
          <a:xfrm>
            <a:off x="982417" y="1695096"/>
            <a:ext cx="199237" cy="2828935"/>
            <a:chOff x="1608717" y="1280046"/>
            <a:chExt cx="199237" cy="2828935"/>
          </a:xfrm>
        </p:grpSpPr>
        <p:sp>
          <p:nvSpPr>
            <p:cNvPr id="154" name="Google Shape;154;p37"/>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7"/>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7"/>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37"/>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37"/>
          <p:cNvGrpSpPr/>
          <p:nvPr/>
        </p:nvGrpSpPr>
        <p:grpSpPr>
          <a:xfrm>
            <a:off x="2038689" y="173907"/>
            <a:ext cx="57599" cy="831799"/>
            <a:chOff x="2038689" y="173907"/>
            <a:chExt cx="57599" cy="831799"/>
          </a:xfrm>
        </p:grpSpPr>
        <p:sp>
          <p:nvSpPr>
            <p:cNvPr id="159" name="Google Shape;159;p3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7"/>
          <p:cNvGrpSpPr/>
          <p:nvPr/>
        </p:nvGrpSpPr>
        <p:grpSpPr>
          <a:xfrm>
            <a:off x="8008096" y="2108910"/>
            <a:ext cx="199001" cy="2139770"/>
            <a:chOff x="8008096" y="2108910"/>
            <a:chExt cx="199001" cy="2139770"/>
          </a:xfrm>
        </p:grpSpPr>
        <p:sp>
          <p:nvSpPr>
            <p:cNvPr id="162" name="Google Shape;162;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37"/>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7"/>
          <p:cNvGrpSpPr/>
          <p:nvPr/>
        </p:nvGrpSpPr>
        <p:grpSpPr>
          <a:xfrm>
            <a:off x="4095146" y="-859690"/>
            <a:ext cx="199001" cy="2139770"/>
            <a:chOff x="8008096" y="2108910"/>
            <a:chExt cx="199001" cy="2139770"/>
          </a:xfrm>
        </p:grpSpPr>
        <p:sp>
          <p:nvSpPr>
            <p:cNvPr id="166" name="Google Shape;166;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37"/>
          <p:cNvGrpSpPr/>
          <p:nvPr/>
        </p:nvGrpSpPr>
        <p:grpSpPr>
          <a:xfrm>
            <a:off x="6333286" y="3704939"/>
            <a:ext cx="133252" cy="1952377"/>
            <a:chOff x="6780548" y="337714"/>
            <a:chExt cx="133252" cy="1952377"/>
          </a:xfrm>
        </p:grpSpPr>
        <p:sp>
          <p:nvSpPr>
            <p:cNvPr id="169" name="Google Shape;169;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37"/>
          <p:cNvGrpSpPr/>
          <p:nvPr/>
        </p:nvGrpSpPr>
        <p:grpSpPr>
          <a:xfrm>
            <a:off x="2702021" y="3612763"/>
            <a:ext cx="121172" cy="760495"/>
            <a:chOff x="5245196" y="3136513"/>
            <a:chExt cx="121172" cy="760495"/>
          </a:xfrm>
        </p:grpSpPr>
        <p:sp>
          <p:nvSpPr>
            <p:cNvPr id="172" name="Google Shape;172;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 name="Google Shape;174;p37"/>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7"/>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sp>
        <p:nvSpPr>
          <p:cNvPr id="177" name="Google Shape;177;p3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8" name="Google Shape;178;p3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9" name="Google Shape;179;p3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sp>
        <p:nvSpPr>
          <p:cNvPr id="181" name="Google Shape;181;p39"/>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82" name="Shape 182"/>
        <p:cNvGrpSpPr/>
        <p:nvPr/>
      </p:nvGrpSpPr>
      <p:grpSpPr>
        <a:xfrm>
          <a:off x="0" y="0"/>
          <a:ext cx="0" cy="0"/>
          <a:chOff x="0" y="0"/>
          <a:chExt cx="0" cy="0"/>
        </a:xfrm>
      </p:grpSpPr>
      <p:sp>
        <p:nvSpPr>
          <p:cNvPr id="183" name="Google Shape;183;p40"/>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4" name="Google Shape;184;p40"/>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5" name="Google Shape;185;p40"/>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40"/>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4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 name="Google Shape;190;p40"/>
          <p:cNvGrpSpPr/>
          <p:nvPr/>
        </p:nvGrpSpPr>
        <p:grpSpPr>
          <a:xfrm>
            <a:off x="8217007" y="3576772"/>
            <a:ext cx="188886" cy="1181532"/>
            <a:chOff x="2877432" y="975334"/>
            <a:chExt cx="188886" cy="1181532"/>
          </a:xfrm>
        </p:grpSpPr>
        <p:sp>
          <p:nvSpPr>
            <p:cNvPr id="191" name="Google Shape;191;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40"/>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p40"/>
          <p:cNvGrpSpPr/>
          <p:nvPr/>
        </p:nvGrpSpPr>
        <p:grpSpPr>
          <a:xfrm>
            <a:off x="7519346" y="3243318"/>
            <a:ext cx="98059" cy="1147595"/>
            <a:chOff x="3347921" y="16006"/>
            <a:chExt cx="98059" cy="1147595"/>
          </a:xfrm>
        </p:grpSpPr>
        <p:sp>
          <p:nvSpPr>
            <p:cNvPr id="196" name="Google Shape;196;p4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40"/>
          <p:cNvGrpSpPr/>
          <p:nvPr/>
        </p:nvGrpSpPr>
        <p:grpSpPr>
          <a:xfrm>
            <a:off x="805821" y="2953663"/>
            <a:ext cx="121172" cy="760495"/>
            <a:chOff x="5245196" y="3136513"/>
            <a:chExt cx="121172" cy="760495"/>
          </a:xfrm>
        </p:grpSpPr>
        <p:sp>
          <p:nvSpPr>
            <p:cNvPr id="199" name="Google Shape;199;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40"/>
          <p:cNvGrpSpPr/>
          <p:nvPr/>
        </p:nvGrpSpPr>
        <p:grpSpPr>
          <a:xfrm>
            <a:off x="250617" y="2402301"/>
            <a:ext cx="188650" cy="2468355"/>
            <a:chOff x="250617" y="2402301"/>
            <a:chExt cx="188650" cy="2468355"/>
          </a:xfrm>
        </p:grpSpPr>
        <p:sp>
          <p:nvSpPr>
            <p:cNvPr id="202" name="Google Shape;202;p4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 name="Google Shape;206;p40"/>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 name="Google Shape;208;p40"/>
          <p:cNvGrpSpPr/>
          <p:nvPr/>
        </p:nvGrpSpPr>
        <p:grpSpPr>
          <a:xfrm>
            <a:off x="2038689" y="173907"/>
            <a:ext cx="57599" cy="831799"/>
            <a:chOff x="2038689" y="173907"/>
            <a:chExt cx="57599" cy="831799"/>
          </a:xfrm>
        </p:grpSpPr>
        <p:sp>
          <p:nvSpPr>
            <p:cNvPr id="209" name="Google Shape;209;p4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p40"/>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2" name="Google Shape;212;p40"/>
          <p:cNvGrpSpPr/>
          <p:nvPr/>
        </p:nvGrpSpPr>
        <p:grpSpPr>
          <a:xfrm>
            <a:off x="4920170" y="-496491"/>
            <a:ext cx="188886" cy="1181532"/>
            <a:chOff x="2877432" y="975334"/>
            <a:chExt cx="188886" cy="1181532"/>
          </a:xfrm>
        </p:grpSpPr>
        <p:sp>
          <p:nvSpPr>
            <p:cNvPr id="213" name="Google Shape;213;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 name="Google Shape;216;p40"/>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 name="Google Shape;217;p40"/>
          <p:cNvGrpSpPr/>
          <p:nvPr/>
        </p:nvGrpSpPr>
        <p:grpSpPr>
          <a:xfrm>
            <a:off x="3030471" y="-223849"/>
            <a:ext cx="121172" cy="760495"/>
            <a:chOff x="5245196" y="3136513"/>
            <a:chExt cx="121172" cy="760495"/>
          </a:xfrm>
        </p:grpSpPr>
        <p:sp>
          <p:nvSpPr>
            <p:cNvPr id="218" name="Google Shape;218;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40"/>
          <p:cNvGrpSpPr/>
          <p:nvPr/>
        </p:nvGrpSpPr>
        <p:grpSpPr>
          <a:xfrm>
            <a:off x="2306292" y="2569221"/>
            <a:ext cx="199237" cy="2828935"/>
            <a:chOff x="1608717" y="1280046"/>
            <a:chExt cx="199237" cy="2828935"/>
          </a:xfrm>
        </p:grpSpPr>
        <p:sp>
          <p:nvSpPr>
            <p:cNvPr id="221" name="Google Shape;221;p4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 name="Shape 224"/>
        <p:cNvGrpSpPr/>
        <p:nvPr/>
      </p:nvGrpSpPr>
      <p:grpSpPr>
        <a:xfrm>
          <a:off x="0" y="0"/>
          <a:ext cx="0" cy="0"/>
          <a:chOff x="0" y="0"/>
          <a:chExt cx="0" cy="0"/>
        </a:xfrm>
      </p:grpSpPr>
      <p:sp>
        <p:nvSpPr>
          <p:cNvPr id="225" name="Google Shape;225;p41"/>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6" name="Google Shape;226;p41"/>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27" name="Google Shape;227;p41"/>
          <p:cNvGrpSpPr/>
          <p:nvPr/>
        </p:nvGrpSpPr>
        <p:grpSpPr>
          <a:xfrm>
            <a:off x="722446" y="3412541"/>
            <a:ext cx="7699120" cy="1883463"/>
            <a:chOff x="4558950" y="838825"/>
            <a:chExt cx="2813800" cy="688350"/>
          </a:xfrm>
        </p:grpSpPr>
        <p:sp>
          <p:nvSpPr>
            <p:cNvPr id="228" name="Google Shape;228;p41"/>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1"/>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1"/>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1"/>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1"/>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41"/>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1"/>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1"/>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1"/>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1"/>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1"/>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1"/>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1"/>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1"/>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1"/>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1"/>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41"/>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1"/>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1"/>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1"/>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1"/>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1"/>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1"/>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1"/>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1"/>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1"/>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1"/>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1"/>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1"/>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1"/>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1"/>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3" name="Shape 263"/>
        <p:cNvGrpSpPr/>
        <p:nvPr/>
      </p:nvGrpSpPr>
      <p:grpSpPr>
        <a:xfrm>
          <a:off x="0" y="0"/>
          <a:ext cx="0" cy="0"/>
          <a:chOff x="0" y="0"/>
          <a:chExt cx="0" cy="0"/>
        </a:xfrm>
      </p:grpSpPr>
      <p:sp>
        <p:nvSpPr>
          <p:cNvPr id="264" name="Google Shape;264;p42"/>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65" name="Google Shape;265;p42"/>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2"/>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2"/>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2"/>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2"/>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42"/>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7" name="Google Shape;277;p42"/>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8" name="Google Shape;278;p42"/>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9" name="Google Shape;279;p42"/>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80" name="Google Shape;280;p42"/>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1" name="Google Shape;281;p42"/>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82" name="Google Shape;282;p42"/>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83" name="Google Shape;283;p42"/>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4" name="Google Shape;284;p42"/>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85" name="Shape 285"/>
        <p:cNvGrpSpPr/>
        <p:nvPr/>
      </p:nvGrpSpPr>
      <p:grpSpPr>
        <a:xfrm>
          <a:off x="0" y="0"/>
          <a:ext cx="0" cy="0"/>
          <a:chOff x="0" y="0"/>
          <a:chExt cx="0" cy="0"/>
        </a:xfrm>
      </p:grpSpPr>
      <p:sp>
        <p:nvSpPr>
          <p:cNvPr id="286" name="Google Shape;286;p43"/>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7" name="Google Shape;287;p43"/>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8" name="Google Shape;288;p43"/>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9" name="Google Shape;289;p43"/>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90" name="Google Shape;290;p4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43"/>
          <p:cNvGrpSpPr/>
          <p:nvPr/>
        </p:nvGrpSpPr>
        <p:grpSpPr>
          <a:xfrm>
            <a:off x="6626134" y="-164562"/>
            <a:ext cx="121172" cy="760495"/>
            <a:chOff x="5245196" y="3136513"/>
            <a:chExt cx="121172" cy="760495"/>
          </a:xfrm>
        </p:grpSpPr>
        <p:sp>
          <p:nvSpPr>
            <p:cNvPr id="295" name="Google Shape;295;p4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p4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300" name="Shape 300"/>
        <p:cNvGrpSpPr/>
        <p:nvPr/>
      </p:nvGrpSpPr>
      <p:grpSpPr>
        <a:xfrm>
          <a:off x="0" y="0"/>
          <a:ext cx="0" cy="0"/>
          <a:chOff x="0" y="0"/>
          <a:chExt cx="0" cy="0"/>
        </a:xfrm>
      </p:grpSpPr>
      <p:sp>
        <p:nvSpPr>
          <p:cNvPr id="301" name="Google Shape;301;p4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5" name="Google Shape;305;p44"/>
          <p:cNvGrpSpPr/>
          <p:nvPr/>
        </p:nvGrpSpPr>
        <p:grpSpPr>
          <a:xfrm>
            <a:off x="6626134" y="-164562"/>
            <a:ext cx="121172" cy="760495"/>
            <a:chOff x="5245196" y="3136513"/>
            <a:chExt cx="121172" cy="760495"/>
          </a:xfrm>
        </p:grpSpPr>
        <p:sp>
          <p:nvSpPr>
            <p:cNvPr id="306" name="Google Shape;306;p4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4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4"/>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1" name="Google Shape;311;p44"/>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2" name="Google Shape;312;p44"/>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3" name="Google Shape;313;p44"/>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4" name="Google Shape;314;p44"/>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5" name="Google Shape;315;p44"/>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6" name="Google Shape;316;p44"/>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7" name="Shape 317"/>
        <p:cNvGrpSpPr/>
        <p:nvPr/>
      </p:nvGrpSpPr>
      <p:grpSpPr>
        <a:xfrm>
          <a:off x="0" y="0"/>
          <a:ext cx="0" cy="0"/>
          <a:chOff x="0" y="0"/>
          <a:chExt cx="0" cy="0"/>
        </a:xfrm>
      </p:grpSpPr>
      <p:sp>
        <p:nvSpPr>
          <p:cNvPr id="318" name="Google Shape;318;p45"/>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45"/>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45"/>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45"/>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45"/>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45"/>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45"/>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5" name="Google Shape;325;p45"/>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6" name="Google Shape;326;p45"/>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7" name="Google Shape;327;p45"/>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8" name="Google Shape;328;p45"/>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9" name="Google Shape;329;p45"/>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0" name="Google Shape;330;p45"/>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1" name="Google Shape;331;p4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40" name="Shape 340"/>
        <p:cNvGrpSpPr/>
        <p:nvPr/>
      </p:nvGrpSpPr>
      <p:grpSpPr>
        <a:xfrm>
          <a:off x="0" y="0"/>
          <a:ext cx="0" cy="0"/>
          <a:chOff x="0" y="0"/>
          <a:chExt cx="0" cy="0"/>
        </a:xfrm>
      </p:grpSpPr>
      <p:sp>
        <p:nvSpPr>
          <p:cNvPr id="341" name="Google Shape;341;p46"/>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2" name="Google Shape;342;p46"/>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3" name="Google Shape;343;p46"/>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4" name="Google Shape;344;p46"/>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5" name="Google Shape;345;p46"/>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6" name="Google Shape;346;p46"/>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7" name="Google Shape;347;p46"/>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8" name="Google Shape;348;p46"/>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9" name="Google Shape;349;p46"/>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50" name="Google Shape;350;p46"/>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6"/>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60" name="Shape 360"/>
        <p:cNvGrpSpPr/>
        <p:nvPr/>
      </p:nvGrpSpPr>
      <p:grpSpPr>
        <a:xfrm>
          <a:off x="0" y="0"/>
          <a:ext cx="0" cy="0"/>
          <a:chOff x="0" y="0"/>
          <a:chExt cx="0" cy="0"/>
        </a:xfrm>
      </p:grpSpPr>
      <p:sp>
        <p:nvSpPr>
          <p:cNvPr id="361" name="Google Shape;361;p47"/>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2" name="Google Shape;362;p47"/>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3" name="Google Shape;363;p47"/>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4" name="Google Shape;364;p47"/>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5" name="Google Shape;365;p47"/>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6" name="Google Shape;366;p47"/>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7" name="Google Shape;367;p47"/>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8" name="Google Shape;368;p47"/>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9" name="Google Shape;369;p47"/>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70" name="Google Shape;370;p4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80" name="Shape 380"/>
        <p:cNvGrpSpPr/>
        <p:nvPr/>
      </p:nvGrpSpPr>
      <p:grpSpPr>
        <a:xfrm>
          <a:off x="0" y="0"/>
          <a:ext cx="0" cy="0"/>
          <a:chOff x="0" y="0"/>
          <a:chExt cx="0" cy="0"/>
        </a:xfrm>
      </p:grpSpPr>
      <p:sp>
        <p:nvSpPr>
          <p:cNvPr id="381" name="Google Shape;381;p48"/>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2" name="Google Shape;382;p48"/>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3" name="Google Shape;383;p48"/>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84" name="Google Shape;384;p48"/>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8"/>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8"/>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8"/>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8"/>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8"/>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8"/>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8"/>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2" name="Google Shape;392;p48"/>
          <p:cNvGrpSpPr/>
          <p:nvPr/>
        </p:nvGrpSpPr>
        <p:grpSpPr>
          <a:xfrm>
            <a:off x="6669747" y="-389684"/>
            <a:ext cx="143766" cy="2106420"/>
            <a:chOff x="6780548" y="337714"/>
            <a:chExt cx="133252" cy="1952377"/>
          </a:xfrm>
        </p:grpSpPr>
        <p:sp>
          <p:nvSpPr>
            <p:cNvPr id="393" name="Google Shape;393;p4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 name="Google Shape;395;p48"/>
          <p:cNvGrpSpPr/>
          <p:nvPr/>
        </p:nvGrpSpPr>
        <p:grpSpPr>
          <a:xfrm>
            <a:off x="1510029" y="507749"/>
            <a:ext cx="203534" cy="2663108"/>
            <a:chOff x="250617" y="2402301"/>
            <a:chExt cx="188650" cy="2468355"/>
          </a:xfrm>
        </p:grpSpPr>
        <p:sp>
          <p:nvSpPr>
            <p:cNvPr id="396" name="Google Shape;396;p4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48"/>
          <p:cNvGrpSpPr/>
          <p:nvPr/>
        </p:nvGrpSpPr>
        <p:grpSpPr>
          <a:xfrm>
            <a:off x="385355" y="1380671"/>
            <a:ext cx="199237" cy="2828935"/>
            <a:chOff x="1608717" y="1280046"/>
            <a:chExt cx="199237" cy="2828935"/>
          </a:xfrm>
        </p:grpSpPr>
        <p:sp>
          <p:nvSpPr>
            <p:cNvPr id="401" name="Google Shape;401;p4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48"/>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48"/>
          <p:cNvGrpSpPr/>
          <p:nvPr/>
        </p:nvGrpSpPr>
        <p:grpSpPr>
          <a:xfrm>
            <a:off x="989005" y="-389666"/>
            <a:ext cx="62143" cy="897428"/>
            <a:chOff x="2038689" y="173907"/>
            <a:chExt cx="57599" cy="831799"/>
          </a:xfrm>
        </p:grpSpPr>
        <p:sp>
          <p:nvSpPr>
            <p:cNvPr id="407" name="Google Shape;407;p4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48"/>
          <p:cNvGrpSpPr/>
          <p:nvPr/>
        </p:nvGrpSpPr>
        <p:grpSpPr>
          <a:xfrm>
            <a:off x="8568723" y="2184809"/>
            <a:ext cx="214702" cy="2308598"/>
            <a:chOff x="8008096" y="2108910"/>
            <a:chExt cx="199001" cy="2139770"/>
          </a:xfrm>
        </p:grpSpPr>
        <p:sp>
          <p:nvSpPr>
            <p:cNvPr id="410" name="Google Shape;410;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p48"/>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3" name="Google Shape;413;p48"/>
          <p:cNvGrpSpPr/>
          <p:nvPr/>
        </p:nvGrpSpPr>
        <p:grpSpPr>
          <a:xfrm>
            <a:off x="8221223" y="9"/>
            <a:ext cx="214702" cy="2308598"/>
            <a:chOff x="8008096" y="2108910"/>
            <a:chExt cx="199001" cy="2139770"/>
          </a:xfrm>
        </p:grpSpPr>
        <p:sp>
          <p:nvSpPr>
            <p:cNvPr id="414" name="Google Shape;414;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6" name="Shape 416"/>
        <p:cNvGrpSpPr/>
        <p:nvPr/>
      </p:nvGrpSpPr>
      <p:grpSpPr>
        <a:xfrm>
          <a:off x="0" y="0"/>
          <a:ext cx="0" cy="0"/>
          <a:chOff x="0" y="0"/>
          <a:chExt cx="0" cy="0"/>
        </a:xfrm>
      </p:grpSpPr>
      <p:sp>
        <p:nvSpPr>
          <p:cNvPr id="417" name="Google Shape;417;p49"/>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8" name="Google Shape;418;p49"/>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9" name="Google Shape;419;p49"/>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20" name="Google Shape;420;p49"/>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9"/>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9"/>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9"/>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9"/>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9"/>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9"/>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9"/>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9"/>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31" name="Shape 431"/>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32" name="Shape 4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indiabix.com/engineering/" TargetMode="External"/><Relationship Id="rId4" Type="http://schemas.openxmlformats.org/officeDocument/2006/relationships/hyperlink" Target="https://www.geeksforgeeks.org/quiz-corner-gq/?ref=ghm#C%20Programming%20Mock%20Tes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google.com/document/d/1AGQB0hk9XwovIvmv6vOFkR-HXiTAFW28b8EcAWaGhFI/edi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ocs.google.com/document/d/158ssEpX9PE4h4d9Qwr17ekLqHxIA0poXCHPimih-qwU/edi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500"/>
              <a:buFont typeface="Arial"/>
              <a:buNone/>
            </a:pPr>
            <a:r>
              <a:rPr b="0" i="0" lang="en" sz="7500" u="none" cap="none" strike="noStrike">
                <a:solidFill>
                  <a:srgbClr val="FFFFFF"/>
                </a:solidFill>
                <a:latin typeface="Share Tech"/>
                <a:ea typeface="Share Tech"/>
                <a:cs typeface="Share Tech"/>
                <a:sym typeface="Share Tech"/>
              </a:rPr>
              <a:t>IIFL LIVLONG</a:t>
            </a:r>
            <a:endParaRPr b="0" i="0" sz="7500" u="none" cap="none" strike="noStrike">
              <a:solidFill>
                <a:srgbClr val="FFFFFF"/>
              </a:solidFill>
              <a:latin typeface="Share Tech"/>
              <a:ea typeface="Share Tech"/>
              <a:cs typeface="Share Tech"/>
              <a:sym typeface="Share Tech"/>
            </a:endParaRPr>
          </a:p>
        </p:txBody>
      </p:sp>
      <p:sp>
        <p:nvSpPr>
          <p:cNvPr id="438" name="Google Shape;438;p1"/>
          <p:cNvSpPr txBox="1"/>
          <p:nvPr/>
        </p:nvSpPr>
        <p:spPr>
          <a:xfrm>
            <a:off x="620225" y="2804499"/>
            <a:ext cx="7801500" cy="13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Placement Interview Experience by:</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1000"/>
              </a:spcBef>
              <a:spcAft>
                <a:spcPts val="0"/>
              </a:spcAft>
              <a:buClr>
                <a:srgbClr val="000000"/>
              </a:buClr>
              <a:buSzPts val="1700"/>
              <a:buFont typeface="Arial"/>
              <a:buNone/>
            </a:pPr>
            <a:r>
              <a:rPr b="0" i="0" lang="en" sz="1800" u="none" cap="none" strike="noStrike">
                <a:solidFill>
                  <a:schemeClr val="lt1"/>
                </a:solidFill>
                <a:latin typeface="Maven Pro"/>
                <a:ea typeface="Maven Pro"/>
                <a:cs typeface="Maven Pro"/>
                <a:sym typeface="Maven Pro"/>
              </a:rPr>
              <a:t>Ritika Hotwani </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100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Suraj Patel</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1000"/>
              </a:spcBef>
              <a:spcAft>
                <a:spcPts val="0"/>
              </a:spcAft>
              <a:buClr>
                <a:srgbClr val="000000"/>
              </a:buClr>
              <a:buSzPts val="1800"/>
              <a:buFont typeface="Arial"/>
              <a:buNone/>
            </a:pPr>
            <a:r>
              <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aven Pro"/>
              <a:ea typeface="Maven Pro"/>
              <a:cs typeface="Maven Pro"/>
              <a:sym typeface="Maven Pro"/>
            </a:endParaRPr>
          </a:p>
          <a:p>
            <a:pPr indent="457200" lvl="0" marL="914400" marR="0" rtl="0" algn="l">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Computer Engineering Department, 2024 Batch</a:t>
            </a:r>
            <a:endParaRPr b="0" i="0" sz="1800" u="none" cap="none" strike="noStrike">
              <a:solidFill>
                <a:srgbClr val="FFFFFF"/>
              </a:solidFill>
              <a:latin typeface="Maven Pro"/>
              <a:ea typeface="Maven Pro"/>
              <a:cs typeface="Maven Pro"/>
              <a:sym typeface="Maven Pro"/>
            </a:endParaRPr>
          </a:p>
        </p:txBody>
      </p:sp>
      <p:pic>
        <p:nvPicPr>
          <p:cNvPr id="439" name="Google Shape;439;p1"/>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440" name="Google Shape;440;p1"/>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Montserrat"/>
                <a:ea typeface="Montserrat"/>
                <a:cs typeface="Montserrat"/>
                <a:sym typeface="Montserrat"/>
              </a:rPr>
              <a:t>VIVEKANAND EDUCATION SOCIETY INSTITUTE OF TECHNOLOGY (MUMBAI UNIVERSITY)</a:t>
            </a:r>
            <a:endParaRPr b="1" i="0" sz="1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a:ea typeface="Montserrat"/>
                <a:cs typeface="Montserrat"/>
                <a:sym typeface="Montserrat"/>
              </a:rPr>
              <a:t>Department of Computer Engineering</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About the company:</a:t>
            </a:r>
            <a:endParaRPr/>
          </a:p>
        </p:txBody>
      </p:sp>
      <p:sp>
        <p:nvSpPr>
          <p:cNvPr id="446" name="Google Shape;446;p2"/>
          <p:cNvSpPr txBox="1"/>
          <p:nvPr>
            <p:ph idx="1" type="body"/>
          </p:nvPr>
        </p:nvSpPr>
        <p:spPr>
          <a:xfrm>
            <a:off x="1211775" y="1385375"/>
            <a:ext cx="7038900" cy="3201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Livlong Insurance Brokers Limited (“LIBL”) is an independent full-service insurance broking house in India promoted by first-generation entrepreneurs. It is part of IIFL Group and is a wholly owned subsidiary of IIFL Securities Limited.</a:t>
            </a:r>
            <a:endParaRPr/>
          </a:p>
          <a:p>
            <a:pPr indent="-342900" lvl="0" marL="457200" rtl="0" algn="l">
              <a:lnSpc>
                <a:spcPct val="115000"/>
              </a:lnSpc>
              <a:spcBef>
                <a:spcPts val="0"/>
              </a:spcBef>
              <a:spcAft>
                <a:spcPts val="0"/>
              </a:spcAft>
              <a:buSzPts val="1800"/>
              <a:buChar char="●"/>
            </a:pPr>
            <a:r>
              <a:rPr lang="en"/>
              <a:t>They have a large retail-focused model, servicing millions of customers</a:t>
            </a:r>
            <a:endParaRPr/>
          </a:p>
          <a:p>
            <a:pPr indent="-342900" lvl="0" marL="457200" rtl="0" algn="l">
              <a:lnSpc>
                <a:spcPct val="115000"/>
              </a:lnSpc>
              <a:spcBef>
                <a:spcPts val="0"/>
              </a:spcBef>
              <a:spcAft>
                <a:spcPts val="0"/>
              </a:spcAft>
              <a:buSzPts val="1800"/>
              <a:buChar char="●"/>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Company Details</a:t>
            </a:r>
            <a:endParaRPr>
              <a:latin typeface="Times New Roman"/>
              <a:ea typeface="Times New Roman"/>
              <a:cs typeface="Times New Roman"/>
              <a:sym typeface="Times New Roman"/>
            </a:endParaRPr>
          </a:p>
        </p:txBody>
      </p:sp>
      <p:sp>
        <p:nvSpPr>
          <p:cNvPr id="452" name="Google Shape;452;p3"/>
          <p:cNvSpPr txBox="1"/>
          <p:nvPr>
            <p:ph idx="1" type="body"/>
          </p:nvPr>
        </p:nvSpPr>
        <p:spPr>
          <a:xfrm>
            <a:off x="1297500" y="1003925"/>
            <a:ext cx="7038900" cy="392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600"/>
              <a:t>Name of the Company:  LivLong 365</a:t>
            </a:r>
            <a:endParaRPr sz="1600"/>
          </a:p>
          <a:p>
            <a:pPr indent="0" lvl="0" marL="0" rtl="0" algn="l">
              <a:lnSpc>
                <a:spcPct val="100000"/>
              </a:lnSpc>
              <a:spcBef>
                <a:spcPts val="1600"/>
              </a:spcBef>
              <a:spcAft>
                <a:spcPts val="0"/>
              </a:spcAft>
              <a:buSzPts val="1300"/>
              <a:buNone/>
            </a:pPr>
            <a:r>
              <a:rPr lang="en" sz="1600"/>
              <a:t>Company status : Dream</a:t>
            </a:r>
            <a:endParaRPr sz="1600"/>
          </a:p>
          <a:p>
            <a:pPr indent="0" lvl="0" marL="0" rtl="0" algn="l">
              <a:lnSpc>
                <a:spcPct val="100000"/>
              </a:lnSpc>
              <a:spcBef>
                <a:spcPts val="1600"/>
              </a:spcBef>
              <a:spcAft>
                <a:spcPts val="0"/>
              </a:spcAft>
              <a:buSzPts val="1300"/>
              <a:buNone/>
            </a:pPr>
            <a:r>
              <a:rPr lang="en" sz="1600"/>
              <a:t>Branches Eligible:  BE (CS / INFT /ETRX/ EXTC/AIDS ), MCA</a:t>
            </a:r>
            <a:endParaRPr sz="1600"/>
          </a:p>
          <a:p>
            <a:pPr indent="0" lvl="0" marL="0" rtl="0" algn="l">
              <a:lnSpc>
                <a:spcPct val="100000"/>
              </a:lnSpc>
              <a:spcBef>
                <a:spcPts val="1600"/>
              </a:spcBef>
              <a:spcAft>
                <a:spcPts val="0"/>
              </a:spcAft>
              <a:buSzPts val="1300"/>
              <a:buNone/>
            </a:pPr>
            <a:r>
              <a:rPr lang="en" sz="1600"/>
              <a:t>Eligibility Criteria:  Current Aggregate CGPI  - 7 and above,  No live KT</a:t>
            </a:r>
            <a:endParaRPr sz="1600"/>
          </a:p>
          <a:p>
            <a:pPr indent="0" lvl="0" marL="0" rtl="0" algn="l">
              <a:lnSpc>
                <a:spcPct val="100000"/>
              </a:lnSpc>
              <a:spcBef>
                <a:spcPts val="1600"/>
              </a:spcBef>
              <a:spcAft>
                <a:spcPts val="0"/>
              </a:spcAft>
              <a:buSzPts val="1300"/>
              <a:buNone/>
            </a:pPr>
            <a:r>
              <a:rPr lang="en" sz="1600"/>
              <a:t>Salary: B.Tech – 7 l.p.a + Company Variable,</a:t>
            </a:r>
            <a:endParaRPr sz="1600"/>
          </a:p>
          <a:p>
            <a:pPr indent="0" lvl="0" marL="0" rtl="0" algn="l">
              <a:lnSpc>
                <a:spcPct val="100000"/>
              </a:lnSpc>
              <a:spcBef>
                <a:spcPts val="1600"/>
              </a:spcBef>
              <a:spcAft>
                <a:spcPts val="0"/>
              </a:spcAft>
              <a:buSzPts val="1300"/>
              <a:buNone/>
            </a:pPr>
            <a:r>
              <a:rPr lang="en" sz="1600"/>
              <a:t>            M.C.A. – 6 l.p.a + Company Variable</a:t>
            </a:r>
            <a:endParaRPr sz="1600"/>
          </a:p>
          <a:p>
            <a:pPr indent="0" lvl="0" marL="0" rtl="0" algn="l">
              <a:lnSpc>
                <a:spcPct val="100000"/>
              </a:lnSpc>
              <a:spcBef>
                <a:spcPts val="1600"/>
              </a:spcBef>
              <a:spcAft>
                <a:spcPts val="0"/>
              </a:spcAft>
              <a:buSzPts val="1300"/>
              <a:buNone/>
            </a:pPr>
            <a:r>
              <a:rPr lang="en" sz="1600"/>
              <a:t>Job Location : Thane, Pune, Gurgaon</a:t>
            </a:r>
            <a:endParaRPr sz="1600"/>
          </a:p>
          <a:p>
            <a:pPr indent="0" lvl="0" marL="0" rtl="0" algn="l">
              <a:lnSpc>
                <a:spcPct val="100000"/>
              </a:lnSpc>
              <a:spcBef>
                <a:spcPts val="1600"/>
              </a:spcBef>
              <a:spcAft>
                <a:spcPts val="0"/>
              </a:spcAft>
              <a:buSzPts val="1300"/>
              <a:buNone/>
            </a:pPr>
            <a:r>
              <a:rPr lang="en" sz="1600"/>
              <a:t>Position offered: Software Engineer (Graduate Trainee)</a:t>
            </a:r>
            <a:endParaRPr sz="1600"/>
          </a:p>
          <a:p>
            <a:pPr indent="0" lvl="0" marL="0" rtl="0" algn="l">
              <a:lnSpc>
                <a:spcPct val="100000"/>
              </a:lnSpc>
              <a:spcBef>
                <a:spcPts val="1600"/>
              </a:spcBef>
              <a:spcAft>
                <a:spcPts val="0"/>
              </a:spcAft>
              <a:buSzPts val="1300"/>
              <a:buNone/>
            </a:pPr>
            <a:r>
              <a:t/>
            </a:r>
            <a:endParaRPr sz="1600"/>
          </a:p>
          <a:p>
            <a:pPr indent="0" lvl="0" marL="0" rtl="0" algn="l">
              <a:lnSpc>
                <a:spcPct val="100000"/>
              </a:lnSpc>
              <a:spcBef>
                <a:spcPts val="1600"/>
              </a:spcBef>
              <a:spcAft>
                <a:spcPts val="0"/>
              </a:spcAft>
              <a:buSzPts val="1300"/>
              <a:buNone/>
            </a:pPr>
            <a:r>
              <a:rPr lang="en" sz="1600"/>
              <a:t>Date of Drive: 28th July - 17th August</a:t>
            </a:r>
            <a:endParaRPr sz="16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2b2a218cc7a_0_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800">
                <a:latin typeface="Maven Pro"/>
                <a:ea typeface="Maven Pro"/>
                <a:cs typeface="Maven Pro"/>
                <a:sym typeface="Maven Pro"/>
              </a:rPr>
              <a:t>Job Description:</a:t>
            </a:r>
            <a:endParaRPr/>
          </a:p>
        </p:txBody>
      </p:sp>
      <p:sp>
        <p:nvSpPr>
          <p:cNvPr id="458" name="Google Shape;458;g2b2a218cc7a_0_8"/>
          <p:cNvSpPr txBox="1"/>
          <p:nvPr>
            <p:ph idx="1" type="body"/>
          </p:nvPr>
        </p:nvSpPr>
        <p:spPr>
          <a:xfrm>
            <a:off x="1297500" y="1190475"/>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a:t>Technology stack:</a:t>
            </a:r>
            <a:endParaRPr/>
          </a:p>
          <a:p>
            <a:pPr indent="-311150" lvl="0" marL="457200" rtl="0" algn="l">
              <a:lnSpc>
                <a:spcPct val="115000"/>
              </a:lnSpc>
              <a:spcBef>
                <a:spcPts val="0"/>
              </a:spcBef>
              <a:spcAft>
                <a:spcPts val="0"/>
              </a:spcAft>
              <a:buSzPts val="1300"/>
              <a:buChar char="●"/>
            </a:pPr>
            <a:r>
              <a:rPr lang="en"/>
              <a:t>Dot Net, Java Script, Node JS, Kotlin, Python, HTML5/CSS3,Database</a:t>
            </a:r>
            <a:endParaRPr/>
          </a:p>
          <a:p>
            <a:pPr indent="-311150" lvl="0" marL="457200" rtl="0" algn="l">
              <a:lnSpc>
                <a:spcPct val="115000"/>
              </a:lnSpc>
              <a:spcBef>
                <a:spcPts val="0"/>
              </a:spcBef>
              <a:spcAft>
                <a:spcPts val="0"/>
              </a:spcAft>
              <a:buSzPts val="1300"/>
              <a:buChar char="●"/>
            </a:pPr>
            <a:r>
              <a:rPr lang="en"/>
              <a:t>Operating system – Linux, Windows</a:t>
            </a:r>
            <a:endParaRPr/>
          </a:p>
          <a:p>
            <a:pPr indent="-311150" lvl="0" marL="457200" rtl="0" algn="l">
              <a:lnSpc>
                <a:spcPct val="115000"/>
              </a:lnSpc>
              <a:spcBef>
                <a:spcPts val="0"/>
              </a:spcBef>
              <a:spcAft>
                <a:spcPts val="0"/>
              </a:spcAft>
              <a:buSzPts val="1300"/>
              <a:buChar char="●"/>
            </a:pPr>
            <a:r>
              <a:rPr lang="en"/>
              <a:t>Agile Development Environment</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rPr lang="en"/>
              <a:t>Responsibility:</a:t>
            </a:r>
            <a:endParaRPr/>
          </a:p>
          <a:p>
            <a:pPr indent="-311150" lvl="0" marL="457200" rtl="0" algn="l">
              <a:lnSpc>
                <a:spcPct val="115000"/>
              </a:lnSpc>
              <a:spcBef>
                <a:spcPts val="0"/>
              </a:spcBef>
              <a:spcAft>
                <a:spcPts val="0"/>
              </a:spcAft>
              <a:buSzPts val="1300"/>
              <a:buChar char="●"/>
            </a:pPr>
            <a:r>
              <a:rPr lang="en"/>
              <a:t>Design and develop new features and functionalities.</a:t>
            </a:r>
            <a:endParaRPr/>
          </a:p>
          <a:p>
            <a:pPr indent="-311150" lvl="0" marL="457200" rtl="0" algn="l">
              <a:lnSpc>
                <a:spcPct val="115000"/>
              </a:lnSpc>
              <a:spcBef>
                <a:spcPts val="0"/>
              </a:spcBef>
              <a:spcAft>
                <a:spcPts val="0"/>
              </a:spcAft>
              <a:buSzPts val="1300"/>
              <a:buChar char="●"/>
            </a:pPr>
            <a:r>
              <a:rPr lang="en"/>
              <a:t>Work on API integrations between different systems.</a:t>
            </a:r>
            <a:endParaRPr/>
          </a:p>
          <a:p>
            <a:pPr indent="-311150" lvl="0" marL="457200" rtl="0" algn="l">
              <a:lnSpc>
                <a:spcPct val="115000"/>
              </a:lnSpc>
              <a:spcBef>
                <a:spcPts val="0"/>
              </a:spcBef>
              <a:spcAft>
                <a:spcPts val="0"/>
              </a:spcAft>
              <a:buSzPts val="1300"/>
              <a:buChar char="●"/>
            </a:pPr>
            <a:r>
              <a:rPr lang="en"/>
              <a:t>Ability to test and debug programs</a:t>
            </a:r>
            <a:endParaRPr/>
          </a:p>
          <a:p>
            <a:pPr indent="0" lvl="0" marL="0" rtl="0" algn="l">
              <a:lnSpc>
                <a:spcPct val="115000"/>
              </a:lnSpc>
              <a:spcBef>
                <a:spcPts val="0"/>
              </a:spcBef>
              <a:spcAft>
                <a:spcPts val="0"/>
              </a:spcAft>
              <a:buSzPts val="13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Placement Process</a:t>
            </a:r>
            <a:endParaRPr>
              <a:latin typeface="Times New Roman"/>
              <a:ea typeface="Times New Roman"/>
              <a:cs typeface="Times New Roman"/>
              <a:sym typeface="Times New Roman"/>
            </a:endParaRPr>
          </a:p>
        </p:txBody>
      </p:sp>
      <p:sp>
        <p:nvSpPr>
          <p:cNvPr id="464" name="Google Shape;464;p4"/>
          <p:cNvSpPr txBox="1"/>
          <p:nvPr>
            <p:ph idx="1" type="body"/>
          </p:nvPr>
        </p:nvSpPr>
        <p:spPr>
          <a:xfrm>
            <a:off x="1297500" y="1354125"/>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u="sng">
                <a:solidFill>
                  <a:srgbClr val="FFFF00"/>
                </a:solidFill>
              </a:rPr>
              <a:t>Campus Drive </a:t>
            </a:r>
            <a:endParaRPr u="sng">
              <a:solidFill>
                <a:srgbClr val="FFFF00"/>
              </a:solidFill>
            </a:endParaRPr>
          </a:p>
          <a:p>
            <a:pPr indent="0" lvl="0" marL="0" rtl="0" algn="l">
              <a:lnSpc>
                <a:spcPct val="115000"/>
              </a:lnSpc>
              <a:spcBef>
                <a:spcPts val="0"/>
              </a:spcBef>
              <a:spcAft>
                <a:spcPts val="0"/>
              </a:spcAft>
              <a:buSzPts val="1300"/>
              <a:buNone/>
            </a:pPr>
            <a:r>
              <a:rPr lang="en"/>
              <a:t>August 9 : 12:00 – 1:00pm</a:t>
            </a:r>
            <a:endParaRPr/>
          </a:p>
          <a:p>
            <a:pPr indent="0" lvl="0" marL="0" rtl="0" algn="l">
              <a:lnSpc>
                <a:spcPct val="115000"/>
              </a:lnSpc>
              <a:spcBef>
                <a:spcPts val="0"/>
              </a:spcBef>
              <a:spcAft>
                <a:spcPts val="0"/>
              </a:spcAft>
              <a:buSzPts val="1300"/>
              <a:buNone/>
            </a:pPr>
            <a:r>
              <a:t/>
            </a:r>
            <a:endParaRPr u="sng">
              <a:solidFill>
                <a:srgbClr val="FFFF00"/>
              </a:solidFill>
            </a:endParaRPr>
          </a:p>
          <a:p>
            <a:pPr indent="0" lvl="0" marL="0" rtl="0" algn="l">
              <a:lnSpc>
                <a:spcPct val="115000"/>
              </a:lnSpc>
              <a:spcBef>
                <a:spcPts val="0"/>
              </a:spcBef>
              <a:spcAft>
                <a:spcPts val="0"/>
              </a:spcAft>
              <a:buSzPts val="1300"/>
              <a:buNone/>
            </a:pPr>
            <a:r>
              <a:rPr lang="en" u="sng">
                <a:solidFill>
                  <a:srgbClr val="FFFF00"/>
                </a:solidFill>
              </a:rPr>
              <a:t>Process includes 2 Rounds which were:</a:t>
            </a:r>
            <a:endParaRPr u="sng">
              <a:solidFill>
                <a:srgbClr val="FFFF00"/>
              </a:solidFill>
            </a:endParaRPr>
          </a:p>
          <a:p>
            <a:pPr indent="0" lvl="0" marL="0" rtl="0" algn="l">
              <a:lnSpc>
                <a:spcPct val="115000"/>
              </a:lnSpc>
              <a:spcBef>
                <a:spcPts val="1600"/>
              </a:spcBef>
              <a:spcAft>
                <a:spcPts val="0"/>
              </a:spcAft>
              <a:buSzPts val="1300"/>
              <a:buNone/>
            </a:pPr>
            <a:r>
              <a:rPr lang="en">
                <a:solidFill>
                  <a:srgbClr val="FFFFFF"/>
                </a:solidFill>
              </a:rPr>
              <a:t>Round 1: Online Test(Technical Aptitude) </a:t>
            </a:r>
            <a:endParaRPr>
              <a:solidFill>
                <a:srgbClr val="FFFFFF"/>
              </a:solidFill>
            </a:endParaRPr>
          </a:p>
          <a:p>
            <a:pPr indent="0" lvl="0" marL="0" rtl="0" algn="l">
              <a:lnSpc>
                <a:spcPct val="115000"/>
              </a:lnSpc>
              <a:spcBef>
                <a:spcPts val="1600"/>
              </a:spcBef>
              <a:spcAft>
                <a:spcPts val="1600"/>
              </a:spcAft>
              <a:buSzPts val="1300"/>
              <a:buNone/>
            </a:pPr>
            <a:r>
              <a:rPr lang="en">
                <a:solidFill>
                  <a:srgbClr val="FFFFFF"/>
                </a:solidFill>
              </a:rPr>
              <a:t>Round 2: Technical Interview + HR (Coding questions were asked in both rounds)</a:t>
            </a: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
          <p:cNvSpPr txBox="1"/>
          <p:nvPr>
            <p:ph type="title"/>
          </p:nvPr>
        </p:nvSpPr>
        <p:spPr>
          <a:xfrm>
            <a:off x="1054800" y="180475"/>
            <a:ext cx="7281600" cy="60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Experience</a:t>
            </a:r>
            <a:endParaRPr>
              <a:latin typeface="Times New Roman"/>
              <a:ea typeface="Times New Roman"/>
              <a:cs typeface="Times New Roman"/>
              <a:sym typeface="Times New Roman"/>
            </a:endParaRPr>
          </a:p>
        </p:txBody>
      </p:sp>
      <p:sp>
        <p:nvSpPr>
          <p:cNvPr id="470" name="Google Shape;470;p5"/>
          <p:cNvSpPr txBox="1"/>
          <p:nvPr>
            <p:ph idx="1" type="body"/>
          </p:nvPr>
        </p:nvSpPr>
        <p:spPr>
          <a:xfrm>
            <a:off x="1126250" y="697125"/>
            <a:ext cx="7281600" cy="426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500"/>
              <a:t>Round 1:</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This test consisted of 100 Technical Aptitude Questions.</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Test was conducted on eklavya and the questions varied from medium to hard level. </a:t>
            </a:r>
            <a:endParaRPr sz="1500"/>
          </a:p>
          <a:p>
            <a:pPr indent="0" lvl="0" marL="457200" rtl="0" algn="l">
              <a:lnSpc>
                <a:spcPct val="100000"/>
              </a:lnSpc>
              <a:spcBef>
                <a:spcPts val="0"/>
              </a:spcBef>
              <a:spcAft>
                <a:spcPts val="0"/>
              </a:spcAft>
              <a:buSzPts val="1300"/>
              <a:buNone/>
            </a:pPr>
            <a:r>
              <a:t/>
            </a:r>
            <a:endParaRPr sz="1500"/>
          </a:p>
          <a:p>
            <a:pPr indent="0" lvl="0" marL="457200" rtl="0" algn="l">
              <a:lnSpc>
                <a:spcPct val="100000"/>
              </a:lnSpc>
              <a:spcBef>
                <a:spcPts val="0"/>
              </a:spcBef>
              <a:spcAft>
                <a:spcPts val="0"/>
              </a:spcAft>
              <a:buSzPts val="1300"/>
              <a:buNone/>
            </a:pPr>
            <a:r>
              <a:rPr lang="en" sz="1500" u="sng">
                <a:solidFill>
                  <a:srgbClr val="FFFF00"/>
                </a:solidFill>
              </a:rPr>
              <a:t>Section A:</a:t>
            </a:r>
            <a:r>
              <a:rPr lang="en" sz="1500">
                <a:solidFill>
                  <a:srgbClr val="FFFF00"/>
                </a:solidFill>
              </a:rPr>
              <a:t> </a:t>
            </a:r>
            <a:endParaRPr sz="1500">
              <a:solidFill>
                <a:srgbClr val="FFFF00"/>
              </a:solidFill>
            </a:endParaRPr>
          </a:p>
          <a:p>
            <a:pPr indent="0" lvl="0" marL="457200" rtl="0" algn="l">
              <a:lnSpc>
                <a:spcPct val="100000"/>
              </a:lnSpc>
              <a:spcBef>
                <a:spcPts val="0"/>
              </a:spcBef>
              <a:spcAft>
                <a:spcPts val="0"/>
              </a:spcAft>
              <a:buSzPts val="1300"/>
              <a:buNone/>
            </a:pPr>
            <a:r>
              <a:t/>
            </a:r>
            <a:endParaRPr sz="1500">
              <a:solidFill>
                <a:srgbClr val="FFFF00"/>
              </a:solidFill>
            </a:endParaRPr>
          </a:p>
          <a:p>
            <a:pPr indent="-323850" lvl="1" marL="914400" rtl="0" algn="l">
              <a:lnSpc>
                <a:spcPct val="100000"/>
              </a:lnSpc>
              <a:spcBef>
                <a:spcPts val="0"/>
              </a:spcBef>
              <a:spcAft>
                <a:spcPts val="0"/>
              </a:spcAft>
              <a:buSzPts val="1500"/>
              <a:buChar char="○"/>
            </a:pPr>
            <a:r>
              <a:rPr lang="en" sz="1500"/>
              <a:t>Comprised of 100 MCQ questions notably on Java,Python, C, C++,SQL,DBMS.</a:t>
            </a:r>
            <a:endParaRPr sz="1500"/>
          </a:p>
          <a:p>
            <a:pPr indent="-323850" lvl="1" marL="914400" rtl="0" algn="l">
              <a:lnSpc>
                <a:spcPct val="100000"/>
              </a:lnSpc>
              <a:spcBef>
                <a:spcPts val="0"/>
              </a:spcBef>
              <a:spcAft>
                <a:spcPts val="0"/>
              </a:spcAft>
              <a:buSzPts val="1500"/>
              <a:buChar char="○"/>
            </a:pPr>
            <a:r>
              <a:rPr lang="en" sz="1500"/>
              <a:t>Basic syntax and concepts of programming language is required.</a:t>
            </a:r>
            <a:endParaRPr sz="1500"/>
          </a:p>
          <a:p>
            <a:pPr indent="-323850" lvl="1" marL="914400" rtl="0" algn="l">
              <a:lnSpc>
                <a:spcPct val="100000"/>
              </a:lnSpc>
              <a:spcBef>
                <a:spcPts val="0"/>
              </a:spcBef>
              <a:spcAft>
                <a:spcPts val="0"/>
              </a:spcAft>
              <a:buSzPts val="1500"/>
              <a:buChar char="○"/>
            </a:pPr>
            <a:r>
              <a:rPr lang="en" sz="1500"/>
              <a:t>Practicing questions from sites like </a:t>
            </a:r>
            <a:r>
              <a:rPr lang="en" sz="1500" u="sng">
                <a:solidFill>
                  <a:srgbClr val="FFFF00"/>
                </a:solidFill>
                <a:hlinkClick r:id="rId3">
                  <a:extLst>
                    <a:ext uri="{A12FA001-AC4F-418D-AE19-62706E023703}">
                      <ahyp:hlinkClr val="tx"/>
                    </a:ext>
                  </a:extLst>
                </a:hlinkClick>
              </a:rPr>
              <a:t>indiabix</a:t>
            </a:r>
            <a:r>
              <a:rPr lang="en" sz="1500">
                <a:solidFill>
                  <a:srgbClr val="FFFF00"/>
                </a:solidFill>
              </a:rPr>
              <a:t> </a:t>
            </a:r>
            <a:r>
              <a:rPr lang="en" sz="1500"/>
              <a:t>, javatpoint, </a:t>
            </a:r>
            <a:r>
              <a:rPr lang="en" sz="1500" u="sng">
                <a:solidFill>
                  <a:srgbClr val="FFFF00"/>
                </a:solidFill>
                <a:hlinkClick r:id="rId4">
                  <a:extLst>
                    <a:ext uri="{A12FA001-AC4F-418D-AE19-62706E023703}">
                      <ahyp:hlinkClr val="tx"/>
                    </a:ext>
                  </a:extLst>
                </a:hlinkClick>
              </a:rPr>
              <a:t>GFG </a:t>
            </a:r>
            <a:r>
              <a:rPr lang="en" sz="1500"/>
              <a:t>will help you clear this section.</a:t>
            </a:r>
            <a:endParaRPr sz="1500"/>
          </a:p>
          <a:p>
            <a:pPr indent="-323850" lvl="1" marL="914400" rtl="0" algn="l">
              <a:lnSpc>
                <a:spcPct val="100000"/>
              </a:lnSpc>
              <a:spcBef>
                <a:spcPts val="0"/>
              </a:spcBef>
              <a:spcAft>
                <a:spcPts val="0"/>
              </a:spcAft>
              <a:buSzPts val="1500"/>
              <a:buChar char="○"/>
            </a:pPr>
            <a:r>
              <a:rPr lang="en" sz="1500"/>
              <a:t>Try attempting all the questions.</a:t>
            </a:r>
            <a:endParaRPr sz="1500"/>
          </a:p>
          <a:p>
            <a:pPr indent="0" lvl="0" marL="457200" rtl="0" algn="l">
              <a:lnSpc>
                <a:spcPct val="100000"/>
              </a:lnSpc>
              <a:spcBef>
                <a:spcPts val="0"/>
              </a:spcBef>
              <a:spcAft>
                <a:spcPts val="0"/>
              </a:spcAft>
              <a:buSzPts val="1300"/>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
          <p:cNvSpPr txBox="1"/>
          <p:nvPr>
            <p:ph type="title"/>
          </p:nvPr>
        </p:nvSpPr>
        <p:spPr>
          <a:xfrm>
            <a:off x="981200" y="3314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Ritika Hotwani</a:t>
            </a:r>
            <a:endParaRPr/>
          </a:p>
        </p:txBody>
      </p:sp>
      <p:sp>
        <p:nvSpPr>
          <p:cNvPr id="476" name="Google Shape;476;p7"/>
          <p:cNvSpPr txBox="1"/>
          <p:nvPr>
            <p:ph idx="1" type="body"/>
          </p:nvPr>
        </p:nvSpPr>
        <p:spPr>
          <a:xfrm>
            <a:off x="981200" y="755475"/>
            <a:ext cx="7838400" cy="390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sz="1700">
              <a:latin typeface="Share Tech"/>
              <a:ea typeface="Share Tech"/>
              <a:cs typeface="Share Tech"/>
              <a:sym typeface="Share Tech"/>
            </a:endParaRPr>
          </a:p>
          <a:p>
            <a:pPr indent="0" lvl="0" marL="0" rtl="0" algn="l">
              <a:lnSpc>
                <a:spcPct val="115000"/>
              </a:lnSpc>
              <a:spcBef>
                <a:spcPts val="0"/>
              </a:spcBef>
              <a:spcAft>
                <a:spcPts val="0"/>
              </a:spcAft>
              <a:buSzPts val="1300"/>
              <a:buNone/>
            </a:pPr>
            <a:r>
              <a:t/>
            </a:r>
            <a:endParaRPr sz="1400">
              <a:latin typeface="Share Tech"/>
              <a:ea typeface="Share Tech"/>
              <a:cs typeface="Share Tech"/>
              <a:sym typeface="Share Tech"/>
            </a:endParaRPr>
          </a:p>
          <a:p>
            <a:pPr indent="-330200" lvl="0" marL="457200" rtl="0" algn="l">
              <a:lnSpc>
                <a:spcPct val="115000"/>
              </a:lnSpc>
              <a:spcBef>
                <a:spcPts val="0"/>
              </a:spcBef>
              <a:spcAft>
                <a:spcPts val="0"/>
              </a:spcAft>
              <a:buSzPts val="1600"/>
              <a:buChar char="●"/>
            </a:pPr>
            <a:r>
              <a:rPr lang="en" sz="1600"/>
              <a:t>The interview started with a short introduction about myself where I gave a brief about my projects, internships and co-curricular achievements.</a:t>
            </a:r>
            <a:endParaRPr sz="1600"/>
          </a:p>
          <a:p>
            <a:pPr indent="-330200" lvl="0" marL="457200" rtl="0" algn="l">
              <a:lnSpc>
                <a:spcPct val="115000"/>
              </a:lnSpc>
              <a:spcBef>
                <a:spcPts val="1000"/>
              </a:spcBef>
              <a:spcAft>
                <a:spcPts val="0"/>
              </a:spcAft>
              <a:buSzPts val="1600"/>
              <a:buChar char="●"/>
            </a:pPr>
            <a:r>
              <a:rPr lang="en" sz="1600"/>
              <a:t>He started with with questions on tech stack used in my projects(Node.js, SQL). Then he asked me few questions on Data structures majorly focused on queues and stacks.</a:t>
            </a:r>
            <a:endParaRPr sz="1600"/>
          </a:p>
          <a:p>
            <a:pPr indent="-330200" lvl="0" marL="457200" rtl="0" algn="l">
              <a:lnSpc>
                <a:spcPct val="115000"/>
              </a:lnSpc>
              <a:spcBef>
                <a:spcPts val="1000"/>
              </a:spcBef>
              <a:spcAft>
                <a:spcPts val="0"/>
              </a:spcAft>
              <a:buSzPts val="1600"/>
              <a:buChar char="●"/>
            </a:pPr>
            <a:r>
              <a:rPr lang="en" sz="1600"/>
              <a:t>Nextly he asked  questions on java and oops concepts like abstract methods, inheritance,polymorphism,interfaces.</a:t>
            </a:r>
            <a:endParaRPr sz="1600"/>
          </a:p>
          <a:p>
            <a:pPr indent="-330200" lvl="0" marL="457200" rtl="0" algn="l">
              <a:lnSpc>
                <a:spcPct val="115000"/>
              </a:lnSpc>
              <a:spcBef>
                <a:spcPts val="1000"/>
              </a:spcBef>
              <a:spcAft>
                <a:spcPts val="0"/>
              </a:spcAft>
              <a:buSzPts val="1600"/>
              <a:buChar char="●"/>
            </a:pPr>
            <a:r>
              <a:rPr lang="en" sz="1600"/>
              <a:t>After that, he asked me some DBMS concepts and situational questions based on databases . The interviewer kept asking follow up questions on my answers and we discussed on it for a while.  </a:t>
            </a:r>
            <a:endParaRPr sz="1600"/>
          </a:p>
          <a:p>
            <a:pPr indent="0" lvl="0" marL="0" rtl="0" algn="l">
              <a:lnSpc>
                <a:spcPct val="115000"/>
              </a:lnSpc>
              <a:spcBef>
                <a:spcPts val="1000"/>
              </a:spcBef>
              <a:spcAft>
                <a:spcPts val="0"/>
              </a:spcAft>
              <a:buSzPts val="1300"/>
              <a:buNone/>
            </a:pPr>
            <a:r>
              <a:t/>
            </a:r>
            <a:endParaRPr sz="1600"/>
          </a:p>
          <a:p>
            <a:pPr indent="0" lvl="0" marL="457200" rtl="0" algn="l">
              <a:lnSpc>
                <a:spcPct val="115000"/>
              </a:lnSpc>
              <a:spcBef>
                <a:spcPts val="0"/>
              </a:spcBef>
              <a:spcAft>
                <a:spcPts val="0"/>
              </a:spcAft>
              <a:buSzPts val="1300"/>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
          <p:cNvSpPr txBox="1"/>
          <p:nvPr>
            <p:ph type="title"/>
          </p:nvPr>
        </p:nvSpPr>
        <p:spPr>
          <a:xfrm>
            <a:off x="1054700" y="4103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Ritika Hotwani</a:t>
            </a:r>
            <a:endParaRPr/>
          </a:p>
        </p:txBody>
      </p:sp>
      <p:sp>
        <p:nvSpPr>
          <p:cNvPr id="482" name="Google Shape;482;p8"/>
          <p:cNvSpPr txBox="1"/>
          <p:nvPr>
            <p:ph idx="1" type="body"/>
          </p:nvPr>
        </p:nvSpPr>
        <p:spPr>
          <a:xfrm>
            <a:off x="981200" y="1199325"/>
            <a:ext cx="7428600" cy="35514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SzPts val="1500"/>
              <a:buChar char="●"/>
            </a:pPr>
            <a:r>
              <a:rPr lang="en" sz="1500"/>
              <a:t>Then he gave me a sentence and asked my approach on how to reverse that sentence with some conditions after listening to my approach he asked me to code it.</a:t>
            </a:r>
            <a:endParaRPr sz="1500"/>
          </a:p>
          <a:p>
            <a:pPr indent="-323850" lvl="0" marL="457200" rtl="0" algn="l">
              <a:lnSpc>
                <a:spcPct val="120000"/>
              </a:lnSpc>
              <a:spcBef>
                <a:spcPts val="1000"/>
              </a:spcBef>
              <a:spcAft>
                <a:spcPts val="0"/>
              </a:spcAft>
              <a:buSzPts val="1500"/>
              <a:buChar char="●"/>
            </a:pPr>
            <a:r>
              <a:rPr lang="en" sz="1500"/>
              <a:t>Later he asked me about .NET but I didn’t have any experience with it so I was honest about it.</a:t>
            </a:r>
            <a:endParaRPr sz="1500"/>
          </a:p>
          <a:p>
            <a:pPr indent="-323850" lvl="0" marL="457200" rtl="0" algn="l">
              <a:lnSpc>
                <a:spcPct val="120000"/>
              </a:lnSpc>
              <a:spcBef>
                <a:spcPts val="1000"/>
              </a:spcBef>
              <a:spcAft>
                <a:spcPts val="0"/>
              </a:spcAft>
              <a:buSzPts val="1500"/>
              <a:buChar char="●"/>
            </a:pPr>
            <a:r>
              <a:rPr lang="en" sz="1500"/>
              <a:t>Lastly, he asked me  3 to 4 puzzles which were more logical than mathematical( listening skills played a vital role here as meaning of the words was twisted)</a:t>
            </a:r>
            <a:endParaRPr sz="1500"/>
          </a:p>
          <a:p>
            <a:pPr indent="-323850" lvl="0" marL="457200" rtl="0" algn="l">
              <a:lnSpc>
                <a:spcPct val="120000"/>
              </a:lnSpc>
              <a:spcBef>
                <a:spcPts val="1000"/>
              </a:spcBef>
              <a:spcAft>
                <a:spcPts val="0"/>
              </a:spcAft>
              <a:buSzPts val="1500"/>
              <a:buChar char="●"/>
            </a:pPr>
            <a:r>
              <a:rPr lang="en" sz="1500"/>
              <a:t>At the end of the interview, I asked him a couple of questions and he was nice enough to answer them in a very friendly manner.</a:t>
            </a:r>
            <a:endParaRPr sz="1500"/>
          </a:p>
          <a:p>
            <a:pPr indent="0" lvl="0" marL="0" rtl="0" algn="l">
              <a:lnSpc>
                <a:spcPct val="120000"/>
              </a:lnSpc>
              <a:spcBef>
                <a:spcPts val="1000"/>
              </a:spcBef>
              <a:spcAft>
                <a:spcPts val="0"/>
              </a:spcAft>
              <a:buSzPts val="1300"/>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26"/>
          <p:cNvSpPr txBox="1"/>
          <p:nvPr>
            <p:ph type="title"/>
          </p:nvPr>
        </p:nvSpPr>
        <p:spPr>
          <a:xfrm>
            <a:off x="1297500" y="177625"/>
            <a:ext cx="7038900" cy="62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 : </a:t>
            </a:r>
            <a:endParaRPr/>
          </a:p>
        </p:txBody>
      </p:sp>
      <p:sp>
        <p:nvSpPr>
          <p:cNvPr id="488" name="Google Shape;488;p26"/>
          <p:cNvSpPr txBox="1"/>
          <p:nvPr>
            <p:ph idx="1" type="body"/>
          </p:nvPr>
        </p:nvSpPr>
        <p:spPr>
          <a:xfrm>
            <a:off x="1297500" y="704050"/>
            <a:ext cx="7392300" cy="3987300"/>
          </a:xfrm>
          <a:prstGeom prst="rect">
            <a:avLst/>
          </a:prstGeom>
          <a:noFill/>
          <a:ln>
            <a:noFill/>
          </a:ln>
        </p:spPr>
        <p:txBody>
          <a:bodyPr anchorCtr="0" anchor="t" bIns="91425" lIns="91425" spcFirstLastPara="1" rIns="91425" wrap="square" tIns="91425">
            <a:noAutofit/>
          </a:bodyPr>
          <a:lstStyle/>
          <a:p>
            <a:pPr indent="-323850" lvl="0" marL="457200" rtl="0" algn="l">
              <a:lnSpc>
                <a:spcPct val="125000"/>
              </a:lnSpc>
              <a:spcBef>
                <a:spcPts val="0"/>
              </a:spcBef>
              <a:spcAft>
                <a:spcPts val="0"/>
              </a:spcAft>
              <a:buSzPts val="1500"/>
              <a:buChar char="●"/>
            </a:pPr>
            <a:r>
              <a:rPr lang="en" sz="1500"/>
              <a:t>Solve technical aptitude questions :SQL,Python,DBMS,Java,C.</a:t>
            </a:r>
            <a:endParaRPr sz="1500"/>
          </a:p>
          <a:p>
            <a:pPr indent="-323850" lvl="0" marL="457200" rtl="0" algn="l">
              <a:lnSpc>
                <a:spcPct val="115000"/>
              </a:lnSpc>
              <a:spcBef>
                <a:spcPts val="0"/>
              </a:spcBef>
              <a:spcAft>
                <a:spcPts val="0"/>
              </a:spcAft>
              <a:buSzPts val="1500"/>
              <a:buChar char="●"/>
            </a:pPr>
            <a:r>
              <a:rPr lang="en" sz="1600"/>
              <a:t>Be absolutely thorough with your resumé and only write what you feel most confident about.</a:t>
            </a:r>
            <a:endParaRPr sz="1500"/>
          </a:p>
          <a:p>
            <a:pPr indent="-323850" lvl="0" marL="457200" rtl="0" algn="l">
              <a:lnSpc>
                <a:spcPct val="125000"/>
              </a:lnSpc>
              <a:spcBef>
                <a:spcPts val="0"/>
              </a:spcBef>
              <a:spcAft>
                <a:spcPts val="0"/>
              </a:spcAft>
              <a:buSzPts val="1500"/>
              <a:buChar char="●"/>
            </a:pPr>
            <a:r>
              <a:rPr lang="en" sz="1500"/>
              <a:t>Practice DSA questions on websites like HackerRank and Leetcode: Level-Easy,Medium.</a:t>
            </a:r>
            <a:endParaRPr sz="1500"/>
          </a:p>
          <a:p>
            <a:pPr indent="-323850" lvl="0" marL="457200" rtl="0" algn="l">
              <a:lnSpc>
                <a:spcPct val="125000"/>
              </a:lnSpc>
              <a:spcBef>
                <a:spcPts val="0"/>
              </a:spcBef>
              <a:spcAft>
                <a:spcPts val="0"/>
              </a:spcAft>
              <a:buSzPts val="1500"/>
              <a:buChar char="●"/>
            </a:pPr>
            <a:r>
              <a:rPr lang="en" sz="1500"/>
              <a:t>Prepare as many puzzles as possible from GFG.</a:t>
            </a:r>
            <a:endParaRPr sz="1500"/>
          </a:p>
          <a:p>
            <a:pPr indent="-323850" lvl="0" marL="457200" rtl="0" algn="l">
              <a:lnSpc>
                <a:spcPct val="125000"/>
              </a:lnSpc>
              <a:spcBef>
                <a:spcPts val="0"/>
              </a:spcBef>
              <a:spcAft>
                <a:spcPts val="0"/>
              </a:spcAft>
              <a:buSzPts val="1500"/>
              <a:buChar char="●"/>
            </a:pPr>
            <a:r>
              <a:rPr lang="en" sz="1500"/>
              <a:t>Round 1 of any company plays a very important part hence do keep practicing questions on Interview Bit, IndiaBix, GFG.</a:t>
            </a:r>
            <a:endParaRPr sz="1500"/>
          </a:p>
          <a:p>
            <a:pPr indent="-323850" lvl="0" marL="457200" rtl="0" algn="l">
              <a:lnSpc>
                <a:spcPct val="125000"/>
              </a:lnSpc>
              <a:spcBef>
                <a:spcPts val="0"/>
              </a:spcBef>
              <a:spcAft>
                <a:spcPts val="0"/>
              </a:spcAft>
              <a:buSzPts val="1500"/>
              <a:buChar char="●"/>
            </a:pPr>
            <a:r>
              <a:rPr lang="en" sz="1500"/>
              <a:t>Go through basic to intermediate level interview questions from your tech stack.</a:t>
            </a:r>
            <a:endParaRPr sz="1500"/>
          </a:p>
          <a:p>
            <a:pPr indent="-323850" lvl="0" marL="457200" rtl="0" algn="l">
              <a:lnSpc>
                <a:spcPct val="125000"/>
              </a:lnSpc>
              <a:spcBef>
                <a:spcPts val="0"/>
              </a:spcBef>
              <a:spcAft>
                <a:spcPts val="0"/>
              </a:spcAft>
              <a:buSzPts val="1500"/>
              <a:buChar char="●"/>
            </a:pPr>
            <a:r>
              <a:rPr lang="en" sz="1500"/>
              <a:t>Pay attention during pre-placement talks and also go through company’s official website( You can ask questions to the interviewer referring to the information you receive through them)</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2b2c705b716_0_0"/>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sz="1800">
                <a:latin typeface="Maven Pro"/>
                <a:ea typeface="Maven Pro"/>
                <a:cs typeface="Maven Pro"/>
                <a:sym typeface="Maven Pro"/>
              </a:rPr>
              <a:t>Rikita Hotwani Interviews Questions </a:t>
            </a:r>
            <a:endParaRPr sz="1800">
              <a:latin typeface="Maven Pro"/>
              <a:ea typeface="Maven Pro"/>
              <a:cs typeface="Maven Pro"/>
              <a:sym typeface="Maven Pro"/>
            </a:endParaRPr>
          </a:p>
          <a:p>
            <a:pPr indent="0" lvl="0" marL="0" rtl="0" algn="l">
              <a:lnSpc>
                <a:spcPct val="100000"/>
              </a:lnSpc>
              <a:spcBef>
                <a:spcPts val="0"/>
              </a:spcBef>
              <a:spcAft>
                <a:spcPts val="0"/>
              </a:spcAft>
              <a:buSzPts val="2400"/>
              <a:buNone/>
            </a:pPr>
            <a:r>
              <a:t/>
            </a:r>
            <a:endParaRPr sz="1800">
              <a:latin typeface="Maven Pro"/>
              <a:ea typeface="Maven Pro"/>
              <a:cs typeface="Maven Pro"/>
              <a:sym typeface="Maven Pro"/>
            </a:endParaRPr>
          </a:p>
          <a:p>
            <a:pPr indent="0" lvl="0" marL="0" rtl="0" algn="l">
              <a:lnSpc>
                <a:spcPct val="100000"/>
              </a:lnSpc>
              <a:spcBef>
                <a:spcPts val="0"/>
              </a:spcBef>
              <a:spcAft>
                <a:spcPts val="0"/>
              </a:spcAft>
              <a:buSzPts val="2400"/>
              <a:buNone/>
            </a:pPr>
            <a:r>
              <a:t/>
            </a:r>
            <a:endParaRPr sz="1800">
              <a:latin typeface="Maven Pro"/>
              <a:ea typeface="Maven Pro"/>
              <a:cs typeface="Maven Pro"/>
              <a:sym typeface="Maven Pro"/>
            </a:endParaRPr>
          </a:p>
        </p:txBody>
      </p:sp>
      <p:sp>
        <p:nvSpPr>
          <p:cNvPr id="494" name="Google Shape;494;g2b2c705b716_0_0"/>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t/>
            </a:r>
            <a:endParaRPr/>
          </a:p>
          <a:p>
            <a:pPr indent="0" lvl="0" marL="0" rtl="0" algn="l">
              <a:lnSpc>
                <a:spcPct val="115000"/>
              </a:lnSpc>
              <a:spcBef>
                <a:spcPts val="0"/>
              </a:spcBef>
              <a:spcAft>
                <a:spcPts val="0"/>
              </a:spcAft>
              <a:buSzPts val="1300"/>
              <a:buNone/>
            </a:pPr>
            <a:r>
              <a:rPr lang="en" u="sng">
                <a:solidFill>
                  <a:schemeClr val="hlink"/>
                </a:solidFill>
                <a:hlinkClick r:id="rId3"/>
              </a:rPr>
              <a:t>https://docs.google.com/document/d/1AGQB0hk9XwovIvmv6vOFkR-HXiTAFW28b8EcAWaGhFI/edit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2668d24ce53_0_4"/>
          <p:cNvSpPr txBox="1"/>
          <p:nvPr>
            <p:ph type="title"/>
          </p:nvPr>
        </p:nvSpPr>
        <p:spPr>
          <a:xfrm>
            <a:off x="981200" y="540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Suraj Patel</a:t>
            </a:r>
            <a:endParaRPr/>
          </a:p>
        </p:txBody>
      </p:sp>
      <p:sp>
        <p:nvSpPr>
          <p:cNvPr id="500" name="Google Shape;500;g2668d24ce53_0_4"/>
          <p:cNvSpPr txBox="1"/>
          <p:nvPr>
            <p:ph idx="1" type="body"/>
          </p:nvPr>
        </p:nvSpPr>
        <p:spPr>
          <a:xfrm>
            <a:off x="675525" y="676500"/>
            <a:ext cx="8162700" cy="44670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SzPts val="1500"/>
              <a:buChar char="●"/>
            </a:pPr>
            <a:r>
              <a:rPr lang="en" sz="1500"/>
              <a:t>I gave a brief overview of myself at the beginning of the interview, including my projects, internships, and extracurricular accomplishments.</a:t>
            </a:r>
            <a:endParaRPr sz="1500"/>
          </a:p>
          <a:p>
            <a:pPr indent="0" lvl="0" marL="0" rtl="0" algn="l">
              <a:lnSpc>
                <a:spcPct val="120000"/>
              </a:lnSpc>
              <a:spcBef>
                <a:spcPts val="0"/>
              </a:spcBef>
              <a:spcAft>
                <a:spcPts val="0"/>
              </a:spcAft>
              <a:buSzPts val="1300"/>
              <a:buNone/>
            </a:pPr>
            <a:r>
              <a:t/>
            </a:r>
            <a:endParaRPr sz="1500"/>
          </a:p>
          <a:p>
            <a:pPr indent="-323850" lvl="0" marL="457200" rtl="0" algn="l">
              <a:lnSpc>
                <a:spcPct val="120000"/>
              </a:lnSpc>
              <a:spcBef>
                <a:spcPts val="0"/>
              </a:spcBef>
              <a:spcAft>
                <a:spcPts val="0"/>
              </a:spcAft>
              <a:buSzPts val="1500"/>
              <a:buChar char="●"/>
            </a:pPr>
            <a:r>
              <a:rPr lang="en" sz="1500">
                <a:latin typeface="Arial"/>
                <a:ea typeface="Arial"/>
                <a:cs typeface="Arial"/>
                <a:sym typeface="Arial"/>
              </a:rPr>
              <a:t>He stared question on java and oops concept like inheritance, polymorphism etc.So they just check my knowledge in oops. After this, they stated to make some cross-question.</a:t>
            </a:r>
            <a:endParaRPr sz="1500">
              <a:latin typeface="Arial"/>
              <a:ea typeface="Arial"/>
              <a:cs typeface="Arial"/>
              <a:sym typeface="Arial"/>
            </a:endParaRPr>
          </a:p>
          <a:p>
            <a:pPr indent="0" lvl="0" marL="0" rtl="0" algn="l">
              <a:lnSpc>
                <a:spcPct val="120000"/>
              </a:lnSpc>
              <a:spcBef>
                <a:spcPts val="0"/>
              </a:spcBef>
              <a:spcAft>
                <a:spcPts val="0"/>
              </a:spcAft>
              <a:buSzPts val="1300"/>
              <a:buNone/>
            </a:pPr>
            <a:r>
              <a:t/>
            </a:r>
            <a:endParaRPr sz="1500">
              <a:latin typeface="Arial"/>
              <a:ea typeface="Arial"/>
              <a:cs typeface="Arial"/>
              <a:sym typeface="Arial"/>
            </a:endParaRPr>
          </a:p>
          <a:p>
            <a:pPr indent="-323850" lvl="0" marL="457200" rtl="0" algn="l">
              <a:lnSpc>
                <a:spcPct val="120000"/>
              </a:lnSpc>
              <a:spcBef>
                <a:spcPts val="0"/>
              </a:spcBef>
              <a:spcAft>
                <a:spcPts val="0"/>
              </a:spcAft>
              <a:buSzPts val="1500"/>
              <a:buChar char="●"/>
            </a:pPr>
            <a:r>
              <a:rPr lang="en" sz="1500"/>
              <a:t>After this, they asked questions on data structures and algorithms.Like they start asking which data structure does what etc. After this they give me two problem one is based on the prefix and one is based on string.</a:t>
            </a:r>
            <a:endParaRPr sz="1500"/>
          </a:p>
          <a:p>
            <a:pPr indent="0" lvl="0" marL="0" rtl="0" algn="l">
              <a:lnSpc>
                <a:spcPct val="120000"/>
              </a:lnSpc>
              <a:spcBef>
                <a:spcPts val="0"/>
              </a:spcBef>
              <a:spcAft>
                <a:spcPts val="0"/>
              </a:spcAft>
              <a:buSzPts val="1300"/>
              <a:buNone/>
            </a:pPr>
            <a:r>
              <a:t/>
            </a:r>
            <a:endParaRPr sz="1500"/>
          </a:p>
          <a:p>
            <a:pPr indent="-323850" lvl="0" marL="457200" rtl="0" algn="l">
              <a:lnSpc>
                <a:spcPct val="120000"/>
              </a:lnSpc>
              <a:spcBef>
                <a:spcPts val="0"/>
              </a:spcBef>
              <a:spcAft>
                <a:spcPts val="0"/>
              </a:spcAft>
              <a:buSzPts val="1500"/>
              <a:buChar char="●"/>
            </a:pPr>
            <a:r>
              <a:rPr lang="en" sz="1500"/>
              <a:t> Later, he gives questions based on SQL. And also give me question on sql query. </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2b2b0ed6219_0_3"/>
          <p:cNvSpPr txBox="1"/>
          <p:nvPr>
            <p:ph type="title"/>
          </p:nvPr>
        </p:nvSpPr>
        <p:spPr>
          <a:xfrm>
            <a:off x="1052550" y="197675"/>
            <a:ext cx="6143400" cy="6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rgbClr val="000000"/>
              </a:buClr>
              <a:buSzPts val="2400"/>
              <a:buFont typeface="Arial"/>
              <a:buNone/>
            </a:pPr>
            <a:r>
              <a:rPr lang="en"/>
              <a:t>Experience of Suraj Patel</a:t>
            </a:r>
            <a:endParaRPr/>
          </a:p>
        </p:txBody>
      </p:sp>
      <p:sp>
        <p:nvSpPr>
          <p:cNvPr id="506" name="Google Shape;506;g2b2b0ed6219_0_3"/>
          <p:cNvSpPr txBox="1"/>
          <p:nvPr>
            <p:ph idx="1" type="body"/>
          </p:nvPr>
        </p:nvSpPr>
        <p:spPr>
          <a:xfrm>
            <a:off x="1052550" y="811775"/>
            <a:ext cx="7038900" cy="2911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Then after this they go through my resume.</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And ask question on project and certification mention on project.So go through your resume properly. </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Later he asked me about Reactjs because i mention project on mern stack.3 or 4 question on each technology i mention on resume</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And tell me to explain how feature is implement and why this type of cross question asked.  </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I asked him a few questions at the end of the interview, and he was kind enough to respond to them politely.</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2b2b0ed6219_0_11"/>
          <p:cNvSpPr txBox="1"/>
          <p:nvPr>
            <p:ph type="title"/>
          </p:nvPr>
        </p:nvSpPr>
        <p:spPr>
          <a:xfrm>
            <a:off x="1297500" y="14602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Tips</a:t>
            </a:r>
            <a:endParaRPr/>
          </a:p>
        </p:txBody>
      </p:sp>
      <p:sp>
        <p:nvSpPr>
          <p:cNvPr id="512" name="Google Shape;512;g2b2b0ed6219_0_11"/>
          <p:cNvSpPr txBox="1"/>
          <p:nvPr>
            <p:ph idx="1" type="body"/>
          </p:nvPr>
        </p:nvSpPr>
        <p:spPr>
          <a:xfrm>
            <a:off x="1297500" y="691075"/>
            <a:ext cx="7038900" cy="2911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When creating your resume, go over it completely and only include information that you are most sure in.</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Solve technical aptitude question.</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Practice dsa coding problem in leetcode, coding ninja and geeksforgeeks.Solve problem mostly of easy and medium level.</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Practice sql query in hacker rank and leetcode.</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Learn concept of OOPS properly.</a:t>
            </a:r>
            <a:endParaRPr sz="1500"/>
          </a:p>
          <a:p>
            <a:pPr indent="-323850" lvl="0" marL="457200" rtl="0" algn="l">
              <a:lnSpc>
                <a:spcPct val="115000"/>
              </a:lnSpc>
              <a:spcBef>
                <a:spcPts val="0"/>
              </a:spcBef>
              <a:spcAft>
                <a:spcPts val="0"/>
              </a:spcAft>
              <a:buSzPts val="1500"/>
              <a:buChar char="●"/>
            </a:pPr>
            <a:r>
              <a:rPr lang="en" sz="1500"/>
              <a:t>Also practice Quantitative Aptitude from indiabix.com and geeksforgeeks.</a:t>
            </a:r>
            <a:endParaRPr sz="1500"/>
          </a:p>
          <a:p>
            <a:pPr indent="0" lvl="0" marL="0" rtl="0" algn="l">
              <a:lnSpc>
                <a:spcPct val="115000"/>
              </a:lnSpc>
              <a:spcBef>
                <a:spcPts val="0"/>
              </a:spcBef>
              <a:spcAft>
                <a:spcPts val="0"/>
              </a:spcAft>
              <a:buSzPts val="1300"/>
              <a:buNone/>
            </a:pPr>
            <a:r>
              <a:t/>
            </a:r>
            <a:endParaRPr sz="1500"/>
          </a:p>
          <a:p>
            <a:pPr indent="-323850" lvl="0" marL="457200" rtl="0" algn="l">
              <a:lnSpc>
                <a:spcPct val="115000"/>
              </a:lnSpc>
              <a:spcBef>
                <a:spcPts val="0"/>
              </a:spcBef>
              <a:spcAft>
                <a:spcPts val="0"/>
              </a:spcAft>
              <a:buSzPts val="1500"/>
              <a:buChar char="●"/>
            </a:pPr>
            <a:r>
              <a:rPr lang="en" sz="1500"/>
              <a:t>Attend pre-placement discussions and review the company's website. (You can ask the interviewer questions pertaining to the information you obtain from them)   </a:t>
            </a:r>
            <a:br>
              <a:rPr lang="en" sz="1500"/>
            </a:br>
            <a:r>
              <a:rPr lang="en" sz="1500"/>
              <a:t>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2b2c705b716_0_1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Suraj Patel Interview Questions</a:t>
            </a:r>
            <a:endParaRPr/>
          </a:p>
        </p:txBody>
      </p:sp>
      <p:sp>
        <p:nvSpPr>
          <p:cNvPr id="518" name="Google Shape;518;g2b2c705b716_0_17"/>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u="sng">
                <a:solidFill>
                  <a:schemeClr val="hlink"/>
                </a:solidFill>
                <a:hlinkClick r:id="rId3"/>
              </a:rPr>
              <a:t>https://docs.google.com/document/d/158ssEpX9PE4h4d9Qwr17ekLqHxIA0poXCHPimih-qwU/edit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27"/>
          <p:cNvSpPr txBox="1"/>
          <p:nvPr/>
        </p:nvSpPr>
        <p:spPr>
          <a:xfrm>
            <a:off x="1561650" y="751903"/>
            <a:ext cx="6020700" cy="881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200"/>
              <a:buFont typeface="Arial"/>
              <a:buNone/>
            </a:pPr>
            <a:r>
              <a:rPr b="0" i="0" lang="en" sz="5200" u="none" cap="none" strike="noStrike">
                <a:solidFill>
                  <a:srgbClr val="FFFFFF"/>
                </a:solidFill>
                <a:latin typeface="Share Tech"/>
                <a:ea typeface="Share Tech"/>
                <a:cs typeface="Share Tech"/>
                <a:sym typeface="Share Tech"/>
              </a:rPr>
              <a:t>Feel free to contact us</a:t>
            </a:r>
            <a:endParaRPr b="0" i="0" sz="5200" u="none" cap="none" strike="noStrike">
              <a:solidFill>
                <a:srgbClr val="FFFFFF"/>
              </a:solidFill>
              <a:latin typeface="Share Tech"/>
              <a:ea typeface="Share Tech"/>
              <a:cs typeface="Share Tech"/>
              <a:sym typeface="Share Tech"/>
            </a:endParaRPr>
          </a:p>
        </p:txBody>
      </p:sp>
      <p:sp>
        <p:nvSpPr>
          <p:cNvPr id="524" name="Google Shape;524;p27"/>
          <p:cNvSpPr txBox="1"/>
          <p:nvPr/>
        </p:nvSpPr>
        <p:spPr>
          <a:xfrm>
            <a:off x="894600" y="2200975"/>
            <a:ext cx="7354800" cy="9159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Ritika Hotwani: 2020.ritika.hotwani@ves.ac.in</a:t>
            </a:r>
            <a:endParaRPr b="0" i="0" sz="1900" u="none" cap="none" strike="noStrike">
              <a:solidFill>
                <a:schemeClr val="lt1"/>
              </a:solidFill>
              <a:latin typeface="Maven Pro"/>
              <a:ea typeface="Maven Pro"/>
              <a:cs typeface="Maven Pro"/>
              <a:sym typeface="Maven Pro"/>
            </a:endParaRPr>
          </a:p>
          <a:p>
            <a:pPr indent="0" lvl="0" marL="0" marR="0" rtl="0" algn="ctr">
              <a:lnSpc>
                <a:spcPct val="150000"/>
              </a:lnSpc>
              <a:spcBef>
                <a:spcPts val="0"/>
              </a:spcBef>
              <a:spcAft>
                <a:spcPts val="0"/>
              </a:spcAft>
              <a:buClr>
                <a:srgbClr val="000000"/>
              </a:buClr>
              <a:buSzPts val="1900"/>
              <a:buFont typeface="Arial"/>
              <a:buNone/>
            </a:pPr>
            <a:r>
              <a:rPr b="0" i="0" lang="en" sz="1900" u="none" cap="none" strike="noStrike">
                <a:solidFill>
                  <a:schemeClr val="lt1"/>
                </a:solidFill>
                <a:latin typeface="Maven Pro"/>
                <a:ea typeface="Maven Pro"/>
                <a:cs typeface="Maven Pro"/>
                <a:sym typeface="Maven Pro"/>
              </a:rPr>
              <a:t>Suraj Patel:2020.suraj.patel@ves.ac.in</a:t>
            </a:r>
            <a:endParaRPr b="0" i="0" sz="1900" u="none" cap="none" strike="noStrike">
              <a:solidFill>
                <a:schemeClr val="lt1"/>
              </a:solidFill>
              <a:latin typeface="Maven Pro"/>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2b2be5d905a_1_5"/>
          <p:cNvSpPr txBox="1"/>
          <p:nvPr>
            <p:ph type="ctrTitle"/>
          </p:nvPr>
        </p:nvSpPr>
        <p:spPr>
          <a:xfrm>
            <a:off x="153075" y="-283237"/>
            <a:ext cx="60207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2400"/>
              <a:t>Interview Questions:</a:t>
            </a:r>
            <a:endParaRPr sz="2400"/>
          </a:p>
        </p:txBody>
      </p:sp>
      <p:sp>
        <p:nvSpPr>
          <p:cNvPr id="530" name="Google Shape;530;g2b2be5d905a_1_5"/>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