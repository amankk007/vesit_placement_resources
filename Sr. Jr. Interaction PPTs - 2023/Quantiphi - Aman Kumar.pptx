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Advent Pro SemiBold" panose="020B0604020202020204" charset="0"/>
      <p:regular r:id="rId20"/>
      <p:bold r:id="rId21"/>
      <p:italic r:id="rId22"/>
      <p:boldItalic r:id="rId23"/>
    </p:embeddedFont>
    <p:embeddedFont>
      <p:font typeface="Fira Sans Condensed Medium" panose="020B0603050000020004" pitchFamily="34" charset="0"/>
      <p:regular r:id="rId24"/>
      <p:bold r:id="rId25"/>
      <p:italic r:id="rId26"/>
      <p:boldItalic r:id="rId27"/>
    </p:embeddedFont>
    <p:embeddedFont>
      <p:font typeface="Fira Sans Extra Condensed Medium" panose="020B0604020202020204" charset="0"/>
      <p:regular r:id="rId28"/>
      <p:bold r:id="rId29"/>
      <p:italic r:id="rId30"/>
      <p:boldItalic r:id="rId31"/>
    </p:embeddedFont>
    <p:embeddedFont>
      <p:font typeface="Livvic Light" pitchFamily="2" charset="0"/>
      <p:regular r:id="rId32"/>
      <p:italic r:id="rId33"/>
    </p:embeddedFont>
    <p:embeddedFont>
      <p:font typeface="Maven Pro" panose="020B0604020202020204" charset="0"/>
      <p:regular r:id="rId34"/>
      <p:bold r:id="rId35"/>
    </p:embeddedFont>
    <p:embeddedFont>
      <p:font typeface="Nunito Light" pitchFamily="2" charset="0"/>
      <p:regular r:id="rId36"/>
      <p:italic r:id="rId37"/>
    </p:embeddedFont>
    <p:embeddedFont>
      <p:font typeface="Share Tech" panose="020B060402020202020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E4FFB6-0174-41E3-A667-2C1791E316FC}">
  <a:tblStyle styleId="{3BE4FFB6-0174-41E3-A667-2C1791E316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8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presProps" Target="pres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f38d8870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1f38d8870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10f2751367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10f2751367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f44b47d10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g1f44b47d10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f38d8870d7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1f38d8870d7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f391783037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f391783037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f3917830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g1f3917830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f451e071e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g1f451e071e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10f2751367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210f2751367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10f2751367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g210f2751367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f39178303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g1f39178303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f391783037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g1f391783037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10f275136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g210f275136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10f2751367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210f2751367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f44b47d1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1f44b47d1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10f2751367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10f2751367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f451e071e2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g1f451e071e2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rgbClr val="E898A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3"/>
          <p:cNvSpPr txBox="1">
            <a:spLocks noGrp="1"/>
          </p:cNvSpPr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rgbClr val="E898A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1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ctrTitle" idx="2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3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2307882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" name="Google Shape;125;p8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26" name="Google Shape;126;p8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8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293004" y="835609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778504" y="2156778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8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133" name="Google Shape;133;p8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rgbClr val="E898A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36" name="Google Shape;136;p8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8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39" name="Google Shape;139;p8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42" name="Google Shape;142;p8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47" name="Google Shape;147;p8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" name="Google Shape;150;p8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151;p8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2" name="Google Shape;152;p8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55" name="Google Shape;155;p8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8"/>
          <p:cNvSpPr/>
          <p:nvPr/>
        </p:nvSpPr>
        <p:spPr>
          <a:xfrm>
            <a:off x="2702019" y="1158651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4095146" y="-859690"/>
            <a:ext cx="199001" cy="2139769"/>
            <a:chOff x="8008096" y="2108910"/>
            <a:chExt cx="199001" cy="2139769"/>
          </a:xfrm>
        </p:grpSpPr>
        <p:sp>
          <p:nvSpPr>
            <p:cNvPr id="159" name="Google Shape;159;p8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2" name="Google Shape;162;p8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5" name="Google Shape;165;p8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>
            <a:off x="5539523" y="4516718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994217" y="3378784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>
            <a:spLocks noGrp="1"/>
          </p:cNvSpPr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>
            <a:spLocks noGrp="1"/>
          </p:cNvSpPr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7" name="Google Shape;177;p11"/>
          <p:cNvSpPr txBox="1">
            <a:spLocks noGrp="1"/>
          </p:cNvSpPr>
          <p:nvPr>
            <p:ph type="subTitle" idx="1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1621169" y="2890613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238740" y="2106884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8217007" y="3576772"/>
            <a:ext cx="188886" cy="1181531"/>
            <a:chOff x="2877432" y="975334"/>
            <a:chExt cx="188886" cy="1181531"/>
          </a:xfrm>
        </p:grpSpPr>
        <p:sp>
          <p:nvSpPr>
            <p:cNvPr id="184" name="Google Shape;184;p11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" name="Google Shape;187;p11"/>
          <p:cNvSpPr/>
          <p:nvPr/>
        </p:nvSpPr>
        <p:spPr>
          <a:xfrm>
            <a:off x="8718796" y="116488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1"/>
          <p:cNvGrpSpPr/>
          <p:nvPr/>
        </p:nvGrpSpPr>
        <p:grpSpPr>
          <a:xfrm>
            <a:off x="7519346" y="3243318"/>
            <a:ext cx="98059" cy="1147596"/>
            <a:chOff x="3347921" y="16006"/>
            <a:chExt cx="98059" cy="1147596"/>
          </a:xfrm>
        </p:grpSpPr>
        <p:sp>
          <p:nvSpPr>
            <p:cNvPr id="189" name="Google Shape;189;p11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rgbClr val="E898A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11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2" name="Google Shape;192;p11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95" name="Google Shape;195;p11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11"/>
          <p:cNvSpPr/>
          <p:nvPr/>
        </p:nvSpPr>
        <p:spPr>
          <a:xfrm>
            <a:off x="8307214" y="-383977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" name="Google Shape;201;p11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2" name="Google Shape;202;p11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1"/>
          <p:cNvSpPr/>
          <p:nvPr/>
        </p:nvSpPr>
        <p:spPr>
          <a:xfrm>
            <a:off x="7582340" y="1834534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" name="Google Shape;205;p11"/>
          <p:cNvGrpSpPr/>
          <p:nvPr/>
        </p:nvGrpSpPr>
        <p:grpSpPr>
          <a:xfrm>
            <a:off x="4920170" y="-496491"/>
            <a:ext cx="188886" cy="1181531"/>
            <a:chOff x="2877432" y="975334"/>
            <a:chExt cx="188886" cy="1181531"/>
          </a:xfrm>
        </p:grpSpPr>
        <p:sp>
          <p:nvSpPr>
            <p:cNvPr id="206" name="Google Shape;206;p11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11"/>
          <p:cNvSpPr/>
          <p:nvPr/>
        </p:nvSpPr>
        <p:spPr>
          <a:xfrm>
            <a:off x="7084804" y="549572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11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1" name="Google Shape;211;p11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11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4" name="Google Shape;214;p11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>
            <a:spLocks noGrp="1"/>
          </p:cNvSpPr>
          <p:nvPr>
            <p:ph type="title" hasCustomPrompt="1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" name="Google Shape;219;p12"/>
          <p:cNvSpPr txBox="1">
            <a:spLocks noGrp="1"/>
          </p:cNvSpPr>
          <p:nvPr>
            <p:ph type="body" idx="1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20" name="Google Shape;220;p12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1" name="Google Shape;221;p12"/>
            <p:cNvSpPr/>
            <p:nvPr/>
          </p:nvSpPr>
          <p:spPr>
            <a:xfrm>
              <a:off x="6067275" y="838825"/>
              <a:ext cx="46025" cy="39525"/>
            </a:xfrm>
            <a:custGeom>
              <a:avLst/>
              <a:gdLst/>
              <a:ahLst/>
              <a:cxnLst/>
              <a:rect l="l" t="t" r="r" b="b"/>
              <a:pathLst>
                <a:path w="1841" h="1581" extrusionOk="0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4703850" y="911275"/>
              <a:ext cx="2580700" cy="613375"/>
            </a:xfrm>
            <a:custGeom>
              <a:avLst/>
              <a:gdLst/>
              <a:ahLst/>
              <a:cxnLst/>
              <a:rect l="l" t="t" r="r" b="b"/>
              <a:pathLst>
                <a:path w="103228" h="24535" extrusionOk="0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704175" y="930800"/>
              <a:ext cx="2582575" cy="595725"/>
            </a:xfrm>
            <a:custGeom>
              <a:avLst/>
              <a:gdLst/>
              <a:ahLst/>
              <a:cxnLst/>
              <a:rect l="l" t="t" r="r" b="b"/>
              <a:pathLst>
                <a:path w="103303" h="23829" extrusionOk="0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904225" y="1145950"/>
              <a:ext cx="46000" cy="39350"/>
            </a:xfrm>
            <a:custGeom>
              <a:avLst/>
              <a:gdLst/>
              <a:ahLst/>
              <a:cxnLst/>
              <a:rect l="l" t="t" r="r" b="b"/>
              <a:pathLst>
                <a:path w="1840" h="1574" extrusionOk="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5062350" y="1316075"/>
              <a:ext cx="46025" cy="39350"/>
            </a:xfrm>
            <a:custGeom>
              <a:avLst/>
              <a:gdLst/>
              <a:ahLst/>
              <a:cxnLst/>
              <a:rect l="l" t="t" r="r" b="b"/>
              <a:pathLst>
                <a:path w="1841" h="1574" extrusionOk="0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5209475" y="1350400"/>
              <a:ext cx="39725" cy="39725"/>
            </a:xfrm>
            <a:custGeom>
              <a:avLst/>
              <a:gdLst/>
              <a:ahLst/>
              <a:cxnLst/>
              <a:rect l="l" t="t" r="r" b="b"/>
              <a:pathLst>
                <a:path w="1589" h="1589" extrusionOk="0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173875" y="1248975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5352500" y="938375"/>
              <a:ext cx="46000" cy="39500"/>
            </a:xfrm>
            <a:custGeom>
              <a:avLst/>
              <a:gdLst/>
              <a:ahLst/>
              <a:cxnLst/>
              <a:rect l="l" t="t" r="r" b="b"/>
              <a:pathLst>
                <a:path w="1840" h="1580" extrusionOk="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722650" y="1358275"/>
              <a:ext cx="46000" cy="39525"/>
            </a:xfrm>
            <a:custGeom>
              <a:avLst/>
              <a:gdLst/>
              <a:ahLst/>
              <a:cxnLst/>
              <a:rect l="l" t="t" r="r" b="b"/>
              <a:pathLst>
                <a:path w="1840" h="1581" extrusionOk="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859350" y="1157300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6131225" y="1060900"/>
              <a:ext cx="46025" cy="39350"/>
            </a:xfrm>
            <a:custGeom>
              <a:avLst/>
              <a:gdLst/>
              <a:ahLst/>
              <a:cxnLst/>
              <a:rect l="l" t="t" r="r" b="b"/>
              <a:pathLst>
                <a:path w="1841" h="1574" extrusionOk="0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6358050" y="914425"/>
              <a:ext cx="46000" cy="39350"/>
            </a:xfrm>
            <a:custGeom>
              <a:avLst/>
              <a:gdLst/>
              <a:ahLst/>
              <a:cxnLst/>
              <a:rect l="l" t="t" r="r" b="b"/>
              <a:pathLst>
                <a:path w="1840" h="1574" extrusionOk="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510200" y="1128325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6708025" y="1051150"/>
              <a:ext cx="46025" cy="39425"/>
            </a:xfrm>
            <a:custGeom>
              <a:avLst/>
              <a:gdLst/>
              <a:ahLst/>
              <a:cxnLst/>
              <a:rect l="l" t="t" r="r" b="b"/>
              <a:pathLst>
                <a:path w="1841" h="1577" extrusionOk="0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7033125" y="1244875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4898850" y="1313550"/>
              <a:ext cx="46025" cy="39350"/>
            </a:xfrm>
            <a:custGeom>
              <a:avLst/>
              <a:gdLst/>
              <a:ahLst/>
              <a:cxnLst/>
              <a:rect l="l" t="t" r="r" b="b"/>
              <a:pathLst>
                <a:path w="1841" h="1574" extrusionOk="0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5551575" y="1234800"/>
              <a:ext cx="46025" cy="39350"/>
            </a:xfrm>
            <a:custGeom>
              <a:avLst/>
              <a:gdLst/>
              <a:ahLst/>
              <a:cxnLst/>
              <a:rect l="l" t="t" r="r" b="b"/>
              <a:pathLst>
                <a:path w="1841" h="1574" extrusionOk="0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5887400" y="907725"/>
              <a:ext cx="45075" cy="39575"/>
            </a:xfrm>
            <a:custGeom>
              <a:avLst/>
              <a:gdLst/>
              <a:ahLst/>
              <a:cxnLst/>
              <a:rect l="l" t="t" r="r" b="b"/>
              <a:pathLst>
                <a:path w="1803" h="1583" extrusionOk="0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6166200" y="1209275"/>
              <a:ext cx="39700" cy="39725"/>
            </a:xfrm>
            <a:custGeom>
              <a:avLst/>
              <a:gdLst/>
              <a:ahLst/>
              <a:cxnLst/>
              <a:rect l="l" t="t" r="r" b="b"/>
              <a:pathLst>
                <a:path w="1588" h="1589" extrusionOk="0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6373800" y="1380650"/>
              <a:ext cx="39700" cy="39400"/>
            </a:xfrm>
            <a:custGeom>
              <a:avLst/>
              <a:gdLst/>
              <a:ahLst/>
              <a:cxnLst/>
              <a:rect l="l" t="t" r="r" b="b"/>
              <a:pathLst>
                <a:path w="1588" h="1576" extrusionOk="0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6594950" y="1344425"/>
              <a:ext cx="46000" cy="39350"/>
            </a:xfrm>
            <a:custGeom>
              <a:avLst/>
              <a:gdLst/>
              <a:ahLst/>
              <a:cxnLst/>
              <a:rect l="l" t="t" r="r" b="b"/>
              <a:pathLst>
                <a:path w="1840" h="1574" extrusionOk="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6731025" y="1382850"/>
              <a:ext cx="46025" cy="39475"/>
            </a:xfrm>
            <a:custGeom>
              <a:avLst/>
              <a:gdLst/>
              <a:ahLst/>
              <a:cxnLst/>
              <a:rect l="l" t="t" r="r" b="b"/>
              <a:pathLst>
                <a:path w="1841" h="1579" extrusionOk="0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6891700" y="1116350"/>
              <a:ext cx="46000" cy="39350"/>
            </a:xfrm>
            <a:custGeom>
              <a:avLst/>
              <a:gdLst/>
              <a:ahLst/>
              <a:cxnLst/>
              <a:rect l="l" t="t" r="r" b="b"/>
              <a:pathLst>
                <a:path w="1840" h="1574" extrusionOk="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7059275" y="1035400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4708275" y="856450"/>
              <a:ext cx="2575650" cy="667875"/>
            </a:xfrm>
            <a:custGeom>
              <a:avLst/>
              <a:gdLst/>
              <a:ahLst/>
              <a:cxnLst/>
              <a:rect l="l" t="t" r="r" b="b"/>
              <a:pathLst>
                <a:path w="103026" h="26715" extrusionOk="0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4558950" y="1523350"/>
              <a:ext cx="2813800" cy="3825"/>
            </a:xfrm>
            <a:custGeom>
              <a:avLst/>
              <a:gdLst/>
              <a:ahLst/>
              <a:cxnLst/>
              <a:rect l="l" t="t" r="r" b="b"/>
              <a:pathLst>
                <a:path w="112552" h="153" extrusionOk="0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4967225" y="1418775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5101172" y="992325"/>
              <a:ext cx="42875" cy="39850"/>
            </a:xfrm>
            <a:custGeom>
              <a:avLst/>
              <a:gdLst/>
              <a:ahLst/>
              <a:cxnLst/>
              <a:rect l="l" t="t" r="r" b="b"/>
              <a:pathLst>
                <a:path w="1715" h="1594" extrusionOk="0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5364775" y="1136200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5581825" y="976800"/>
              <a:ext cx="46025" cy="39525"/>
            </a:xfrm>
            <a:custGeom>
              <a:avLst/>
              <a:gdLst/>
              <a:ahLst/>
              <a:cxnLst/>
              <a:rect l="l" t="t" r="r" b="b"/>
              <a:pathLst>
                <a:path w="1841" h="1581" extrusionOk="0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5838875" y="1036025"/>
              <a:ext cx="46025" cy="39450"/>
            </a:xfrm>
            <a:custGeom>
              <a:avLst/>
              <a:gdLst/>
              <a:ahLst/>
              <a:cxnLst/>
              <a:rect l="l" t="t" r="r" b="b"/>
              <a:pathLst>
                <a:path w="1841" h="1578" extrusionOk="0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6316150" y="1138400"/>
              <a:ext cx="39700" cy="39400"/>
            </a:xfrm>
            <a:custGeom>
              <a:avLst/>
              <a:gdLst/>
              <a:ahLst/>
              <a:cxnLst/>
              <a:rect l="l" t="t" r="r" b="b"/>
              <a:pathLst>
                <a:path w="1588" h="1576" extrusionOk="0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6675275" y="1230075"/>
              <a:ext cx="46000" cy="39350"/>
            </a:xfrm>
            <a:custGeom>
              <a:avLst/>
              <a:gdLst/>
              <a:ahLst/>
              <a:cxnLst/>
              <a:rect l="l" t="t" r="r" b="b"/>
              <a:pathLst>
                <a:path w="1840" h="1574" extrusionOk="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6863325" y="967025"/>
              <a:ext cx="46350" cy="39350"/>
            </a:xfrm>
            <a:custGeom>
              <a:avLst/>
              <a:gdLst/>
              <a:ahLst/>
              <a:cxnLst/>
              <a:rect l="l" t="t" r="r" b="b"/>
              <a:pathLst>
                <a:path w="1854" h="1574" extrusionOk="0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6956275" y="1323000"/>
              <a:ext cx="46000" cy="39350"/>
            </a:xfrm>
            <a:custGeom>
              <a:avLst/>
              <a:gdLst/>
              <a:ahLst/>
              <a:cxnLst/>
              <a:rect l="l" t="t" r="r" b="b"/>
              <a:pathLst>
                <a:path w="1840" h="1574" extrusionOk="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>
            <a:spLocks noGrp="1"/>
          </p:cNvSpPr>
          <p:nvPr>
            <p:ph type="subTitle" idx="1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285750" y="454265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39150" y="48034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 txBox="1">
            <a:spLocks noGrp="1"/>
          </p:cNvSpPr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ubTitle" idx="2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title" idx="3" hasCustomPrompt="1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>
            <a:spLocks noGrp="1"/>
          </p:cNvSpPr>
          <p:nvPr>
            <p:ph type="ctrTitle" idx="4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ubTitle" idx="5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 idx="6" hasCustomPrompt="1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ctrTitle" idx="8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9" hasCustomPrompt="1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ctrTitle" idx="13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>
            <a:spLocks noGrp="1"/>
          </p:cNvSpPr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subTitle" idx="1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14"/>
          <p:cNvSpPr txBox="1">
            <a:spLocks noGrp="1"/>
          </p:cNvSpPr>
          <p:nvPr>
            <p:ph type="ctrTitle" idx="2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82" name="Google Shape;282;p14"/>
          <p:cNvSpPr txBox="1">
            <a:spLocks noGrp="1"/>
          </p:cNvSpPr>
          <p:nvPr>
            <p:ph type="subTitle" idx="3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" name="Google Shape;287;p14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88" name="Google Shape;288;p14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" name="Google Shape;290;p14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4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_1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99" name="Google Shape;299;p1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15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04" name="Google Shape;304;p15"/>
          <p:cNvSpPr txBox="1">
            <a:spLocks noGrp="1"/>
          </p:cNvSpPr>
          <p:nvPr>
            <p:ph type="subTitle" idx="1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15"/>
          <p:cNvSpPr txBox="1">
            <a:spLocks noGrp="1"/>
          </p:cNvSpPr>
          <p:nvPr>
            <p:ph type="ctrTitle" idx="2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06" name="Google Shape;306;p15"/>
          <p:cNvSpPr txBox="1">
            <a:spLocks noGrp="1"/>
          </p:cNvSpPr>
          <p:nvPr>
            <p:ph type="subTitle" idx="3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ctrTitle" idx="4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08" name="Google Shape;308;p15"/>
          <p:cNvSpPr txBox="1">
            <a:spLocks noGrp="1"/>
          </p:cNvSpPr>
          <p:nvPr>
            <p:ph type="subTitle" idx="5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ctrTitle" idx="6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>
            <a:spLocks noGrp="1"/>
          </p:cNvSpPr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12" name="Google Shape;312;p16"/>
          <p:cNvSpPr txBox="1">
            <a:spLocks noGrp="1"/>
          </p:cNvSpPr>
          <p:nvPr>
            <p:ph type="subTitle" idx="1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16"/>
          <p:cNvSpPr txBox="1">
            <a:spLocks noGrp="1"/>
          </p:cNvSpPr>
          <p:nvPr>
            <p:ph type="ctrTitle" idx="2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14" name="Google Shape;314;p16"/>
          <p:cNvSpPr txBox="1">
            <a:spLocks noGrp="1"/>
          </p:cNvSpPr>
          <p:nvPr>
            <p:ph type="subTitle" idx="3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16"/>
          <p:cNvSpPr txBox="1">
            <a:spLocks noGrp="1"/>
          </p:cNvSpPr>
          <p:nvPr>
            <p:ph type="ctrTitle" idx="4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16" name="Google Shape;316;p16"/>
          <p:cNvSpPr txBox="1">
            <a:spLocks noGrp="1"/>
          </p:cNvSpPr>
          <p:nvPr>
            <p:ph type="subTitle" idx="5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16"/>
          <p:cNvSpPr txBox="1">
            <a:spLocks noGrp="1"/>
          </p:cNvSpPr>
          <p:nvPr>
            <p:ph type="ctrTitle" idx="6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16"/>
          <p:cNvSpPr txBox="1">
            <a:spLocks noGrp="1"/>
          </p:cNvSpPr>
          <p:nvPr>
            <p:ph type="ctrTitle" idx="7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subTitle" idx="8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ctrTitle" idx="9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subTitle" idx="13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ctrTitle" idx="14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subTitle" idx="15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7573050" y="2773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564075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>
            <a:spLocks noGrp="1"/>
          </p:cNvSpPr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5" name="Google Shape;335;p17"/>
          <p:cNvSpPr txBox="1">
            <a:spLocks noGrp="1"/>
          </p:cNvSpPr>
          <p:nvPr>
            <p:ph type="subTitle" idx="1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ctrTitle" idx="2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subTitle" idx="3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ctrTitle" idx="4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subTitle" idx="5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ctrTitle" idx="6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subTitle" idx="7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ctrTitle" idx="8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816650" y="461267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2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>
            <a:spLocks noGrp="1"/>
          </p:cNvSpPr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18"/>
          <p:cNvSpPr txBox="1">
            <a:spLocks noGrp="1"/>
          </p:cNvSpPr>
          <p:nvPr>
            <p:ph type="subTitle" idx="1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18"/>
          <p:cNvSpPr txBox="1">
            <a:spLocks noGrp="1"/>
          </p:cNvSpPr>
          <p:nvPr>
            <p:ph type="ctrTitle" idx="2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subTitle" idx="3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18"/>
          <p:cNvSpPr txBox="1">
            <a:spLocks noGrp="1"/>
          </p:cNvSpPr>
          <p:nvPr>
            <p:ph type="ctrTitle" idx="4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9" name="Google Shape;359;p18"/>
          <p:cNvSpPr txBox="1">
            <a:spLocks noGrp="1"/>
          </p:cNvSpPr>
          <p:nvPr>
            <p:ph type="subTitle" idx="5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18"/>
          <p:cNvSpPr txBox="1">
            <a:spLocks noGrp="1"/>
          </p:cNvSpPr>
          <p:nvPr>
            <p:ph type="ctrTitle" idx="6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61" name="Google Shape;361;p18"/>
          <p:cNvSpPr txBox="1">
            <a:spLocks noGrp="1"/>
          </p:cNvSpPr>
          <p:nvPr>
            <p:ph type="subTitle" idx="7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18"/>
          <p:cNvSpPr txBox="1">
            <a:spLocks noGrp="1"/>
          </p:cNvSpPr>
          <p:nvPr>
            <p:ph type="ctrTitle" idx="8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816650" y="461267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"/>
          <p:cNvSpPr txBox="1">
            <a:spLocks noGrp="1"/>
          </p:cNvSpPr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5" name="Google Shape;375;p19"/>
          <p:cNvSpPr txBox="1">
            <a:spLocks noGrp="1"/>
          </p:cNvSpPr>
          <p:nvPr>
            <p:ph type="subTitle" idx="1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6" name="Google Shape;376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858247" y="1380669"/>
            <a:ext cx="130760" cy="131015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1802448" y="4340187"/>
            <a:ext cx="131015" cy="131015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7196621" y="809541"/>
            <a:ext cx="131015" cy="131015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826485" y="4005523"/>
            <a:ext cx="105796" cy="106050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6669747" y="3108456"/>
            <a:ext cx="62397" cy="62397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2127273" y="2530788"/>
            <a:ext cx="112298" cy="112553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7418926" y="3240515"/>
            <a:ext cx="112298" cy="112553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751274" y="1218584"/>
            <a:ext cx="86853" cy="86825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5" name="Google Shape;385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6" name="Google Shape;386;p19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" name="Google Shape;388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89" name="Google Shape;389;p19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4" name="Google Shape;394;p19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397;p19"/>
          <p:cNvSpPr/>
          <p:nvPr/>
        </p:nvSpPr>
        <p:spPr>
          <a:xfrm>
            <a:off x="1050592" y="3209646"/>
            <a:ext cx="9132" cy="2718457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7090326" y="2590809"/>
            <a:ext cx="9132" cy="1822361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9" name="Google Shape;399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0" name="Google Shape;400;p19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3" name="Google Shape;403;p19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5" name="Google Shape;405;p19"/>
          <p:cNvSpPr/>
          <p:nvPr/>
        </p:nvSpPr>
        <p:spPr>
          <a:xfrm>
            <a:off x="6423211" y="3192659"/>
            <a:ext cx="86853" cy="86825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6" name="Google Shape;406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7" name="Google Shape;407;p19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4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body" idx="2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8829925" y="1123700"/>
            <a:ext cx="108650" cy="108625"/>
          </a:xfrm>
          <a:custGeom>
            <a:avLst/>
            <a:gdLst/>
            <a:ahLst/>
            <a:cxnLst/>
            <a:rect l="l" t="t" r="r" b="b"/>
            <a:pathLst>
              <a:path w="4346" h="4345" extrusionOk="0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9156250" y="1340450"/>
            <a:ext cx="111450" cy="110975"/>
          </a:xfrm>
          <a:custGeom>
            <a:avLst/>
            <a:gdLst/>
            <a:ahLst/>
            <a:cxnLst/>
            <a:rect l="l" t="t" r="r" b="b"/>
            <a:pathLst>
              <a:path w="4458" h="4439" extrusionOk="0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5809850" y="21440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4345" h="4345" extrusionOk="0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7079800" y="420088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952700" y="278513"/>
            <a:ext cx="44975" cy="44500"/>
          </a:xfrm>
          <a:custGeom>
            <a:avLst/>
            <a:gdLst/>
            <a:ahLst/>
            <a:cxnLst/>
            <a:rect l="l" t="t" r="r" b="b"/>
            <a:pathLst>
              <a:path w="1799" h="1780" extrusionOk="0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372450" y="-69325"/>
            <a:ext cx="155925" cy="155925"/>
          </a:xfrm>
          <a:custGeom>
            <a:avLst/>
            <a:gdLst/>
            <a:ahLst/>
            <a:cxnLst/>
            <a:rect l="l" t="t" r="r" b="b"/>
            <a:pathLst>
              <a:path w="6237" h="6237" extrusionOk="0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8464275" y="355050"/>
            <a:ext cx="155925" cy="156400"/>
          </a:xfrm>
          <a:custGeom>
            <a:avLst/>
            <a:gdLst/>
            <a:ahLst/>
            <a:cxnLst/>
            <a:rect l="l" t="t" r="r" b="b"/>
            <a:pathLst>
              <a:path w="6237" h="6256" extrusionOk="0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7264275" y="607363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298850" y="907625"/>
            <a:ext cx="155925" cy="155900"/>
          </a:xfrm>
          <a:custGeom>
            <a:avLst/>
            <a:gdLst/>
            <a:ahLst/>
            <a:cxnLst/>
            <a:rect l="l" t="t" r="r" b="b"/>
            <a:pathLst>
              <a:path w="6237" h="6236" extrusionOk="0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-83000" y="4540463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101475" y="4727738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28" name="Google Shape;428;p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0" name="Google Shape;430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1" name="Google Shape;431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2" name="Google Shape;43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2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5" name="Google Shape;435;p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7" name="Google Shape;437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8" name="Google Shape;43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_ONLY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>
            <a:spLocks noGrp="1"/>
          </p:cNvSpPr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3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7" name="Google Shape;447;p2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0" name="Google Shape;450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1" name="Google Shape;45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28"/>
          <p:cNvPicPr preferRelativeResize="0"/>
          <p:nvPr/>
        </p:nvPicPr>
        <p:blipFill rotWithShape="1">
          <a:blip r:embed="rId3">
            <a:alphaModFix/>
          </a:blip>
          <a:srcRect l="16861" r="28906"/>
          <a:stretch/>
        </p:blipFill>
        <p:spPr>
          <a:xfrm>
            <a:off x="1628350" y="1489275"/>
            <a:ext cx="1654200" cy="17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>
            <a:spLocks noGrp="1"/>
          </p:cNvSpPr>
          <p:nvPr>
            <p:ph type="ctrTitle" idx="4294967295"/>
          </p:nvPr>
        </p:nvSpPr>
        <p:spPr>
          <a:xfrm>
            <a:off x="3387775" y="1635450"/>
            <a:ext cx="4870200" cy="17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4800"/>
              <a:t>Quantiphi Analytics Solutions</a:t>
            </a:r>
            <a:endParaRPr sz="4800"/>
          </a:p>
        </p:txBody>
      </p:sp>
      <p:sp>
        <p:nvSpPr>
          <p:cNvPr id="458" name="Google Shape;458;p28"/>
          <p:cNvSpPr txBox="1"/>
          <p:nvPr/>
        </p:nvSpPr>
        <p:spPr>
          <a:xfrm>
            <a:off x="3509400" y="3541000"/>
            <a:ext cx="29724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dirty="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Aman Kumar D17A</a:t>
            </a:r>
            <a:endParaRPr sz="2200" dirty="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29"/>
          <p:cNvPicPr preferRelativeResize="0"/>
          <p:nvPr/>
        </p:nvPicPr>
        <p:blipFill rotWithShape="1">
          <a:blip r:embed="rId3">
            <a:alphaModFix/>
          </a:blip>
          <a:srcRect l="5723" t="28623" r="6364" b="28623"/>
          <a:stretch/>
        </p:blipFill>
        <p:spPr>
          <a:xfrm>
            <a:off x="30138" y="2080675"/>
            <a:ext cx="9083726" cy="24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6150" y="0"/>
            <a:ext cx="4551701" cy="25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 txBox="1">
            <a:spLocks noGrp="1"/>
          </p:cNvSpPr>
          <p:nvPr>
            <p:ph type="ctrTitle" idx="2"/>
          </p:nvPr>
        </p:nvSpPr>
        <p:spPr>
          <a:xfrm>
            <a:off x="764334" y="330175"/>
            <a:ext cx="61587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/>
              <a:t>About Quantiphi</a:t>
            </a:r>
            <a:endParaRPr sz="1700"/>
          </a:p>
        </p:txBody>
      </p:sp>
      <p:pic>
        <p:nvPicPr>
          <p:cNvPr id="470" name="Google Shape;470;p30"/>
          <p:cNvPicPr preferRelativeResize="0"/>
          <p:nvPr/>
        </p:nvPicPr>
        <p:blipFill rotWithShape="1">
          <a:blip r:embed="rId3">
            <a:alphaModFix/>
          </a:blip>
          <a:srcRect t="14998" b="3707"/>
          <a:stretch/>
        </p:blipFill>
        <p:spPr>
          <a:xfrm>
            <a:off x="225200" y="1000150"/>
            <a:ext cx="8693602" cy="39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"/>
          <p:cNvSpPr txBox="1">
            <a:spLocks noGrp="1"/>
          </p:cNvSpPr>
          <p:nvPr>
            <p:ph type="title"/>
          </p:nvPr>
        </p:nvSpPr>
        <p:spPr>
          <a:xfrm>
            <a:off x="1297500" y="2433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/>
              <a:t>Company Details</a:t>
            </a:r>
            <a:endParaRPr sz="2800"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1"/>
          </p:nvPr>
        </p:nvSpPr>
        <p:spPr>
          <a:xfrm>
            <a:off x="1421850" y="892425"/>
            <a:ext cx="70389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Name of the Company:  </a:t>
            </a:r>
            <a:r>
              <a:rPr lang="en" sz="1700" dirty="0">
                <a:solidFill>
                  <a:srgbClr val="E8EAED"/>
                </a:solidFill>
                <a:latin typeface="Share Tech"/>
                <a:ea typeface="Share Tech"/>
                <a:cs typeface="Share Tech"/>
                <a:sym typeface="Share Tech"/>
              </a:rPr>
              <a:t>Quantiphi Analytics Solution Private Limited</a:t>
            </a:r>
            <a:endParaRPr sz="1700" dirty="0">
              <a:latin typeface="Share Tech"/>
              <a:ea typeface="Share Tech"/>
              <a:cs typeface="Share Tech"/>
              <a:sym typeface="Share Tech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Company status : Dream</a:t>
            </a:r>
            <a:endParaRPr sz="1700" dirty="0">
              <a:latin typeface="Share Tech"/>
              <a:ea typeface="Share Tech"/>
              <a:cs typeface="Share Tech"/>
              <a:sym typeface="Share Tech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Date of recruitment drive : 3rd, 7th and 8th August 2022</a:t>
            </a:r>
            <a:endParaRPr sz="1700" dirty="0">
              <a:latin typeface="Share Tech"/>
              <a:ea typeface="Share Tech"/>
              <a:cs typeface="Share Tech"/>
              <a:sym typeface="Share Tech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Branches Eligible: BE ( CMPN, INFT, EXTC, ETRX, INSTRU, MCA, M.E.)</a:t>
            </a:r>
            <a:endParaRPr sz="1700" dirty="0">
              <a:latin typeface="Share Tech"/>
              <a:ea typeface="Share Tech"/>
              <a:cs typeface="Share Tech"/>
              <a:sym typeface="Share Tech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Eligibility Criteria: 7</a:t>
            </a:r>
            <a:r>
              <a:rPr lang="en-US" sz="1700" dirty="0">
                <a:latin typeface="Share Tech"/>
              </a:rPr>
              <a:t>0% and above in 10th, 12th and Graduation (till now) with backlogs.</a:t>
            </a:r>
            <a:endParaRPr sz="1700" dirty="0">
              <a:latin typeface="Share Tech"/>
              <a:sym typeface="Share Tech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Salary: </a:t>
            </a:r>
            <a:r>
              <a:rPr lang="en-IN" sz="1700" dirty="0">
                <a:latin typeface="Share Tech"/>
                <a:ea typeface="Share Tech"/>
                <a:cs typeface="Share Tech"/>
                <a:sym typeface="Share Tech"/>
              </a:rPr>
              <a:t>4 months internship at 23K per month</a:t>
            </a: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CTC on FTE converstion 8.5 LPA ( 6.5 FIXED + 2  QCDP REWARD) </a:t>
            </a:r>
            <a:endParaRPr sz="1700" dirty="0">
              <a:latin typeface="Share Tech"/>
              <a:ea typeface="Share Tech"/>
              <a:cs typeface="Share Tech"/>
              <a:sym typeface="Share Tech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 dirty="0">
                <a:latin typeface="Share Tech"/>
                <a:ea typeface="Share Tech"/>
                <a:cs typeface="Share Tech"/>
                <a:sym typeface="Share Tech"/>
              </a:rPr>
              <a:t>Position : Framework Engineer / Business Analyst / Business Analyst Sales Engineer</a:t>
            </a:r>
            <a:endParaRPr sz="2000" dirty="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>
            <a:spLocks noGrp="1"/>
          </p:cNvSpPr>
          <p:nvPr>
            <p:ph type="ctrTitle" idx="7"/>
          </p:nvPr>
        </p:nvSpPr>
        <p:spPr>
          <a:xfrm>
            <a:off x="2283900" y="295350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Offered</a:t>
            </a:r>
            <a:endParaRPr/>
          </a:p>
        </p:txBody>
      </p:sp>
      <p:pic>
        <p:nvPicPr>
          <p:cNvPr id="482" name="Google Shape;482;p32"/>
          <p:cNvPicPr preferRelativeResize="0"/>
          <p:nvPr/>
        </p:nvPicPr>
        <p:blipFill rotWithShape="1">
          <a:blip r:embed="rId3">
            <a:alphaModFix/>
          </a:blip>
          <a:srcRect l="6814" t="17343" r="3644" b="8124"/>
          <a:stretch/>
        </p:blipFill>
        <p:spPr>
          <a:xfrm>
            <a:off x="633000" y="1092850"/>
            <a:ext cx="7877995" cy="36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C62ECFC-F587-240C-EC78-353AEB10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68" y="1762012"/>
            <a:ext cx="6897063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1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4"/>
          <p:cNvSpPr txBox="1">
            <a:spLocks noGrp="1"/>
          </p:cNvSpPr>
          <p:nvPr>
            <p:ph type="title"/>
          </p:nvPr>
        </p:nvSpPr>
        <p:spPr>
          <a:xfrm>
            <a:off x="1297500" y="342050"/>
            <a:ext cx="70389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">
                <a:solidFill>
                  <a:schemeClr val="accent5"/>
                </a:solidFill>
              </a:rPr>
              <a:t>Round 1 : </a:t>
            </a:r>
            <a:r>
              <a:rPr lang="en"/>
              <a:t>Aptitude and Coding Test</a:t>
            </a:r>
            <a:endParaRPr/>
          </a:p>
        </p:txBody>
      </p:sp>
      <p:sp>
        <p:nvSpPr>
          <p:cNvPr id="494" name="Google Shape;494;p34"/>
          <p:cNvSpPr txBox="1">
            <a:spLocks noGrp="1"/>
          </p:cNvSpPr>
          <p:nvPr>
            <p:ph type="body" idx="1"/>
          </p:nvPr>
        </p:nvSpPr>
        <p:spPr>
          <a:xfrm>
            <a:off x="1122650" y="1130150"/>
            <a:ext cx="7281600" cy="39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Platform - Unstop.</a:t>
            </a:r>
            <a:endParaRPr dirty="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 dirty="0">
                <a:latin typeface="Share Tech"/>
                <a:ea typeface="Share Tech"/>
                <a:cs typeface="Share Tech"/>
                <a:sym typeface="Share Tech"/>
              </a:rPr>
              <a:t>Test consisted of 7 sections for approx. 86 minutes.</a:t>
            </a:r>
            <a:endParaRPr dirty="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 dirty="0">
                <a:latin typeface="Share Tech"/>
                <a:ea typeface="Share Tech"/>
                <a:cs typeface="Share Tech"/>
                <a:sym typeface="Share Tech"/>
              </a:rPr>
              <a:t>Quantitative, Verbal, Statistical, Technical, Probability, Web technology, SQL, Ml, OS, CN, DBMS, 2 Coding Questions.</a:t>
            </a:r>
            <a:endParaRPr dirty="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 dirty="0">
                <a:latin typeface="Share Tech"/>
                <a:ea typeface="Share Tech"/>
                <a:cs typeface="Share Tech"/>
                <a:sym typeface="Share Tech"/>
              </a:rPr>
              <a:t>Level of the test was medium to high.</a:t>
            </a:r>
            <a:endParaRPr dirty="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dirty="0">
                <a:latin typeface="Share Tech"/>
                <a:ea typeface="Share Tech"/>
                <a:cs typeface="Share Tech"/>
                <a:sym typeface="Share Tech"/>
              </a:rPr>
              <a:t>One needs to solve the question as fast as possible as there is a sectional timer.</a:t>
            </a:r>
            <a:endParaRPr dirty="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 dirty="0">
                <a:latin typeface="Share Tech"/>
                <a:ea typeface="Share Tech"/>
                <a:cs typeface="Share Tech"/>
                <a:sym typeface="Share Tech"/>
              </a:rPr>
              <a:t>After round 1 </a:t>
            </a:r>
            <a:r>
              <a:rPr lang="en" dirty="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from 316 students, 86 were shortlisted</a:t>
            </a:r>
            <a:r>
              <a:rPr lang="en" dirty="0">
                <a:latin typeface="Share Tech"/>
                <a:ea typeface="Share Tech"/>
                <a:cs typeface="Share Tech"/>
                <a:sym typeface="Share Tech"/>
              </a:rPr>
              <a:t> for next round                                           </a:t>
            </a:r>
            <a:endParaRPr dirty="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 txBox="1">
            <a:spLocks noGrp="1"/>
          </p:cNvSpPr>
          <p:nvPr>
            <p:ph type="title"/>
          </p:nvPr>
        </p:nvSpPr>
        <p:spPr>
          <a:xfrm>
            <a:off x="1297500" y="3460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accent5"/>
                </a:solidFill>
              </a:rPr>
              <a:t>Round 2 : </a:t>
            </a:r>
            <a:r>
              <a:rPr lang="en"/>
              <a:t>Group Discussion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lt2"/>
                </a:solidFill>
              </a:rPr>
              <a:t>(Business Analyst only)</a:t>
            </a:r>
            <a:endParaRPr sz="18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500" name="Google Shape;500;p35"/>
          <p:cNvSpPr txBox="1">
            <a:spLocks noGrp="1"/>
          </p:cNvSpPr>
          <p:nvPr>
            <p:ph type="body" idx="1"/>
          </p:nvPr>
        </p:nvSpPr>
        <p:spPr>
          <a:xfrm>
            <a:off x="1297500" y="1139675"/>
            <a:ext cx="7038900" cy="4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Topics: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Sports helps lower the tension between the boundaries.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Thoughts about the supply chain management.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Topic-&gt; 2 min prep -&gt; 6 min discussion -&gt; 1 min conclude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What to do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Put your point forward properly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Tackle at least 2 point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Conclude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Tips: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Formulate your thoughts and choose your side wisely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Convey your POV accurately and concisely.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Do not speak over other candidates and allow them to finish speaking.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Refer to group discussions on youtube for practice.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>
            <a:spLocks noGrp="1"/>
          </p:cNvSpPr>
          <p:nvPr>
            <p:ph type="title"/>
          </p:nvPr>
        </p:nvSpPr>
        <p:spPr>
          <a:xfrm>
            <a:off x="1326575" y="259600"/>
            <a:ext cx="77199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Mrunmayee Waingankar (Framework Engineer)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3: </a:t>
            </a:r>
            <a:r>
              <a:rPr lang="en" sz="2100"/>
              <a:t>Technical Interview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endParaRPr sz="2800"/>
          </a:p>
        </p:txBody>
      </p:sp>
      <p:sp>
        <p:nvSpPr>
          <p:cNvPr id="506" name="Google Shape;506;p36"/>
          <p:cNvSpPr txBox="1">
            <a:spLocks noGrp="1"/>
          </p:cNvSpPr>
          <p:nvPr>
            <p:ph type="body" idx="1"/>
          </p:nvPr>
        </p:nvSpPr>
        <p:spPr>
          <a:xfrm>
            <a:off x="1422450" y="1270725"/>
            <a:ext cx="7451400" cy="35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scheduled at 5:00 pm.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Platform used - Superset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latest for around 20-30 minutes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Introduction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Projects on which I have worked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Theory - OOPS, DSA, SQL and java related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Few riddles like 2 candles will burn in 30 mins each, How will you count 45 mins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Asked to write codes for 2-3 problems (basic)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Asked about why I want to join Quantiphi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Finally he asked if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After round 2, </a:t>
            </a:r>
            <a:r>
              <a:rPr lang="en" sz="165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39 were shortlisted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from 86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7"/>
          <p:cNvSpPr txBox="1">
            <a:spLocks noGrp="1"/>
          </p:cNvSpPr>
          <p:nvPr>
            <p:ph type="body" idx="1"/>
          </p:nvPr>
        </p:nvSpPr>
        <p:spPr>
          <a:xfrm>
            <a:off x="1297500" y="1126750"/>
            <a:ext cx="7440900" cy="3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Introduction.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 u="sng">
                <a:latin typeface="Share Tech"/>
                <a:ea typeface="Share Tech"/>
                <a:cs typeface="Share Tech"/>
                <a:sym typeface="Share Tech"/>
              </a:rPr>
              <a:t>Detailed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discussion about projects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Tech stack used and why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OOPS, DSA, SQL related questions were asked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Riddles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800100" lvl="1" indent="-27622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If you are given X amount of money, cost of apple is A, cost of oranges is B and cost of bananas is C ,  in how many ways can you buy different fruits?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Given problems and asked to tell the approach of solving it or write the pseudocode for the same. (level average-good)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Recursion problem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Optional subjects and why you chose them.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 the end asked if you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 around 20-30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12" name="Google Shape;512;p37"/>
          <p:cNvSpPr txBox="1">
            <a:spLocks noGrp="1"/>
          </p:cNvSpPr>
          <p:nvPr>
            <p:ph type="title"/>
          </p:nvPr>
        </p:nvSpPr>
        <p:spPr>
          <a:xfrm>
            <a:off x="1297500" y="212650"/>
            <a:ext cx="8097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Mrunmayee Waingankar (Framework Engineer)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4: </a:t>
            </a:r>
            <a:r>
              <a:rPr lang="en" sz="2100"/>
              <a:t>Technical + HR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>
            <a:spLocks noGrp="1"/>
          </p:cNvSpPr>
          <p:nvPr>
            <p:ph type="title"/>
          </p:nvPr>
        </p:nvSpPr>
        <p:spPr>
          <a:xfrm>
            <a:off x="1326575" y="259600"/>
            <a:ext cx="70389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Shubham Zope (Framework Engineer)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3: </a:t>
            </a:r>
            <a:r>
              <a:rPr lang="en" sz="2100"/>
              <a:t>Technical Interview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endParaRPr sz="2800"/>
          </a:p>
        </p:txBody>
      </p:sp>
      <p:sp>
        <p:nvSpPr>
          <p:cNvPr id="518" name="Google Shape;518;p38"/>
          <p:cNvSpPr txBox="1">
            <a:spLocks noGrp="1"/>
          </p:cNvSpPr>
          <p:nvPr>
            <p:ph type="body" idx="1"/>
          </p:nvPr>
        </p:nvSpPr>
        <p:spPr>
          <a:xfrm>
            <a:off x="1422450" y="1270725"/>
            <a:ext cx="7038900" cy="45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My Interview was scheduled at 5:30 Pm. Slots of interview were between 3 to 9. They can ask you anytime to join the interview, so be ready.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Tell me about yourself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Projects on which I have worked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OOPS Concept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Asked to code inheritance concept in java.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SQL Queries on Joins, Procedure.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on Node.js.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What is Quantiphi.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Finally he asked if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40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After round 2, </a:t>
            </a:r>
            <a:r>
              <a:rPr lang="en" sz="165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39 were shortlisted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from 86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>
            <a:spLocks noGrp="1"/>
          </p:cNvSpPr>
          <p:nvPr>
            <p:ph type="body" idx="1"/>
          </p:nvPr>
        </p:nvSpPr>
        <p:spPr>
          <a:xfrm>
            <a:off x="1297500" y="1126750"/>
            <a:ext cx="7038900" cy="3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Technical: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My best tech stack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Basics of DBMS Questions were asked like normalization, primary key etc.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Some questions were given and sql queries were asked to write for it.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about OOPS Concept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Puzzles were asked. For puzzles reger geeksforgeeks.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Finally he asked if you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30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HR: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Tell me about yourself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Hobbies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General conversation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4" name="Google Shape;524;p39"/>
          <p:cNvSpPr txBox="1">
            <a:spLocks noGrp="1"/>
          </p:cNvSpPr>
          <p:nvPr>
            <p:ph type="title"/>
          </p:nvPr>
        </p:nvSpPr>
        <p:spPr>
          <a:xfrm>
            <a:off x="1297500" y="2126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Shubham Zope (Framework Engineer)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4: </a:t>
            </a:r>
            <a:r>
              <a:rPr lang="en" sz="2100"/>
              <a:t>Technical + HR</a:t>
            </a: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0"/>
          <p:cNvSpPr txBox="1">
            <a:spLocks noGrp="1"/>
          </p:cNvSpPr>
          <p:nvPr>
            <p:ph type="title"/>
          </p:nvPr>
        </p:nvSpPr>
        <p:spPr>
          <a:xfrm>
            <a:off x="1326575" y="259600"/>
            <a:ext cx="77199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Neeharika Nagori (Framework Engineer)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3: </a:t>
            </a:r>
            <a:r>
              <a:rPr lang="en" sz="2100"/>
              <a:t>Technical Interview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endParaRPr sz="2800"/>
          </a:p>
        </p:txBody>
      </p:sp>
      <p:sp>
        <p:nvSpPr>
          <p:cNvPr id="530" name="Google Shape;530;p40"/>
          <p:cNvSpPr txBox="1">
            <a:spLocks noGrp="1"/>
          </p:cNvSpPr>
          <p:nvPr>
            <p:ph type="body" idx="1"/>
          </p:nvPr>
        </p:nvSpPr>
        <p:spPr>
          <a:xfrm>
            <a:off x="1422450" y="1270725"/>
            <a:ext cx="7451400" cy="35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Platform used - Superset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latest for around 35-40 minutes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No introduction, project discussion was asked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on Java and OOPS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Many questions on sql commands were asked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were given and I was asked to type the MySQL query for it.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 was asked to code for basic java problems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Complete set of questions was taken form Interviewbit practice sets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After round 2, </a:t>
            </a:r>
            <a:r>
              <a:rPr lang="en" sz="165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39 were shortlisted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from 86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1"/>
          <p:cNvSpPr txBox="1">
            <a:spLocks noGrp="1"/>
          </p:cNvSpPr>
          <p:nvPr>
            <p:ph type="body" idx="1"/>
          </p:nvPr>
        </p:nvSpPr>
        <p:spPr>
          <a:xfrm>
            <a:off x="1297500" y="1301250"/>
            <a:ext cx="7440900" cy="3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Introduction.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 u="sng">
                <a:latin typeface="Share Tech"/>
                <a:ea typeface="Share Tech"/>
                <a:cs typeface="Share Tech"/>
                <a:sym typeface="Share Tech"/>
              </a:rPr>
              <a:t>Detailed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discussion about projects by looking at resume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Tech stack used and why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ML questions on ML project mentioned in resume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Permutations of strings - Mathematical approach and further questions on it.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Write pseudo code for the same. (level average-good)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Recursion problem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 the end asked if you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 around 15-20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36" name="Google Shape;536;p41"/>
          <p:cNvSpPr txBox="1">
            <a:spLocks noGrp="1"/>
          </p:cNvSpPr>
          <p:nvPr>
            <p:ph type="title"/>
          </p:nvPr>
        </p:nvSpPr>
        <p:spPr>
          <a:xfrm>
            <a:off x="1297500" y="212650"/>
            <a:ext cx="8097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Neeharika Nagori (Framework Engineer)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4: </a:t>
            </a:r>
            <a:r>
              <a:rPr lang="en" sz="2100"/>
              <a:t>Technical + HR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"/>
          <p:cNvSpPr txBox="1">
            <a:spLocks noGrp="1"/>
          </p:cNvSpPr>
          <p:nvPr>
            <p:ph type="title" idx="4294967295"/>
          </p:nvPr>
        </p:nvSpPr>
        <p:spPr>
          <a:xfrm>
            <a:off x="1219925" y="4106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/>
              <a:t>How to make your study plan?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endParaRPr sz="2500"/>
          </a:p>
        </p:txBody>
      </p:sp>
      <p:sp>
        <p:nvSpPr>
          <p:cNvPr id="542" name="Google Shape;542;p42"/>
          <p:cNvSpPr txBox="1">
            <a:spLocks noGrp="1"/>
          </p:cNvSpPr>
          <p:nvPr>
            <p:ph type="body" idx="4294967295"/>
          </p:nvPr>
        </p:nvSpPr>
        <p:spPr>
          <a:xfrm>
            <a:off x="1219925" y="1049225"/>
            <a:ext cx="7464600" cy="4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For aptitude (quants, logical and verbal): 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RS Aggarwal, IndiaBix, GeeksForGeeks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Puzzles from GeeksForGeeks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For Coding test :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Leetcode, Hackerrank, GeeksForGeeks, Codechef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For theory concepts: Gate Smashers, 5 Minutes Engineering, GeeksforGeeks, Javatpoint, Semester syllabus.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Refer previous year interview experiences from geeksforgeeks.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3"/>
          <p:cNvSpPr txBox="1">
            <a:spLocks noGrp="1"/>
          </p:cNvSpPr>
          <p:nvPr>
            <p:ph type="ctrTitle" idx="4"/>
          </p:nvPr>
        </p:nvSpPr>
        <p:spPr>
          <a:xfrm>
            <a:off x="1087075" y="3067600"/>
            <a:ext cx="2402100" cy="12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Framework Engineer</a:t>
            </a:r>
            <a:endParaRPr sz="3400"/>
          </a:p>
        </p:txBody>
      </p:sp>
      <p:sp>
        <p:nvSpPr>
          <p:cNvPr id="548" name="Google Shape;548;p43"/>
          <p:cNvSpPr txBox="1">
            <a:spLocks noGrp="1"/>
          </p:cNvSpPr>
          <p:nvPr>
            <p:ph type="ctrTitle"/>
          </p:nvPr>
        </p:nvSpPr>
        <p:spPr>
          <a:xfrm>
            <a:off x="3826900" y="3067600"/>
            <a:ext cx="2152500" cy="12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Business Analyst</a:t>
            </a:r>
            <a:endParaRPr sz="3400"/>
          </a:p>
        </p:txBody>
      </p:sp>
      <p:sp>
        <p:nvSpPr>
          <p:cNvPr id="549" name="Google Shape;549;p43"/>
          <p:cNvSpPr txBox="1">
            <a:spLocks noGrp="1"/>
          </p:cNvSpPr>
          <p:nvPr>
            <p:ph type="title" idx="3"/>
          </p:nvPr>
        </p:nvSpPr>
        <p:spPr>
          <a:xfrm>
            <a:off x="3826889" y="233573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5</a:t>
            </a:r>
            <a:endParaRPr sz="4200"/>
          </a:p>
        </p:txBody>
      </p:sp>
      <p:sp>
        <p:nvSpPr>
          <p:cNvPr id="550" name="Google Shape;550;p43"/>
          <p:cNvSpPr txBox="1">
            <a:spLocks noGrp="1"/>
          </p:cNvSpPr>
          <p:nvPr>
            <p:ph type="title" idx="6"/>
          </p:nvPr>
        </p:nvSpPr>
        <p:spPr>
          <a:xfrm>
            <a:off x="1136716" y="233573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9</a:t>
            </a:r>
            <a:endParaRPr sz="4200"/>
          </a:p>
        </p:txBody>
      </p:sp>
      <p:sp>
        <p:nvSpPr>
          <p:cNvPr id="551" name="Google Shape;551;p43"/>
          <p:cNvSpPr txBox="1">
            <a:spLocks noGrp="1"/>
          </p:cNvSpPr>
          <p:nvPr>
            <p:ph type="ctrTitle" idx="7"/>
          </p:nvPr>
        </p:nvSpPr>
        <p:spPr>
          <a:xfrm>
            <a:off x="2134325" y="1255300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17 people were selected </a:t>
            </a:r>
            <a:endParaRPr sz="3300"/>
          </a:p>
        </p:txBody>
      </p:sp>
      <p:sp>
        <p:nvSpPr>
          <p:cNvPr id="552" name="Google Shape;552;p43"/>
          <p:cNvSpPr txBox="1">
            <a:spLocks noGrp="1"/>
          </p:cNvSpPr>
          <p:nvPr>
            <p:ph type="ctrTitle" idx="8"/>
          </p:nvPr>
        </p:nvSpPr>
        <p:spPr>
          <a:xfrm>
            <a:off x="6471975" y="3067600"/>
            <a:ext cx="2943000" cy="12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Machine Learning </a:t>
            </a:r>
            <a:endParaRPr sz="3400"/>
          </a:p>
        </p:txBody>
      </p:sp>
      <p:sp>
        <p:nvSpPr>
          <p:cNvPr id="553" name="Google Shape;553;p43"/>
          <p:cNvSpPr txBox="1">
            <a:spLocks noGrp="1"/>
          </p:cNvSpPr>
          <p:nvPr>
            <p:ph type="title" idx="9"/>
          </p:nvPr>
        </p:nvSpPr>
        <p:spPr>
          <a:xfrm>
            <a:off x="6420286" y="233573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3</a:t>
            </a:r>
            <a:endParaRPr sz="4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4"/>
          <p:cNvSpPr txBox="1">
            <a:spLocks noGrp="1"/>
          </p:cNvSpPr>
          <p:nvPr>
            <p:ph type="title"/>
          </p:nvPr>
        </p:nvSpPr>
        <p:spPr>
          <a:xfrm>
            <a:off x="1346025" y="172725"/>
            <a:ext cx="7092900" cy="12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/>
              <a:t>If you have any queries you can contact us </a:t>
            </a:r>
            <a:endParaRPr sz="3000"/>
          </a:p>
        </p:txBody>
      </p:sp>
      <p:graphicFrame>
        <p:nvGraphicFramePr>
          <p:cNvPr id="559" name="Google Shape;559;p44"/>
          <p:cNvGraphicFramePr/>
          <p:nvPr/>
        </p:nvGraphicFramePr>
        <p:xfrm>
          <a:off x="688113" y="107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{3BE4FFB6-0174-41E3-A667-2C1791E316FC}</a:tableStyleId>
              </a:tblPr>
              <a:tblGrid>
                <a:gridCol w="346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Neeharika Nagori</a:t>
                      </a:r>
                      <a:r>
                        <a:rPr lang="en" sz="2200" u="none" strike="noStrike" cap="non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 </a:t>
                      </a:r>
                      <a:endParaRPr sz="22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 u="none" strike="noStrike" cap="non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201</a:t>
                      </a: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9neeharika.nagori@ves.ac.in </a:t>
                      </a:r>
                      <a:endParaRPr sz="22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Mrunmayee Waingankar</a:t>
                      </a:r>
                      <a:r>
                        <a:rPr lang="en" sz="2200" u="none" strike="noStrike" cap="non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 </a:t>
                      </a:r>
                      <a:endParaRPr sz="22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2019mrunmayee.waingankar@ves.ac.in</a:t>
                      </a:r>
                      <a:endParaRPr sz="2200" u="none" strike="noStrike" cap="none">
                        <a:solidFill>
                          <a:schemeClr val="lt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Shubham Zope</a:t>
                      </a:r>
                      <a:endParaRPr sz="22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 u="none" strike="noStrike" cap="non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201</a:t>
                      </a: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9shubham.zope@ves.ac.in</a:t>
                      </a:r>
                      <a:endParaRPr sz="2200" u="none" strike="noStrike" cap="none">
                        <a:solidFill>
                          <a:schemeClr val="lt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</Words>
  <Application>Microsoft Office PowerPoint</Application>
  <PresentationFormat>On-screen Show (16:9)</PresentationFormat>
  <Paragraphs>132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Maven Pro</vt:lpstr>
      <vt:lpstr>Fira Sans Extra Condensed Medium</vt:lpstr>
      <vt:lpstr>Advent Pro SemiBold</vt:lpstr>
      <vt:lpstr>Fira Sans Condensed Medium</vt:lpstr>
      <vt:lpstr>Times New Roman</vt:lpstr>
      <vt:lpstr>Livvic Light</vt:lpstr>
      <vt:lpstr>Nunito Light</vt:lpstr>
      <vt:lpstr>Share Tech</vt:lpstr>
      <vt:lpstr>Data Science Consulting by Slidesgo</vt:lpstr>
      <vt:lpstr>Quantiphi Analytics Solutions</vt:lpstr>
      <vt:lpstr>PowerPoint Presentation</vt:lpstr>
      <vt:lpstr>About Quantiphi</vt:lpstr>
      <vt:lpstr>Company Details</vt:lpstr>
      <vt:lpstr>Roles Offered</vt:lpstr>
      <vt:lpstr>PowerPoint Presentation</vt:lpstr>
      <vt:lpstr>Round 1 : Aptitude and Coding Test</vt:lpstr>
      <vt:lpstr>Round 2 : Group Discussion  (Business Analyst only) </vt:lpstr>
      <vt:lpstr>Experience of Mrunmayee Waingankar (Framework Engineer) Round 3: Technical Interview </vt:lpstr>
      <vt:lpstr>Experience of Mrunmayee Waingankar (Framework Engineer) Round 4: Technical + HR</vt:lpstr>
      <vt:lpstr>Experience of Shubham Zope (Framework Engineer) Round 3: Technical Interview </vt:lpstr>
      <vt:lpstr>Experience of Shubham Zope (Framework Engineer) Round 4: Technical + HR </vt:lpstr>
      <vt:lpstr>Experience of Neeharika Nagori (Framework Engineer) Round 3: Technical Interview </vt:lpstr>
      <vt:lpstr>Experience of Neeharika Nagori (Framework Engineer) Round 4: Technical + HR</vt:lpstr>
      <vt:lpstr>How to make your study plan? </vt:lpstr>
      <vt:lpstr>Framework Engineer</vt:lpstr>
      <vt:lpstr>If you have any queries you can contact us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Kumar</cp:lastModifiedBy>
  <cp:revision>1</cp:revision>
  <dcterms:modified xsi:type="dcterms:W3CDTF">2024-08-11T16:29:43Z</dcterms:modified>
</cp:coreProperties>
</file>