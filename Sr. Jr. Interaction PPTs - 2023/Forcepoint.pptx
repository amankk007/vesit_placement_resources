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Advent Pro SemiBold"/>
      <p:regular r:id="rId33"/>
      <p:bold r:id="rId34"/>
      <p:italic r:id="rId35"/>
      <p:boldItalic r:id="rId36"/>
    </p:embeddedFont>
    <p:embeddedFont>
      <p:font typeface="Roboto"/>
      <p:regular r:id="rId37"/>
      <p:bold r:id="rId38"/>
      <p:italic r:id="rId39"/>
      <p:boldItalic r:id="rId40"/>
    </p:embeddedFont>
    <p:embeddedFont>
      <p:font typeface="Montserrat"/>
      <p:regular r:id="rId41"/>
      <p:bold r:id="rId42"/>
      <p:italic r:id="rId43"/>
      <p:boldItalic r:id="rId44"/>
    </p:embeddedFont>
    <p:embeddedFont>
      <p:font typeface="Fira Sans Extra Condensed Medium"/>
      <p:regular r:id="rId45"/>
      <p:bold r:id="rId46"/>
      <p:italic r:id="rId47"/>
      <p:boldItalic r:id="rId48"/>
    </p:embeddedFont>
    <p:embeddedFont>
      <p:font typeface="Fira Sans Condensed Medium"/>
      <p:regular r:id="rId49"/>
      <p:bold r:id="rId50"/>
      <p:italic r:id="rId51"/>
      <p:boldItalic r:id="rId52"/>
    </p:embeddedFont>
    <p:embeddedFont>
      <p:font typeface="Maven Pro"/>
      <p:regular r:id="rId53"/>
      <p:bold r:id="rId54"/>
    </p:embeddedFont>
    <p:embeddedFont>
      <p:font typeface="Share Tech"/>
      <p:regular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42" Type="http://schemas.openxmlformats.org/officeDocument/2006/relationships/font" Target="fonts/Montserrat-bold.fntdata"/><Relationship Id="rId41" Type="http://schemas.openxmlformats.org/officeDocument/2006/relationships/font" Target="fonts/Montserrat-regular.fntdata"/><Relationship Id="rId44" Type="http://schemas.openxmlformats.org/officeDocument/2006/relationships/font" Target="fonts/Montserrat-boldItalic.fntdata"/><Relationship Id="rId43" Type="http://schemas.openxmlformats.org/officeDocument/2006/relationships/font" Target="fonts/Montserrat-italic.fntdata"/><Relationship Id="rId46" Type="http://schemas.openxmlformats.org/officeDocument/2006/relationships/font" Target="fonts/FiraSansExtraCondensedMedium-bold.fntdata"/><Relationship Id="rId45" Type="http://schemas.openxmlformats.org/officeDocument/2006/relationships/font" Target="fonts/FiraSansExtraCondensed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FiraSansExtraCondensedMedium-boldItalic.fntdata"/><Relationship Id="rId47" Type="http://schemas.openxmlformats.org/officeDocument/2006/relationships/font" Target="fonts/FiraSansExtraCondensedMedium-italic.fntdata"/><Relationship Id="rId49" Type="http://schemas.openxmlformats.org/officeDocument/2006/relationships/font" Target="fonts/FiraSansCondensedMedium-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AdventProSemiBold-regular.fntdata"/><Relationship Id="rId32" Type="http://schemas.openxmlformats.org/officeDocument/2006/relationships/slide" Target="slides/slide27.xml"/><Relationship Id="rId35" Type="http://schemas.openxmlformats.org/officeDocument/2006/relationships/font" Target="fonts/AdventProSemiBold-italic.fntdata"/><Relationship Id="rId34" Type="http://schemas.openxmlformats.org/officeDocument/2006/relationships/font" Target="fonts/AdventProSemiBold-bold.fntdata"/><Relationship Id="rId37" Type="http://schemas.openxmlformats.org/officeDocument/2006/relationships/font" Target="fonts/Roboto-regular.fntdata"/><Relationship Id="rId36" Type="http://schemas.openxmlformats.org/officeDocument/2006/relationships/font" Target="fonts/AdventProSemiBold-boldItalic.fntdata"/><Relationship Id="rId39" Type="http://schemas.openxmlformats.org/officeDocument/2006/relationships/font" Target="fonts/Roboto-italic.fntdata"/><Relationship Id="rId38" Type="http://schemas.openxmlformats.org/officeDocument/2006/relationships/font" Target="fonts/Roboto-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FiraSansCondensedMedium-italic.fntdata"/><Relationship Id="rId50" Type="http://schemas.openxmlformats.org/officeDocument/2006/relationships/font" Target="fonts/FiraSansCondensedMedium-bold.fntdata"/><Relationship Id="rId53" Type="http://schemas.openxmlformats.org/officeDocument/2006/relationships/font" Target="fonts/MavenPro-regular.fntdata"/><Relationship Id="rId52" Type="http://schemas.openxmlformats.org/officeDocument/2006/relationships/font" Target="fonts/FiraSansCondensedMedium-boldItalic.fntdata"/><Relationship Id="rId11" Type="http://schemas.openxmlformats.org/officeDocument/2006/relationships/slide" Target="slides/slide6.xml"/><Relationship Id="rId55" Type="http://schemas.openxmlformats.org/officeDocument/2006/relationships/font" Target="fonts/ShareTech-regular.fntdata"/><Relationship Id="rId10" Type="http://schemas.openxmlformats.org/officeDocument/2006/relationships/slide" Target="slides/slide5.xml"/><Relationship Id="rId54" Type="http://schemas.openxmlformats.org/officeDocument/2006/relationships/font" Target="fonts/MavenPro-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044373a54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044373a54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edf90d3068_15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edf90d3068_15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edf90d3068_15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edf90d3068_15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edf90d3068_1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edf90d3068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edf90d3068_15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edf90d3068_15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edf90d3068_15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edf90d3068_15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edf90d3068_15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edf90d3068_15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b64e7d2e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b64e7d2e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edf90d3068_15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edf90d3068_15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edf90d3068_15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edf90d3068_15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edf90d3068_17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edf90d3068_17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044373a547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044373a547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044373a547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044373a547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2044373a547_3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2044373a547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044373a547_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2044373a547_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044373a547_3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044373a547_3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044373a547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044373a547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044373a547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044373a547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edf90d3068_17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edf90d3068_17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edf90d3068_1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edf90d3068_1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edf90d3068_17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edf90d3068_17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edf90d3068_17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edf90d3068_17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edf90d3068_17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edf90d3068_17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1edf90d3068_17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1edf90d3068_17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edf90d3068_1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1edf90d3068_1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0f53e3129b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0f53e3129b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561650" y="751888"/>
            <a:ext cx="60207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2924250" y="2804488"/>
            <a:ext cx="3295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13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2"/>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 name="Google Shape;33;p2"/>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3"/>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 name="Google Shape;41;p3"/>
          <p:cNvGrpSpPr/>
          <p:nvPr/>
        </p:nvGrpSpPr>
        <p:grpSpPr>
          <a:xfrm>
            <a:off x="8263682" y="-434366"/>
            <a:ext cx="188886" cy="1181531"/>
            <a:chOff x="2877432" y="975334"/>
            <a:chExt cx="188886" cy="1181531"/>
          </a:xfrm>
        </p:grpSpPr>
        <p:sp>
          <p:nvSpPr>
            <p:cNvPr id="42" name="Google Shape;42;p3"/>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3"/>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3"/>
          <p:cNvGrpSpPr/>
          <p:nvPr/>
        </p:nvGrpSpPr>
        <p:grpSpPr>
          <a:xfrm>
            <a:off x="3643898" y="-436198"/>
            <a:ext cx="133252" cy="1952377"/>
            <a:chOff x="6780548" y="337714"/>
            <a:chExt cx="133252" cy="1952377"/>
          </a:xfrm>
        </p:grpSpPr>
        <p:sp>
          <p:nvSpPr>
            <p:cNvPr id="47" name="Google Shape;47;p3"/>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3"/>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 name="Google Shape;50;p3"/>
          <p:cNvGrpSpPr/>
          <p:nvPr/>
        </p:nvGrpSpPr>
        <p:grpSpPr>
          <a:xfrm>
            <a:off x="8008096" y="2108910"/>
            <a:ext cx="199001" cy="2139769"/>
            <a:chOff x="8008096" y="2108910"/>
            <a:chExt cx="199001" cy="2139769"/>
          </a:xfrm>
        </p:grpSpPr>
        <p:sp>
          <p:nvSpPr>
            <p:cNvPr id="51" name="Google Shape;51;p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 name="Google Shape;53;p3"/>
          <p:cNvGrpSpPr/>
          <p:nvPr/>
        </p:nvGrpSpPr>
        <p:grpSpPr>
          <a:xfrm>
            <a:off x="520996" y="1091548"/>
            <a:ext cx="199001" cy="2139769"/>
            <a:chOff x="8008096" y="2108910"/>
            <a:chExt cx="199001" cy="2139769"/>
          </a:xfrm>
        </p:grpSpPr>
        <p:sp>
          <p:nvSpPr>
            <p:cNvPr id="54" name="Google Shape;54;p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3"/>
          <p:cNvSpPr txBox="1"/>
          <p:nvPr>
            <p:ph type="ctrTitle"/>
          </p:nvPr>
        </p:nvSpPr>
        <p:spPr>
          <a:xfrm>
            <a:off x="2031287" y="1742775"/>
            <a:ext cx="2622000" cy="837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000000"/>
              </a:buClr>
              <a:buSzPts val="1200"/>
              <a:buNone/>
              <a:defRPr sz="4800">
                <a:solidFill>
                  <a:schemeClr val="lt1"/>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p:txBody>
      </p:sp>
      <p:sp>
        <p:nvSpPr>
          <p:cNvPr id="57" name="Google Shape;57;p3"/>
          <p:cNvSpPr txBox="1"/>
          <p:nvPr>
            <p:ph idx="1" type="subTitle"/>
          </p:nvPr>
        </p:nvSpPr>
        <p:spPr>
          <a:xfrm>
            <a:off x="1791587" y="2417450"/>
            <a:ext cx="3101400" cy="104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58" name="Google Shape;58;p3"/>
          <p:cNvSpPr txBox="1"/>
          <p:nvPr>
            <p:ph hasCustomPrompt="1" idx="2" type="title"/>
          </p:nvPr>
        </p:nvSpPr>
        <p:spPr>
          <a:xfrm>
            <a:off x="5834900" y="2122225"/>
            <a:ext cx="9810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000000"/>
              </a:buClr>
              <a:buSzPts val="4800"/>
              <a:buNone/>
              <a:defRPr sz="6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4"/>
          <p:cNvSpPr txBox="1"/>
          <p:nvPr>
            <p:ph idx="1" type="body"/>
          </p:nvPr>
        </p:nvSpPr>
        <p:spPr>
          <a:xfrm>
            <a:off x="618825" y="1679175"/>
            <a:ext cx="3534300" cy="20901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1" name="Google Shape;61;p4"/>
          <p:cNvSpPr txBox="1"/>
          <p:nvPr>
            <p:ph type="ctrTitle"/>
          </p:nvPr>
        </p:nvSpPr>
        <p:spPr>
          <a:xfrm>
            <a:off x="618825" y="411675"/>
            <a:ext cx="26865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62" name="Google Shape;62;p4"/>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4"/>
          <p:cNvGrpSpPr/>
          <p:nvPr/>
        </p:nvGrpSpPr>
        <p:grpSpPr>
          <a:xfrm>
            <a:off x="8148521" y="3004593"/>
            <a:ext cx="98059" cy="1147596"/>
            <a:chOff x="3347921" y="16006"/>
            <a:chExt cx="98059" cy="1147596"/>
          </a:xfrm>
        </p:grpSpPr>
        <p:sp>
          <p:nvSpPr>
            <p:cNvPr id="68" name="Google Shape;68;p4"/>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 name="Google Shape;70;p4"/>
          <p:cNvGrpSpPr/>
          <p:nvPr/>
        </p:nvGrpSpPr>
        <p:grpSpPr>
          <a:xfrm>
            <a:off x="281421" y="3769263"/>
            <a:ext cx="121172" cy="760495"/>
            <a:chOff x="5245196" y="3136513"/>
            <a:chExt cx="121172" cy="760495"/>
          </a:xfrm>
        </p:grpSpPr>
        <p:sp>
          <p:nvSpPr>
            <p:cNvPr id="71" name="Google Shape;71;p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4"/>
          <p:cNvGrpSpPr/>
          <p:nvPr/>
        </p:nvGrpSpPr>
        <p:grpSpPr>
          <a:xfrm>
            <a:off x="8534739" y="4069632"/>
            <a:ext cx="57599" cy="831799"/>
            <a:chOff x="2038689" y="173907"/>
            <a:chExt cx="57599" cy="831799"/>
          </a:xfrm>
        </p:grpSpPr>
        <p:sp>
          <p:nvSpPr>
            <p:cNvPr id="74" name="Google Shape;74;p4"/>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4"/>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8" name="Shape 78"/>
        <p:cNvGrpSpPr/>
        <p:nvPr/>
      </p:nvGrpSpPr>
      <p:grpSpPr>
        <a:xfrm>
          <a:off x="0" y="0"/>
          <a:ext cx="0" cy="0"/>
          <a:chOff x="0" y="0"/>
          <a:chExt cx="0" cy="0"/>
        </a:xfrm>
      </p:grpSpPr>
      <p:sp>
        <p:nvSpPr>
          <p:cNvPr id="79" name="Google Shape;79;p5"/>
          <p:cNvSpPr txBox="1"/>
          <p:nvPr>
            <p:ph type="ctrTitle"/>
          </p:nvPr>
        </p:nvSpPr>
        <p:spPr>
          <a:xfrm>
            <a:off x="923625" y="1196026"/>
            <a:ext cx="982200" cy="5778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000000"/>
              </a:buClr>
              <a:buSzPts val="1800"/>
              <a:buFont typeface="Fira Sans Condensed Medium"/>
              <a:buNone/>
              <a:defRPr sz="24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0" name="Google Shape;80;p5"/>
          <p:cNvSpPr txBox="1"/>
          <p:nvPr>
            <p:ph idx="1" type="subTitle"/>
          </p:nvPr>
        </p:nvSpPr>
        <p:spPr>
          <a:xfrm>
            <a:off x="923637" y="1684093"/>
            <a:ext cx="26205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81" name="Google Shape;81;p5"/>
          <p:cNvSpPr txBox="1"/>
          <p:nvPr>
            <p:ph idx="2" type="ctrTitle"/>
          </p:nvPr>
        </p:nvSpPr>
        <p:spPr>
          <a:xfrm>
            <a:off x="7050379" y="1196025"/>
            <a:ext cx="1137300" cy="5778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000000"/>
              </a:buClr>
              <a:buSzPts val="1800"/>
              <a:buFont typeface="Fira Sans Condensed Medium"/>
              <a:buNone/>
              <a:defRPr sz="24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2" name="Google Shape;82;p5"/>
          <p:cNvSpPr txBox="1"/>
          <p:nvPr>
            <p:ph idx="3" type="subTitle"/>
          </p:nvPr>
        </p:nvSpPr>
        <p:spPr>
          <a:xfrm>
            <a:off x="5450166" y="1684093"/>
            <a:ext cx="27375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83" name="Google Shape;83;p5"/>
          <p:cNvSpPr txBox="1"/>
          <p:nvPr>
            <p:ph idx="4" type="ctrTitle"/>
          </p:nvPr>
        </p:nvSpPr>
        <p:spPr>
          <a:xfrm>
            <a:off x="618825" y="411675"/>
            <a:ext cx="46182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84" name="Google Shape;84;p5"/>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5"/>
          <p:cNvGrpSpPr/>
          <p:nvPr/>
        </p:nvGrpSpPr>
        <p:grpSpPr>
          <a:xfrm>
            <a:off x="6626134" y="-164562"/>
            <a:ext cx="121172" cy="760495"/>
            <a:chOff x="5245196" y="3136513"/>
            <a:chExt cx="121172" cy="760495"/>
          </a:xfrm>
        </p:grpSpPr>
        <p:sp>
          <p:nvSpPr>
            <p:cNvPr id="89" name="Google Shape;89;p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5"/>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sp>
        <p:nvSpPr>
          <p:cNvPr id="94" name="Google Shape;94;p6"/>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95" name="Google Shape;95;p6"/>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p7"/>
          <p:cNvSpPr txBox="1"/>
          <p:nvPr>
            <p:ph idx="1" type="body"/>
          </p:nvPr>
        </p:nvSpPr>
        <p:spPr>
          <a:xfrm>
            <a:off x="618306" y="2199025"/>
            <a:ext cx="1905900" cy="1296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6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07" name="Google Shape;107;p7"/>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108" name="Google Shape;108;p7"/>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 name="Google Shape;112;p7"/>
          <p:cNvGrpSpPr/>
          <p:nvPr/>
        </p:nvGrpSpPr>
        <p:grpSpPr>
          <a:xfrm>
            <a:off x="6626134" y="-164562"/>
            <a:ext cx="121172" cy="760495"/>
            <a:chOff x="5245196" y="3136513"/>
            <a:chExt cx="121172" cy="760495"/>
          </a:xfrm>
        </p:grpSpPr>
        <p:sp>
          <p:nvSpPr>
            <p:cNvPr id="113" name="Google Shape;113;p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7"/>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7" name="Shape 117"/>
        <p:cNvGrpSpPr/>
        <p:nvPr/>
      </p:nvGrpSpPr>
      <p:grpSpPr>
        <a:xfrm>
          <a:off x="0" y="0"/>
          <a:ext cx="0" cy="0"/>
          <a:chOff x="0" y="0"/>
          <a:chExt cx="0" cy="0"/>
        </a:xfrm>
      </p:grpSpPr>
      <p:sp>
        <p:nvSpPr>
          <p:cNvPr id="118" name="Google Shape;118;p8"/>
          <p:cNvSpPr txBox="1"/>
          <p:nvPr>
            <p:ph type="title"/>
          </p:nvPr>
        </p:nvSpPr>
        <p:spPr>
          <a:xfrm>
            <a:off x="2037000" y="1496400"/>
            <a:ext cx="5070000" cy="2150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9" name="Google Shape;119;p8"/>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13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8"/>
          <p:cNvGrpSpPr/>
          <p:nvPr/>
        </p:nvGrpSpPr>
        <p:grpSpPr>
          <a:xfrm>
            <a:off x="8263682" y="-434366"/>
            <a:ext cx="188886" cy="1181531"/>
            <a:chOff x="2877432" y="975334"/>
            <a:chExt cx="188886" cy="1181531"/>
          </a:xfrm>
        </p:grpSpPr>
        <p:sp>
          <p:nvSpPr>
            <p:cNvPr id="126" name="Google Shape;126;p8"/>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8"/>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8"/>
          <p:cNvGrpSpPr/>
          <p:nvPr/>
        </p:nvGrpSpPr>
        <p:grpSpPr>
          <a:xfrm>
            <a:off x="3090746" y="-533657"/>
            <a:ext cx="98059" cy="1147596"/>
            <a:chOff x="3347921" y="16006"/>
            <a:chExt cx="98059" cy="1147596"/>
          </a:xfrm>
        </p:grpSpPr>
        <p:sp>
          <p:nvSpPr>
            <p:cNvPr id="133" name="Google Shape;133;p8"/>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8"/>
          <p:cNvGrpSpPr/>
          <p:nvPr/>
        </p:nvGrpSpPr>
        <p:grpSpPr>
          <a:xfrm>
            <a:off x="4892771" y="-340112"/>
            <a:ext cx="121172" cy="760495"/>
            <a:chOff x="5245196" y="3136513"/>
            <a:chExt cx="121172" cy="760495"/>
          </a:xfrm>
        </p:grpSpPr>
        <p:sp>
          <p:nvSpPr>
            <p:cNvPr id="136" name="Google Shape;136;p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 name="Google Shape;138;p8"/>
          <p:cNvGrpSpPr/>
          <p:nvPr/>
        </p:nvGrpSpPr>
        <p:grpSpPr>
          <a:xfrm>
            <a:off x="6967836" y="85439"/>
            <a:ext cx="133252" cy="1952377"/>
            <a:chOff x="6780548" y="337714"/>
            <a:chExt cx="133252" cy="1952377"/>
          </a:xfrm>
        </p:grpSpPr>
        <p:sp>
          <p:nvSpPr>
            <p:cNvPr id="139" name="Google Shape;139;p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8"/>
          <p:cNvGrpSpPr/>
          <p:nvPr/>
        </p:nvGrpSpPr>
        <p:grpSpPr>
          <a:xfrm>
            <a:off x="250617" y="2402301"/>
            <a:ext cx="188650" cy="2468354"/>
            <a:chOff x="250617" y="2402301"/>
            <a:chExt cx="188650" cy="2468354"/>
          </a:xfrm>
        </p:grpSpPr>
        <p:sp>
          <p:nvSpPr>
            <p:cNvPr id="142" name="Google Shape;142;p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 name="Google Shape;146;p8"/>
          <p:cNvGrpSpPr/>
          <p:nvPr/>
        </p:nvGrpSpPr>
        <p:grpSpPr>
          <a:xfrm>
            <a:off x="982417" y="1695096"/>
            <a:ext cx="199237" cy="2828935"/>
            <a:chOff x="1608717" y="1280046"/>
            <a:chExt cx="199237" cy="2828935"/>
          </a:xfrm>
        </p:grpSpPr>
        <p:sp>
          <p:nvSpPr>
            <p:cNvPr id="147" name="Google Shape;147;p8"/>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8"/>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 name="Google Shape;151;p8"/>
          <p:cNvGrpSpPr/>
          <p:nvPr/>
        </p:nvGrpSpPr>
        <p:grpSpPr>
          <a:xfrm>
            <a:off x="2038689" y="173907"/>
            <a:ext cx="57599" cy="831799"/>
            <a:chOff x="2038689" y="173907"/>
            <a:chExt cx="57599" cy="831799"/>
          </a:xfrm>
        </p:grpSpPr>
        <p:sp>
          <p:nvSpPr>
            <p:cNvPr id="152" name="Google Shape;152;p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8"/>
          <p:cNvGrpSpPr/>
          <p:nvPr/>
        </p:nvGrpSpPr>
        <p:grpSpPr>
          <a:xfrm>
            <a:off x="8008096" y="2108910"/>
            <a:ext cx="199001" cy="2139769"/>
            <a:chOff x="8008096" y="2108910"/>
            <a:chExt cx="199001" cy="2139769"/>
          </a:xfrm>
        </p:grpSpPr>
        <p:sp>
          <p:nvSpPr>
            <p:cNvPr id="155" name="Google Shape;155;p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 name="Google Shape;157;p8"/>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 name="Google Shape;158;p8"/>
          <p:cNvGrpSpPr/>
          <p:nvPr/>
        </p:nvGrpSpPr>
        <p:grpSpPr>
          <a:xfrm>
            <a:off x="4095146" y="-859690"/>
            <a:ext cx="199001" cy="2139769"/>
            <a:chOff x="8008096" y="2108910"/>
            <a:chExt cx="199001" cy="2139769"/>
          </a:xfrm>
        </p:grpSpPr>
        <p:sp>
          <p:nvSpPr>
            <p:cNvPr id="159" name="Google Shape;159;p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8"/>
          <p:cNvGrpSpPr/>
          <p:nvPr/>
        </p:nvGrpSpPr>
        <p:grpSpPr>
          <a:xfrm>
            <a:off x="6333286" y="3704939"/>
            <a:ext cx="133252" cy="1952377"/>
            <a:chOff x="6780548" y="337714"/>
            <a:chExt cx="133252" cy="1952377"/>
          </a:xfrm>
        </p:grpSpPr>
        <p:sp>
          <p:nvSpPr>
            <p:cNvPr id="162" name="Google Shape;162;p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 name="Google Shape;164;p8"/>
          <p:cNvGrpSpPr/>
          <p:nvPr/>
        </p:nvGrpSpPr>
        <p:grpSpPr>
          <a:xfrm>
            <a:off x="2702021" y="3612763"/>
            <a:ext cx="121172" cy="760495"/>
            <a:chOff x="5245196" y="3136513"/>
            <a:chExt cx="121172" cy="760495"/>
          </a:xfrm>
        </p:grpSpPr>
        <p:sp>
          <p:nvSpPr>
            <p:cNvPr id="165" name="Google Shape;165;p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 name="Google Shape;167;p8"/>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9" name="Shape 169"/>
        <p:cNvGrpSpPr/>
        <p:nvPr/>
      </p:nvGrpSpPr>
      <p:grpSpPr>
        <a:xfrm>
          <a:off x="0" y="0"/>
          <a:ext cx="0" cy="0"/>
          <a:chOff x="0" y="0"/>
          <a:chExt cx="0" cy="0"/>
        </a:xfrm>
      </p:grpSpPr>
      <p:sp>
        <p:nvSpPr>
          <p:cNvPr id="170" name="Google Shape;170;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71" name="Google Shape;171;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2" name="Google Shape;172;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sp>
        <p:nvSpPr>
          <p:cNvPr id="174" name="Google Shape;174;p10"/>
          <p:cNvSpPr txBox="1"/>
          <p:nvPr>
            <p:ph type="title"/>
          </p:nvPr>
        </p:nvSpPr>
        <p:spPr>
          <a:xfrm>
            <a:off x="581925" y="3391646"/>
            <a:ext cx="4126500" cy="1321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75" name="Shape 175"/>
        <p:cNvGrpSpPr/>
        <p:nvPr/>
      </p:nvGrpSpPr>
      <p:grpSpPr>
        <a:xfrm>
          <a:off x="0" y="0"/>
          <a:ext cx="0" cy="0"/>
          <a:chOff x="0" y="0"/>
          <a:chExt cx="0" cy="0"/>
        </a:xfrm>
      </p:grpSpPr>
      <p:sp>
        <p:nvSpPr>
          <p:cNvPr id="176" name="Google Shape;176;p11"/>
          <p:cNvSpPr txBox="1"/>
          <p:nvPr>
            <p:ph type="ctrTitle"/>
          </p:nvPr>
        </p:nvSpPr>
        <p:spPr>
          <a:xfrm>
            <a:off x="3068675" y="3075325"/>
            <a:ext cx="3055800" cy="54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2400">
                <a:solidFill>
                  <a:schemeClr val="accen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7" name="Google Shape;177;p11"/>
          <p:cNvSpPr txBox="1"/>
          <p:nvPr>
            <p:ph idx="1" type="subTitle"/>
          </p:nvPr>
        </p:nvSpPr>
        <p:spPr>
          <a:xfrm>
            <a:off x="2333000" y="1799075"/>
            <a:ext cx="4478100" cy="7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8" name="Google Shape;178;p11"/>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 name="Google Shape;183;p11"/>
          <p:cNvGrpSpPr/>
          <p:nvPr/>
        </p:nvGrpSpPr>
        <p:grpSpPr>
          <a:xfrm>
            <a:off x="8217007" y="3576772"/>
            <a:ext cx="188886" cy="1181531"/>
            <a:chOff x="2877432" y="975334"/>
            <a:chExt cx="188886" cy="1181531"/>
          </a:xfrm>
        </p:grpSpPr>
        <p:sp>
          <p:nvSpPr>
            <p:cNvPr id="184" name="Google Shape;184;p11"/>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11"/>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11"/>
          <p:cNvGrpSpPr/>
          <p:nvPr/>
        </p:nvGrpSpPr>
        <p:grpSpPr>
          <a:xfrm>
            <a:off x="7519346" y="3243318"/>
            <a:ext cx="98059" cy="1147596"/>
            <a:chOff x="3347921" y="16006"/>
            <a:chExt cx="98059" cy="1147596"/>
          </a:xfrm>
        </p:grpSpPr>
        <p:sp>
          <p:nvSpPr>
            <p:cNvPr id="189" name="Google Shape;189;p11"/>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 name="Google Shape;191;p11"/>
          <p:cNvGrpSpPr/>
          <p:nvPr/>
        </p:nvGrpSpPr>
        <p:grpSpPr>
          <a:xfrm>
            <a:off x="805821" y="2953663"/>
            <a:ext cx="121172" cy="760495"/>
            <a:chOff x="5245196" y="3136513"/>
            <a:chExt cx="121172" cy="760495"/>
          </a:xfrm>
        </p:grpSpPr>
        <p:sp>
          <p:nvSpPr>
            <p:cNvPr id="192" name="Google Shape;192;p1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250617" y="2402301"/>
            <a:ext cx="188650" cy="2468354"/>
            <a:chOff x="250617" y="2402301"/>
            <a:chExt cx="188650" cy="2468354"/>
          </a:xfrm>
        </p:grpSpPr>
        <p:sp>
          <p:nvSpPr>
            <p:cNvPr id="195" name="Google Shape;195;p11"/>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 name="Google Shape;199;p11"/>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 name="Google Shape;201;p11"/>
          <p:cNvGrpSpPr/>
          <p:nvPr/>
        </p:nvGrpSpPr>
        <p:grpSpPr>
          <a:xfrm>
            <a:off x="2038689" y="173907"/>
            <a:ext cx="57599" cy="831799"/>
            <a:chOff x="2038689" y="173907"/>
            <a:chExt cx="57599" cy="831799"/>
          </a:xfrm>
        </p:grpSpPr>
        <p:sp>
          <p:nvSpPr>
            <p:cNvPr id="202" name="Google Shape;202;p11"/>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 name="Google Shape;204;p11"/>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11"/>
          <p:cNvGrpSpPr/>
          <p:nvPr/>
        </p:nvGrpSpPr>
        <p:grpSpPr>
          <a:xfrm>
            <a:off x="4920170" y="-496491"/>
            <a:ext cx="188886" cy="1181531"/>
            <a:chOff x="2877432" y="975334"/>
            <a:chExt cx="188886" cy="1181531"/>
          </a:xfrm>
        </p:grpSpPr>
        <p:sp>
          <p:nvSpPr>
            <p:cNvPr id="206" name="Google Shape;206;p11"/>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 name="Google Shape;209;p11"/>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 name="Google Shape;210;p11"/>
          <p:cNvGrpSpPr/>
          <p:nvPr/>
        </p:nvGrpSpPr>
        <p:grpSpPr>
          <a:xfrm>
            <a:off x="3030471" y="-223849"/>
            <a:ext cx="121172" cy="760495"/>
            <a:chOff x="5245196" y="3136513"/>
            <a:chExt cx="121172" cy="760495"/>
          </a:xfrm>
        </p:grpSpPr>
        <p:sp>
          <p:nvSpPr>
            <p:cNvPr id="211" name="Google Shape;211;p1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 name="Google Shape;213;p11"/>
          <p:cNvGrpSpPr/>
          <p:nvPr/>
        </p:nvGrpSpPr>
        <p:grpSpPr>
          <a:xfrm>
            <a:off x="2306292" y="2569221"/>
            <a:ext cx="199237" cy="2828935"/>
            <a:chOff x="1608717" y="1280046"/>
            <a:chExt cx="199237" cy="2828935"/>
          </a:xfrm>
        </p:grpSpPr>
        <p:sp>
          <p:nvSpPr>
            <p:cNvPr id="214" name="Google Shape;214;p11"/>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7" name="Shape 217"/>
        <p:cNvGrpSpPr/>
        <p:nvPr/>
      </p:nvGrpSpPr>
      <p:grpSpPr>
        <a:xfrm>
          <a:off x="0" y="0"/>
          <a:ext cx="0" cy="0"/>
          <a:chOff x="0" y="0"/>
          <a:chExt cx="0" cy="0"/>
        </a:xfrm>
      </p:grpSpPr>
      <p:sp>
        <p:nvSpPr>
          <p:cNvPr id="218" name="Google Shape;218;p12"/>
          <p:cNvSpPr txBox="1"/>
          <p:nvPr>
            <p:ph hasCustomPrompt="1" type="title"/>
          </p:nvPr>
        </p:nvSpPr>
        <p:spPr>
          <a:xfrm>
            <a:off x="1733725" y="856650"/>
            <a:ext cx="5676600" cy="12303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80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9" name="Google Shape;219;p12"/>
          <p:cNvSpPr txBox="1"/>
          <p:nvPr>
            <p:ph idx="1" type="body"/>
          </p:nvPr>
        </p:nvSpPr>
        <p:spPr>
          <a:xfrm>
            <a:off x="3208075" y="2086950"/>
            <a:ext cx="2727900" cy="7155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grpSp>
        <p:nvGrpSpPr>
          <p:cNvPr id="220" name="Google Shape;220;p12"/>
          <p:cNvGrpSpPr/>
          <p:nvPr/>
        </p:nvGrpSpPr>
        <p:grpSpPr>
          <a:xfrm>
            <a:off x="722446" y="3412541"/>
            <a:ext cx="7699120" cy="1883463"/>
            <a:chOff x="4558950" y="838825"/>
            <a:chExt cx="2813800" cy="688350"/>
          </a:xfrm>
        </p:grpSpPr>
        <p:sp>
          <p:nvSpPr>
            <p:cNvPr id="221" name="Google Shape;221;p12"/>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2"/>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2"/>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2"/>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2"/>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56" name="Shape 256"/>
        <p:cNvGrpSpPr/>
        <p:nvPr/>
      </p:nvGrpSpPr>
      <p:grpSpPr>
        <a:xfrm>
          <a:off x="0" y="0"/>
          <a:ext cx="0" cy="0"/>
          <a:chOff x="0" y="0"/>
          <a:chExt cx="0" cy="0"/>
        </a:xfrm>
      </p:grpSpPr>
      <p:sp>
        <p:nvSpPr>
          <p:cNvPr id="257" name="Google Shape;257;p13"/>
          <p:cNvSpPr txBox="1"/>
          <p:nvPr>
            <p:ph idx="1" type="subTitle"/>
          </p:nvPr>
        </p:nvSpPr>
        <p:spPr>
          <a:xfrm>
            <a:off x="6429027" y="3829680"/>
            <a:ext cx="24282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258" name="Google Shape;258;p13"/>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txBox="1"/>
          <p:nvPr>
            <p:ph type="ctrTitle"/>
          </p:nvPr>
        </p:nvSpPr>
        <p:spPr>
          <a:xfrm>
            <a:off x="970814" y="3396800"/>
            <a:ext cx="21525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69" name="Google Shape;269;p13"/>
          <p:cNvSpPr txBox="1"/>
          <p:nvPr>
            <p:ph idx="2" type="subTitle"/>
          </p:nvPr>
        </p:nvSpPr>
        <p:spPr>
          <a:xfrm>
            <a:off x="970814" y="3829680"/>
            <a:ext cx="24282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270" name="Google Shape;270;p13"/>
          <p:cNvSpPr txBox="1"/>
          <p:nvPr>
            <p:ph hasCustomPrompt="1" idx="3" type="title"/>
          </p:nvPr>
        </p:nvSpPr>
        <p:spPr>
          <a:xfrm>
            <a:off x="970814" y="2645887"/>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00000"/>
              </a:buClr>
              <a:buSzPts val="4800"/>
              <a:buNone/>
              <a:defRPr sz="4800">
                <a:solidFill>
                  <a:schemeClr val="accent2"/>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1" name="Google Shape;271;p13"/>
          <p:cNvSpPr txBox="1"/>
          <p:nvPr>
            <p:ph idx="4" type="ctrTitle"/>
          </p:nvPr>
        </p:nvSpPr>
        <p:spPr>
          <a:xfrm>
            <a:off x="3690348" y="3396800"/>
            <a:ext cx="13866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2" name="Google Shape;272;p13"/>
          <p:cNvSpPr txBox="1"/>
          <p:nvPr>
            <p:ph idx="5" type="subTitle"/>
          </p:nvPr>
        </p:nvSpPr>
        <p:spPr>
          <a:xfrm>
            <a:off x="3690341" y="3829680"/>
            <a:ext cx="24282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273" name="Google Shape;273;p13"/>
          <p:cNvSpPr txBox="1"/>
          <p:nvPr>
            <p:ph hasCustomPrompt="1" idx="6" type="title"/>
          </p:nvPr>
        </p:nvSpPr>
        <p:spPr>
          <a:xfrm>
            <a:off x="3690341" y="2645887"/>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00000"/>
              </a:buClr>
              <a:buSzPts val="4800"/>
              <a:buNone/>
              <a:defRPr sz="4800">
                <a:solidFill>
                  <a:schemeClr val="accent3"/>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4" name="Google Shape;274;p13"/>
          <p:cNvSpPr txBox="1"/>
          <p:nvPr>
            <p:ph idx="7" type="ctrTitle"/>
          </p:nvPr>
        </p:nvSpPr>
        <p:spPr>
          <a:xfrm>
            <a:off x="618825" y="411675"/>
            <a:ext cx="45762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275" name="Google Shape;275;p13"/>
          <p:cNvSpPr txBox="1"/>
          <p:nvPr>
            <p:ph idx="8" type="ctrTitle"/>
          </p:nvPr>
        </p:nvSpPr>
        <p:spPr>
          <a:xfrm>
            <a:off x="6428436" y="3377738"/>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6" name="Google Shape;276;p13"/>
          <p:cNvSpPr txBox="1"/>
          <p:nvPr>
            <p:ph hasCustomPrompt="1" idx="9" type="title"/>
          </p:nvPr>
        </p:nvSpPr>
        <p:spPr>
          <a:xfrm>
            <a:off x="6428436" y="2645887"/>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00000"/>
              </a:buClr>
              <a:buSzPts val="4800"/>
              <a:buNone/>
              <a:defRPr sz="4800">
                <a:solidFill>
                  <a:schemeClr val="accent1"/>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7" name="Google Shape;277;p13"/>
          <p:cNvSpPr txBox="1"/>
          <p:nvPr>
            <p:ph idx="13" type="ctrTitle"/>
          </p:nvPr>
        </p:nvSpPr>
        <p:spPr>
          <a:xfrm>
            <a:off x="6429027" y="3396800"/>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278" name="Shape 278"/>
        <p:cNvGrpSpPr/>
        <p:nvPr/>
      </p:nvGrpSpPr>
      <p:grpSpPr>
        <a:xfrm>
          <a:off x="0" y="0"/>
          <a:ext cx="0" cy="0"/>
          <a:chOff x="0" y="0"/>
          <a:chExt cx="0" cy="0"/>
        </a:xfrm>
      </p:grpSpPr>
      <p:sp>
        <p:nvSpPr>
          <p:cNvPr id="279" name="Google Shape;279;p14"/>
          <p:cNvSpPr txBox="1"/>
          <p:nvPr>
            <p:ph type="ctrTitle"/>
          </p:nvPr>
        </p:nvSpPr>
        <p:spPr>
          <a:xfrm>
            <a:off x="4696481" y="1365079"/>
            <a:ext cx="26556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0" name="Google Shape;280;p14"/>
          <p:cNvSpPr txBox="1"/>
          <p:nvPr>
            <p:ph idx="1" type="subTitle"/>
          </p:nvPr>
        </p:nvSpPr>
        <p:spPr>
          <a:xfrm>
            <a:off x="4696481" y="1835141"/>
            <a:ext cx="3039300" cy="93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281" name="Google Shape;281;p14"/>
          <p:cNvSpPr txBox="1"/>
          <p:nvPr>
            <p:ph idx="2" type="ctrTitle"/>
          </p:nvPr>
        </p:nvSpPr>
        <p:spPr>
          <a:xfrm>
            <a:off x="1900150" y="3127942"/>
            <a:ext cx="24729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2" name="Google Shape;282;p14"/>
          <p:cNvSpPr txBox="1"/>
          <p:nvPr>
            <p:ph idx="3" type="subTitle"/>
          </p:nvPr>
        </p:nvSpPr>
        <p:spPr>
          <a:xfrm>
            <a:off x="1333875" y="3598390"/>
            <a:ext cx="3039300" cy="1179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283" name="Google Shape;283;p1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7" name="Google Shape;287;p14"/>
          <p:cNvGrpSpPr/>
          <p:nvPr/>
        </p:nvGrpSpPr>
        <p:grpSpPr>
          <a:xfrm>
            <a:off x="6626134" y="-164562"/>
            <a:ext cx="121172" cy="760495"/>
            <a:chOff x="5245196" y="3136513"/>
            <a:chExt cx="121172" cy="760495"/>
          </a:xfrm>
        </p:grpSpPr>
        <p:sp>
          <p:nvSpPr>
            <p:cNvPr id="288" name="Google Shape;288;p1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1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txBox="1"/>
          <p:nvPr>
            <p:ph idx="4"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293" name="Shape 293"/>
        <p:cNvGrpSpPr/>
        <p:nvPr/>
      </p:nvGrpSpPr>
      <p:grpSpPr>
        <a:xfrm>
          <a:off x="0" y="0"/>
          <a:ext cx="0" cy="0"/>
          <a:chOff x="0" y="0"/>
          <a:chExt cx="0" cy="0"/>
        </a:xfrm>
      </p:grpSpPr>
      <p:sp>
        <p:nvSpPr>
          <p:cNvPr id="294" name="Google Shape;294;p15"/>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 name="Google Shape;298;p15"/>
          <p:cNvGrpSpPr/>
          <p:nvPr/>
        </p:nvGrpSpPr>
        <p:grpSpPr>
          <a:xfrm>
            <a:off x="6626134" y="-164562"/>
            <a:ext cx="121172" cy="760495"/>
            <a:chOff x="5245196" y="3136513"/>
            <a:chExt cx="121172" cy="760495"/>
          </a:xfrm>
        </p:grpSpPr>
        <p:sp>
          <p:nvSpPr>
            <p:cNvPr id="299" name="Google Shape;299;p1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15"/>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txBox="1"/>
          <p:nvPr>
            <p:ph type="ctrTitle"/>
          </p:nvPr>
        </p:nvSpPr>
        <p:spPr>
          <a:xfrm>
            <a:off x="891226" y="1267450"/>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4" name="Google Shape;304;p15"/>
          <p:cNvSpPr txBox="1"/>
          <p:nvPr>
            <p:ph idx="1" type="subTitle"/>
          </p:nvPr>
        </p:nvSpPr>
        <p:spPr>
          <a:xfrm>
            <a:off x="891226" y="3491100"/>
            <a:ext cx="18813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05" name="Google Shape;305;p15"/>
          <p:cNvSpPr txBox="1"/>
          <p:nvPr>
            <p:ph idx="2" type="ctrTitle"/>
          </p:nvPr>
        </p:nvSpPr>
        <p:spPr>
          <a:xfrm>
            <a:off x="3503173" y="1267450"/>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6" name="Google Shape;306;p15"/>
          <p:cNvSpPr txBox="1"/>
          <p:nvPr>
            <p:ph idx="3" type="subTitle"/>
          </p:nvPr>
        </p:nvSpPr>
        <p:spPr>
          <a:xfrm>
            <a:off x="3503173" y="3491100"/>
            <a:ext cx="18813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07" name="Google Shape;307;p15"/>
          <p:cNvSpPr txBox="1"/>
          <p:nvPr>
            <p:ph idx="4" type="ctrTitle"/>
          </p:nvPr>
        </p:nvSpPr>
        <p:spPr>
          <a:xfrm>
            <a:off x="6124594" y="1267450"/>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8" name="Google Shape;308;p15"/>
          <p:cNvSpPr txBox="1"/>
          <p:nvPr>
            <p:ph idx="5" type="subTitle"/>
          </p:nvPr>
        </p:nvSpPr>
        <p:spPr>
          <a:xfrm>
            <a:off x="6124594" y="3491100"/>
            <a:ext cx="18813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09" name="Google Shape;309;p15"/>
          <p:cNvSpPr txBox="1"/>
          <p:nvPr>
            <p:ph idx="6"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0" name="Shape 310"/>
        <p:cNvGrpSpPr/>
        <p:nvPr/>
      </p:nvGrpSpPr>
      <p:grpSpPr>
        <a:xfrm>
          <a:off x="0" y="0"/>
          <a:ext cx="0" cy="0"/>
          <a:chOff x="0" y="0"/>
          <a:chExt cx="0" cy="0"/>
        </a:xfrm>
      </p:grpSpPr>
      <p:sp>
        <p:nvSpPr>
          <p:cNvPr id="311" name="Google Shape;311;p16"/>
          <p:cNvSpPr txBox="1"/>
          <p:nvPr>
            <p:ph type="ctrTitle"/>
          </p:nvPr>
        </p:nvSpPr>
        <p:spPr>
          <a:xfrm>
            <a:off x="1121525" y="23022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2" name="Google Shape;312;p16"/>
          <p:cNvSpPr txBox="1"/>
          <p:nvPr>
            <p:ph idx="1" type="subTitle"/>
          </p:nvPr>
        </p:nvSpPr>
        <p:spPr>
          <a:xfrm>
            <a:off x="961925" y="1643751"/>
            <a:ext cx="22005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13" name="Google Shape;313;p16"/>
          <p:cNvSpPr txBox="1"/>
          <p:nvPr>
            <p:ph idx="2" type="ctrTitle"/>
          </p:nvPr>
        </p:nvSpPr>
        <p:spPr>
          <a:xfrm>
            <a:off x="3628263" y="23022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4" name="Google Shape;314;p16"/>
          <p:cNvSpPr txBox="1"/>
          <p:nvPr>
            <p:ph idx="3" type="subTitle"/>
          </p:nvPr>
        </p:nvSpPr>
        <p:spPr>
          <a:xfrm>
            <a:off x="3468663" y="1643759"/>
            <a:ext cx="22005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15" name="Google Shape;315;p16"/>
          <p:cNvSpPr txBox="1"/>
          <p:nvPr>
            <p:ph idx="4" type="ctrTitle"/>
          </p:nvPr>
        </p:nvSpPr>
        <p:spPr>
          <a:xfrm>
            <a:off x="6142624" y="23022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6" name="Google Shape;316;p16"/>
          <p:cNvSpPr txBox="1"/>
          <p:nvPr>
            <p:ph idx="5" type="subTitle"/>
          </p:nvPr>
        </p:nvSpPr>
        <p:spPr>
          <a:xfrm>
            <a:off x="5947924" y="1643751"/>
            <a:ext cx="22707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17" name="Google Shape;317;p16"/>
          <p:cNvSpPr txBox="1"/>
          <p:nvPr>
            <p:ph idx="6"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318" name="Google Shape;318;p16"/>
          <p:cNvSpPr txBox="1"/>
          <p:nvPr>
            <p:ph idx="7" type="ctrTitle"/>
          </p:nvPr>
        </p:nvSpPr>
        <p:spPr>
          <a:xfrm>
            <a:off x="1121525" y="41348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9" name="Google Shape;319;p16"/>
          <p:cNvSpPr txBox="1"/>
          <p:nvPr>
            <p:ph idx="8" type="subTitle"/>
          </p:nvPr>
        </p:nvSpPr>
        <p:spPr>
          <a:xfrm>
            <a:off x="961925" y="3479251"/>
            <a:ext cx="22005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20" name="Google Shape;320;p16"/>
          <p:cNvSpPr txBox="1"/>
          <p:nvPr>
            <p:ph idx="9" type="ctrTitle"/>
          </p:nvPr>
        </p:nvSpPr>
        <p:spPr>
          <a:xfrm>
            <a:off x="3628263" y="41348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1" name="Google Shape;321;p16"/>
          <p:cNvSpPr txBox="1"/>
          <p:nvPr>
            <p:ph idx="13" type="subTitle"/>
          </p:nvPr>
        </p:nvSpPr>
        <p:spPr>
          <a:xfrm>
            <a:off x="3533613" y="3479251"/>
            <a:ext cx="20706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22" name="Google Shape;322;p16"/>
          <p:cNvSpPr txBox="1"/>
          <p:nvPr>
            <p:ph idx="14" type="ctrTitle"/>
          </p:nvPr>
        </p:nvSpPr>
        <p:spPr>
          <a:xfrm>
            <a:off x="6142624" y="41348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3" name="Google Shape;323;p16"/>
          <p:cNvSpPr txBox="1"/>
          <p:nvPr>
            <p:ph idx="15" type="subTitle"/>
          </p:nvPr>
        </p:nvSpPr>
        <p:spPr>
          <a:xfrm>
            <a:off x="5947924" y="3479251"/>
            <a:ext cx="22707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24" name="Google Shape;324;p16"/>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6"/>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33" name="Shape 333"/>
        <p:cNvGrpSpPr/>
        <p:nvPr/>
      </p:nvGrpSpPr>
      <p:grpSpPr>
        <a:xfrm>
          <a:off x="0" y="0"/>
          <a:ext cx="0" cy="0"/>
          <a:chOff x="0" y="0"/>
          <a:chExt cx="0" cy="0"/>
        </a:xfrm>
      </p:grpSpPr>
      <p:sp>
        <p:nvSpPr>
          <p:cNvPr id="334" name="Google Shape;334;p17"/>
          <p:cNvSpPr txBox="1"/>
          <p:nvPr>
            <p:ph type="ctrTitle"/>
          </p:nvPr>
        </p:nvSpPr>
        <p:spPr>
          <a:xfrm>
            <a:off x="1218541" y="1373195"/>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5" name="Google Shape;335;p17"/>
          <p:cNvSpPr txBox="1"/>
          <p:nvPr>
            <p:ph idx="1" type="subTitle"/>
          </p:nvPr>
        </p:nvSpPr>
        <p:spPr>
          <a:xfrm>
            <a:off x="1218541" y="1865495"/>
            <a:ext cx="18813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36" name="Google Shape;336;p17"/>
          <p:cNvSpPr txBox="1"/>
          <p:nvPr>
            <p:ph idx="2" type="ctrTitle"/>
          </p:nvPr>
        </p:nvSpPr>
        <p:spPr>
          <a:xfrm>
            <a:off x="6054555" y="1373195"/>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7" name="Google Shape;337;p17"/>
          <p:cNvSpPr txBox="1"/>
          <p:nvPr>
            <p:ph idx="3" type="subTitle"/>
          </p:nvPr>
        </p:nvSpPr>
        <p:spPr>
          <a:xfrm>
            <a:off x="6054555" y="1865495"/>
            <a:ext cx="18813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38" name="Google Shape;338;p17"/>
          <p:cNvSpPr txBox="1"/>
          <p:nvPr>
            <p:ph idx="4" type="ctrTitle"/>
          </p:nvPr>
        </p:nvSpPr>
        <p:spPr>
          <a:xfrm>
            <a:off x="1218541" y="2778806"/>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9" name="Google Shape;339;p17"/>
          <p:cNvSpPr txBox="1"/>
          <p:nvPr>
            <p:ph idx="5" type="subTitle"/>
          </p:nvPr>
        </p:nvSpPr>
        <p:spPr>
          <a:xfrm>
            <a:off x="1116841" y="3271106"/>
            <a:ext cx="20847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40" name="Google Shape;340;p17"/>
          <p:cNvSpPr txBox="1"/>
          <p:nvPr>
            <p:ph idx="6" type="ctrTitle"/>
          </p:nvPr>
        </p:nvSpPr>
        <p:spPr>
          <a:xfrm>
            <a:off x="6054555" y="2778806"/>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1" name="Google Shape;341;p17"/>
          <p:cNvSpPr txBox="1"/>
          <p:nvPr>
            <p:ph idx="7" type="subTitle"/>
          </p:nvPr>
        </p:nvSpPr>
        <p:spPr>
          <a:xfrm>
            <a:off x="6054555" y="3271106"/>
            <a:ext cx="18813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42" name="Google Shape;342;p17"/>
          <p:cNvSpPr txBox="1"/>
          <p:nvPr>
            <p:ph idx="8"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343" name="Google Shape;343;p17"/>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7"/>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7"/>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7"/>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53" name="Shape 353"/>
        <p:cNvGrpSpPr/>
        <p:nvPr/>
      </p:nvGrpSpPr>
      <p:grpSpPr>
        <a:xfrm>
          <a:off x="0" y="0"/>
          <a:ext cx="0" cy="0"/>
          <a:chOff x="0" y="0"/>
          <a:chExt cx="0" cy="0"/>
        </a:xfrm>
      </p:grpSpPr>
      <p:sp>
        <p:nvSpPr>
          <p:cNvPr id="354" name="Google Shape;354;p18"/>
          <p:cNvSpPr txBox="1"/>
          <p:nvPr>
            <p:ph type="ctrTitle"/>
          </p:nvPr>
        </p:nvSpPr>
        <p:spPr>
          <a:xfrm>
            <a:off x="915161" y="2299544"/>
            <a:ext cx="1881300" cy="6447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55" name="Google Shape;355;p18"/>
          <p:cNvSpPr txBox="1"/>
          <p:nvPr>
            <p:ph idx="1" type="subTitle"/>
          </p:nvPr>
        </p:nvSpPr>
        <p:spPr>
          <a:xfrm>
            <a:off x="879139" y="1777397"/>
            <a:ext cx="1917300" cy="644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56" name="Google Shape;356;p18"/>
          <p:cNvSpPr txBox="1"/>
          <p:nvPr>
            <p:ph idx="2" type="ctrTitle"/>
          </p:nvPr>
        </p:nvSpPr>
        <p:spPr>
          <a:xfrm>
            <a:off x="6345518" y="2299544"/>
            <a:ext cx="1881300" cy="644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57" name="Google Shape;357;p18"/>
          <p:cNvSpPr txBox="1"/>
          <p:nvPr>
            <p:ph idx="3" type="subTitle"/>
          </p:nvPr>
        </p:nvSpPr>
        <p:spPr>
          <a:xfrm>
            <a:off x="6345518" y="1777397"/>
            <a:ext cx="1881300" cy="64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58" name="Google Shape;358;p18"/>
          <p:cNvSpPr txBox="1"/>
          <p:nvPr>
            <p:ph idx="4" type="ctrTitle"/>
          </p:nvPr>
        </p:nvSpPr>
        <p:spPr>
          <a:xfrm>
            <a:off x="915161" y="2861525"/>
            <a:ext cx="18813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59" name="Google Shape;359;p18"/>
          <p:cNvSpPr txBox="1"/>
          <p:nvPr>
            <p:ph idx="5" type="subTitle"/>
          </p:nvPr>
        </p:nvSpPr>
        <p:spPr>
          <a:xfrm>
            <a:off x="915161" y="3353275"/>
            <a:ext cx="1881300" cy="644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60" name="Google Shape;360;p18"/>
          <p:cNvSpPr txBox="1"/>
          <p:nvPr>
            <p:ph idx="6" type="ctrTitle"/>
          </p:nvPr>
        </p:nvSpPr>
        <p:spPr>
          <a:xfrm>
            <a:off x="6345518" y="2861525"/>
            <a:ext cx="18813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61" name="Google Shape;361;p18"/>
          <p:cNvSpPr txBox="1"/>
          <p:nvPr>
            <p:ph idx="7" type="subTitle"/>
          </p:nvPr>
        </p:nvSpPr>
        <p:spPr>
          <a:xfrm>
            <a:off x="6345518" y="3353275"/>
            <a:ext cx="1656600" cy="64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62" name="Google Shape;362;p18"/>
          <p:cNvSpPr txBox="1"/>
          <p:nvPr>
            <p:ph idx="8"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363" name="Google Shape;363;p18"/>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8"/>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8"/>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73" name="Shape 373"/>
        <p:cNvGrpSpPr/>
        <p:nvPr/>
      </p:nvGrpSpPr>
      <p:grpSpPr>
        <a:xfrm>
          <a:off x="0" y="0"/>
          <a:ext cx="0" cy="0"/>
          <a:chOff x="0" y="0"/>
          <a:chExt cx="0" cy="0"/>
        </a:xfrm>
      </p:grpSpPr>
      <p:sp>
        <p:nvSpPr>
          <p:cNvPr id="374" name="Google Shape;374;p19"/>
          <p:cNvSpPr txBox="1"/>
          <p:nvPr>
            <p:ph type="title"/>
          </p:nvPr>
        </p:nvSpPr>
        <p:spPr>
          <a:xfrm>
            <a:off x="2471150" y="1830075"/>
            <a:ext cx="3823200" cy="1121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7200">
                <a:solidFill>
                  <a:schemeClr val="lt1"/>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75" name="Google Shape;375;p19"/>
          <p:cNvSpPr txBox="1"/>
          <p:nvPr>
            <p:ph idx="1" type="subTitle"/>
          </p:nvPr>
        </p:nvSpPr>
        <p:spPr>
          <a:xfrm>
            <a:off x="2902550" y="540000"/>
            <a:ext cx="2960400" cy="135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76" name="Google Shape;376;p19"/>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300"/>
              </a:spcBef>
              <a:spcAft>
                <a:spcPts val="0"/>
              </a:spcAft>
              <a:buNone/>
            </a:pPr>
            <a:r>
              <a:rPr lang="en" sz="1000">
                <a:solidFill>
                  <a:schemeClr val="lt1"/>
                </a:solidFill>
                <a:latin typeface="Maven Pro"/>
                <a:ea typeface="Maven Pro"/>
                <a:cs typeface="Maven Pro"/>
                <a:sym typeface="Maven Pro"/>
              </a:rPr>
              <a:t>CREDITS: This presentation template was created by </a:t>
            </a:r>
            <a:r>
              <a:rPr lang="en" sz="1000">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lang="en" sz="1000">
                <a:solidFill>
                  <a:schemeClr val="lt1"/>
                </a:solidFill>
                <a:latin typeface="Maven Pro"/>
                <a:ea typeface="Maven Pro"/>
                <a:cs typeface="Maven Pro"/>
                <a:sym typeface="Maven Pro"/>
              </a:rPr>
              <a:t>, including icons by </a:t>
            </a:r>
            <a:r>
              <a:rPr lang="en" sz="1000">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lang="en" sz="1000">
                <a:solidFill>
                  <a:schemeClr val="lt1"/>
                </a:solidFill>
                <a:latin typeface="Maven Pro"/>
                <a:ea typeface="Maven Pro"/>
                <a:cs typeface="Maven Pro"/>
                <a:sym typeface="Maven Pro"/>
              </a:rPr>
              <a:t>, and infographics &amp; images by </a:t>
            </a:r>
            <a:r>
              <a:rPr lang="en" sz="1000">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sz="1000">
              <a:solidFill>
                <a:schemeClr val="accent3"/>
              </a:solidFill>
              <a:latin typeface="Maven Pro"/>
              <a:ea typeface="Maven Pro"/>
              <a:cs typeface="Maven Pro"/>
              <a:sym typeface="Maven Pro"/>
            </a:endParaRPr>
          </a:p>
        </p:txBody>
      </p:sp>
      <p:sp>
        <p:nvSpPr>
          <p:cNvPr id="377" name="Google Shape;377;p19"/>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13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 name="Google Shape;385;p19"/>
          <p:cNvGrpSpPr/>
          <p:nvPr/>
        </p:nvGrpSpPr>
        <p:grpSpPr>
          <a:xfrm>
            <a:off x="6669747" y="-389684"/>
            <a:ext cx="143766" cy="2106420"/>
            <a:chOff x="6780548" y="337714"/>
            <a:chExt cx="133252" cy="1952377"/>
          </a:xfrm>
        </p:grpSpPr>
        <p:sp>
          <p:nvSpPr>
            <p:cNvPr id="386" name="Google Shape;386;p19"/>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 name="Google Shape;388;p19"/>
          <p:cNvGrpSpPr/>
          <p:nvPr/>
        </p:nvGrpSpPr>
        <p:grpSpPr>
          <a:xfrm>
            <a:off x="1510029" y="507749"/>
            <a:ext cx="203534" cy="2663107"/>
            <a:chOff x="250617" y="2402301"/>
            <a:chExt cx="188650" cy="2468354"/>
          </a:xfrm>
        </p:grpSpPr>
        <p:sp>
          <p:nvSpPr>
            <p:cNvPr id="389" name="Google Shape;389;p19"/>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9"/>
          <p:cNvGrpSpPr/>
          <p:nvPr/>
        </p:nvGrpSpPr>
        <p:grpSpPr>
          <a:xfrm>
            <a:off x="385355" y="1380671"/>
            <a:ext cx="199237" cy="2828935"/>
            <a:chOff x="1608717" y="1280046"/>
            <a:chExt cx="199237" cy="2828935"/>
          </a:xfrm>
        </p:grpSpPr>
        <p:sp>
          <p:nvSpPr>
            <p:cNvPr id="394" name="Google Shape;394;p19"/>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 name="Google Shape;397;p19"/>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19"/>
          <p:cNvGrpSpPr/>
          <p:nvPr/>
        </p:nvGrpSpPr>
        <p:grpSpPr>
          <a:xfrm>
            <a:off x="989005" y="-389666"/>
            <a:ext cx="62143" cy="897428"/>
            <a:chOff x="2038689" y="173907"/>
            <a:chExt cx="57599" cy="831799"/>
          </a:xfrm>
        </p:grpSpPr>
        <p:sp>
          <p:nvSpPr>
            <p:cNvPr id="400" name="Google Shape;400;p19"/>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 name="Google Shape;402;p19"/>
          <p:cNvGrpSpPr/>
          <p:nvPr/>
        </p:nvGrpSpPr>
        <p:grpSpPr>
          <a:xfrm>
            <a:off x="8568723" y="2184809"/>
            <a:ext cx="214702" cy="2308597"/>
            <a:chOff x="8008096" y="2108910"/>
            <a:chExt cx="199001" cy="2139769"/>
          </a:xfrm>
        </p:grpSpPr>
        <p:sp>
          <p:nvSpPr>
            <p:cNvPr id="403" name="Google Shape;403;p1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5" name="Google Shape;405;p19"/>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19"/>
          <p:cNvGrpSpPr/>
          <p:nvPr/>
        </p:nvGrpSpPr>
        <p:grpSpPr>
          <a:xfrm>
            <a:off x="8221223" y="9"/>
            <a:ext cx="214702" cy="2308597"/>
            <a:chOff x="8008096" y="2108910"/>
            <a:chExt cx="199001" cy="2139769"/>
          </a:xfrm>
        </p:grpSpPr>
        <p:sp>
          <p:nvSpPr>
            <p:cNvPr id="407" name="Google Shape;407;p1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09" name="Shape 409"/>
        <p:cNvGrpSpPr/>
        <p:nvPr/>
      </p:nvGrpSpPr>
      <p:grpSpPr>
        <a:xfrm>
          <a:off x="0" y="0"/>
          <a:ext cx="0" cy="0"/>
          <a:chOff x="0" y="0"/>
          <a:chExt cx="0" cy="0"/>
        </a:xfrm>
      </p:grpSpPr>
      <p:sp>
        <p:nvSpPr>
          <p:cNvPr id="410" name="Google Shape;410;p20"/>
          <p:cNvSpPr txBox="1"/>
          <p:nvPr>
            <p:ph idx="1" type="body"/>
          </p:nvPr>
        </p:nvSpPr>
        <p:spPr>
          <a:xfrm>
            <a:off x="597375" y="1063525"/>
            <a:ext cx="3908700" cy="37869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SzPts val="1000"/>
              <a:buFont typeface="Livvic Light"/>
              <a:buChar char="●"/>
              <a:defRPr sz="1200"/>
            </a:lvl1pPr>
            <a:lvl2pPr indent="-292100" lvl="1" marL="914400" rtl="0">
              <a:spcBef>
                <a:spcPts val="1600"/>
              </a:spcBef>
              <a:spcAft>
                <a:spcPts val="0"/>
              </a:spcAft>
              <a:buSzPts val="1000"/>
              <a:buFont typeface="Nunito Light"/>
              <a:buChar char="○"/>
              <a:defRPr/>
            </a:lvl2pPr>
            <a:lvl3pPr indent="-292100" lvl="2" marL="1371600" rtl="0">
              <a:spcBef>
                <a:spcPts val="1600"/>
              </a:spcBef>
              <a:spcAft>
                <a:spcPts val="0"/>
              </a:spcAft>
              <a:buSzPts val="1000"/>
              <a:buFont typeface="Nunito Light"/>
              <a:buChar char="■"/>
              <a:defRPr/>
            </a:lvl3pPr>
            <a:lvl4pPr indent="-292100" lvl="3" marL="1828800" rtl="0">
              <a:spcBef>
                <a:spcPts val="1600"/>
              </a:spcBef>
              <a:spcAft>
                <a:spcPts val="0"/>
              </a:spcAft>
              <a:buSzPts val="1000"/>
              <a:buFont typeface="Nunito Light"/>
              <a:buChar char="●"/>
              <a:defRPr/>
            </a:lvl4pPr>
            <a:lvl5pPr indent="-292100" lvl="4" marL="2286000" rtl="0">
              <a:spcBef>
                <a:spcPts val="1600"/>
              </a:spcBef>
              <a:spcAft>
                <a:spcPts val="0"/>
              </a:spcAft>
              <a:buSzPts val="1000"/>
              <a:buFont typeface="Nunito Light"/>
              <a:buChar char="○"/>
              <a:defRPr/>
            </a:lvl5pPr>
            <a:lvl6pPr indent="-292100" lvl="5" marL="2743200" rtl="0">
              <a:spcBef>
                <a:spcPts val="1600"/>
              </a:spcBef>
              <a:spcAft>
                <a:spcPts val="0"/>
              </a:spcAft>
              <a:buSzPts val="1000"/>
              <a:buFont typeface="Nunito Light"/>
              <a:buChar char="■"/>
              <a:defRPr/>
            </a:lvl6pPr>
            <a:lvl7pPr indent="-292100" lvl="6" marL="3200400" rtl="0">
              <a:spcBef>
                <a:spcPts val="1600"/>
              </a:spcBef>
              <a:spcAft>
                <a:spcPts val="0"/>
              </a:spcAft>
              <a:buSzPts val="1000"/>
              <a:buFont typeface="Nunito Light"/>
              <a:buChar char="●"/>
              <a:defRPr/>
            </a:lvl7pPr>
            <a:lvl8pPr indent="-292100" lvl="7" marL="3657600" rtl="0">
              <a:spcBef>
                <a:spcPts val="1600"/>
              </a:spcBef>
              <a:spcAft>
                <a:spcPts val="0"/>
              </a:spcAft>
              <a:buSzPts val="1000"/>
              <a:buFont typeface="Nunito Light"/>
              <a:buChar char="○"/>
              <a:defRPr/>
            </a:lvl8pPr>
            <a:lvl9pPr indent="-292100" lvl="8" marL="4114800" rtl="0">
              <a:spcBef>
                <a:spcPts val="1600"/>
              </a:spcBef>
              <a:spcAft>
                <a:spcPts val="1600"/>
              </a:spcAft>
              <a:buSzPts val="1000"/>
              <a:buFont typeface="Nunito Light"/>
              <a:buChar char="■"/>
              <a:defRPr/>
            </a:lvl9pPr>
          </a:lstStyle>
          <a:p/>
        </p:txBody>
      </p:sp>
      <p:sp>
        <p:nvSpPr>
          <p:cNvPr id="411" name="Google Shape;411;p20"/>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412" name="Google Shape;412;p20"/>
          <p:cNvSpPr txBox="1"/>
          <p:nvPr>
            <p:ph idx="2" type="body"/>
          </p:nvPr>
        </p:nvSpPr>
        <p:spPr>
          <a:xfrm>
            <a:off x="4690125" y="1063525"/>
            <a:ext cx="3908700" cy="37869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Clr>
                <a:srgbClr val="EC5D37"/>
              </a:buClr>
              <a:buSzPts val="1000"/>
              <a:buFont typeface="Livvic Light"/>
              <a:buChar char="●"/>
              <a:defRPr sz="1200"/>
            </a:lvl1pPr>
            <a:lvl2pPr indent="-292100" lvl="1" marL="914400" rtl="0">
              <a:spcBef>
                <a:spcPts val="1600"/>
              </a:spcBef>
              <a:spcAft>
                <a:spcPts val="0"/>
              </a:spcAft>
              <a:buClr>
                <a:srgbClr val="FFC800"/>
              </a:buClr>
              <a:buSzPts val="1000"/>
              <a:buFont typeface="Nunito Light"/>
              <a:buChar char="○"/>
              <a:defRPr/>
            </a:lvl2pPr>
            <a:lvl3pPr indent="-292100" lvl="2" marL="1371600" rtl="0">
              <a:spcBef>
                <a:spcPts val="1600"/>
              </a:spcBef>
              <a:spcAft>
                <a:spcPts val="0"/>
              </a:spcAft>
              <a:buClr>
                <a:srgbClr val="FFC800"/>
              </a:buClr>
              <a:buSzPts val="1000"/>
              <a:buFont typeface="Nunito Light"/>
              <a:buChar char="■"/>
              <a:defRPr/>
            </a:lvl3pPr>
            <a:lvl4pPr indent="-292100" lvl="3" marL="1828800" rtl="0">
              <a:spcBef>
                <a:spcPts val="1600"/>
              </a:spcBef>
              <a:spcAft>
                <a:spcPts val="0"/>
              </a:spcAft>
              <a:buClr>
                <a:srgbClr val="FFC800"/>
              </a:buClr>
              <a:buSzPts val="1000"/>
              <a:buFont typeface="Nunito Light"/>
              <a:buChar char="●"/>
              <a:defRPr/>
            </a:lvl4pPr>
            <a:lvl5pPr indent="-292100" lvl="4" marL="2286000" rtl="0">
              <a:spcBef>
                <a:spcPts val="1600"/>
              </a:spcBef>
              <a:spcAft>
                <a:spcPts val="0"/>
              </a:spcAft>
              <a:buClr>
                <a:srgbClr val="434343"/>
              </a:buClr>
              <a:buSzPts val="1000"/>
              <a:buFont typeface="Nunito Light"/>
              <a:buChar char="○"/>
              <a:defRPr/>
            </a:lvl5pPr>
            <a:lvl6pPr indent="-292100" lvl="5" marL="2743200" rtl="0">
              <a:spcBef>
                <a:spcPts val="1600"/>
              </a:spcBef>
              <a:spcAft>
                <a:spcPts val="0"/>
              </a:spcAft>
              <a:buClr>
                <a:srgbClr val="434343"/>
              </a:buClr>
              <a:buSzPts val="1000"/>
              <a:buFont typeface="Nunito Light"/>
              <a:buChar char="■"/>
              <a:defRPr/>
            </a:lvl6pPr>
            <a:lvl7pPr indent="-292100" lvl="6" marL="3200400" rtl="0">
              <a:spcBef>
                <a:spcPts val="1600"/>
              </a:spcBef>
              <a:spcAft>
                <a:spcPts val="0"/>
              </a:spcAft>
              <a:buClr>
                <a:srgbClr val="434343"/>
              </a:buClr>
              <a:buSzPts val="1000"/>
              <a:buFont typeface="Nunito Light"/>
              <a:buChar char="●"/>
              <a:defRPr/>
            </a:lvl7pPr>
            <a:lvl8pPr indent="-292100" lvl="7" marL="3657600" rtl="0">
              <a:spcBef>
                <a:spcPts val="1600"/>
              </a:spcBef>
              <a:spcAft>
                <a:spcPts val="0"/>
              </a:spcAft>
              <a:buClr>
                <a:srgbClr val="434343"/>
              </a:buClr>
              <a:buSzPts val="1000"/>
              <a:buFont typeface="Nunito Light"/>
              <a:buChar char="○"/>
              <a:defRPr/>
            </a:lvl8pPr>
            <a:lvl9pPr indent="-292100" lvl="8" marL="4114800" rtl="0">
              <a:spcBef>
                <a:spcPts val="1600"/>
              </a:spcBef>
              <a:spcAft>
                <a:spcPts val="1600"/>
              </a:spcAft>
              <a:buClr>
                <a:srgbClr val="434343"/>
              </a:buClr>
              <a:buSzPts val="1000"/>
              <a:buFont typeface="Nunito Light"/>
              <a:buChar char="■"/>
              <a:defRPr/>
            </a:lvl9pPr>
          </a:lstStyle>
          <a:p/>
        </p:txBody>
      </p:sp>
      <p:sp>
        <p:nvSpPr>
          <p:cNvPr id="413" name="Google Shape;413;p20"/>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0"/>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0"/>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24" name="Shape 42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25" name="Shape 42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26" name="Shape 426"/>
        <p:cNvGrpSpPr/>
        <p:nvPr/>
      </p:nvGrpSpPr>
      <p:grpSpPr>
        <a:xfrm>
          <a:off x="0" y="0"/>
          <a:ext cx="0" cy="0"/>
          <a:chOff x="0" y="0"/>
          <a:chExt cx="0" cy="0"/>
        </a:xfrm>
      </p:grpSpPr>
      <p:sp>
        <p:nvSpPr>
          <p:cNvPr id="427" name="Google Shape;427;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8" name="Google Shape;428;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29" name="Google Shape;429;p2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indent="-317500" lvl="1" marL="9144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indent="-317500" lvl="2" marL="13716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indent="-317500" lvl="3" marL="18288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indent="-317500" lvl="4" marL="22860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indent="-317500" lvl="5" marL="27432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indent="-317500" lvl="6" marL="32004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indent="-317500" lvl="7" marL="36576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indent="-317500" lvl="8" marL="41148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hyperlink" Target="https://drive.google.com/file/d/1MbF_YOMUAs7PD2Yzo-MUxxEwNcRNNJSo/view?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hyperlink" Target="https://mettl.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mailto:2019prithvi.kumar@ves.ac.in" TargetMode="External"/><Relationship Id="rId4" Type="http://schemas.openxmlformats.org/officeDocument/2006/relationships/hyperlink" Target="mailto:2019guruakaash.janthalur@ves.ac.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4"/>
          <p:cNvSpPr txBox="1"/>
          <p:nvPr>
            <p:ph type="ctrTitle"/>
          </p:nvPr>
        </p:nvSpPr>
        <p:spPr>
          <a:xfrm>
            <a:off x="1561650" y="751888"/>
            <a:ext cx="60207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7500"/>
              <a:t>Forcepoint LLC</a:t>
            </a:r>
            <a:endParaRPr sz="7500"/>
          </a:p>
        </p:txBody>
      </p:sp>
      <p:sp>
        <p:nvSpPr>
          <p:cNvPr id="435" name="Google Shape;435;p24"/>
          <p:cNvSpPr txBox="1"/>
          <p:nvPr>
            <p:ph idx="1" type="subTitle"/>
          </p:nvPr>
        </p:nvSpPr>
        <p:spPr>
          <a:xfrm>
            <a:off x="671250" y="3174874"/>
            <a:ext cx="7801500" cy="139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Placement Interview Experience by</a:t>
            </a:r>
            <a:endParaRPr/>
          </a:p>
          <a:p>
            <a:pPr indent="0" lvl="0" marL="0" rtl="0" algn="ctr">
              <a:spcBef>
                <a:spcPts val="0"/>
              </a:spcBef>
              <a:spcAft>
                <a:spcPts val="0"/>
              </a:spcAft>
              <a:buNone/>
            </a:pPr>
            <a:r>
              <a:rPr lang="en"/>
              <a:t>J N Guru Akaash D17A</a:t>
            </a:r>
            <a:endParaRPr/>
          </a:p>
          <a:p>
            <a:pPr indent="0" lvl="0" marL="0" rtl="0" algn="ctr">
              <a:spcBef>
                <a:spcPts val="0"/>
              </a:spcBef>
              <a:spcAft>
                <a:spcPts val="0"/>
              </a:spcAft>
              <a:buNone/>
            </a:pPr>
            <a:r>
              <a:rPr lang="en"/>
              <a:t>Prithvi Kumar D17A</a:t>
            </a:r>
            <a:endParaRPr/>
          </a:p>
          <a:p>
            <a:pPr indent="0" lvl="0" marL="0" rtl="0" algn="ctr">
              <a:spcBef>
                <a:spcPts val="0"/>
              </a:spcBef>
              <a:spcAft>
                <a:spcPts val="0"/>
              </a:spcAft>
              <a:buNone/>
            </a:pPr>
            <a:r>
              <a:rPr lang="en"/>
              <a:t>Jay Deshmukh D17C</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Computer Engineering Department, 2023 Batch</a:t>
            </a:r>
            <a:endParaRPr/>
          </a:p>
        </p:txBody>
      </p:sp>
      <p:pic>
        <p:nvPicPr>
          <p:cNvPr id="436" name="Google Shape;436;p24"/>
          <p:cNvPicPr preferRelativeResize="0"/>
          <p:nvPr/>
        </p:nvPicPr>
        <p:blipFill rotWithShape="1">
          <a:blip r:embed="rId3">
            <a:alphaModFix/>
          </a:blip>
          <a:srcRect b="0" l="0" r="0" t="0"/>
          <a:stretch/>
        </p:blipFill>
        <p:spPr>
          <a:xfrm>
            <a:off x="7584350" y="504475"/>
            <a:ext cx="587375" cy="948350"/>
          </a:xfrm>
          <a:prstGeom prst="rect">
            <a:avLst/>
          </a:prstGeom>
          <a:noFill/>
          <a:ln>
            <a:noFill/>
          </a:ln>
        </p:spPr>
      </p:pic>
      <p:sp>
        <p:nvSpPr>
          <p:cNvPr id="437" name="Google Shape;437;p24"/>
          <p:cNvSpPr txBox="1"/>
          <p:nvPr/>
        </p:nvSpPr>
        <p:spPr>
          <a:xfrm>
            <a:off x="2029650" y="455300"/>
            <a:ext cx="50847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FFFF"/>
                </a:solidFill>
                <a:latin typeface="Montserrat"/>
                <a:ea typeface="Montserrat"/>
                <a:cs typeface="Montserrat"/>
                <a:sym typeface="Montserrat"/>
              </a:rPr>
              <a:t>VIVEKANAND EDUCATION SOCIETY INSTITUTE OF TECHNOLOGY (MUMBAI UNIVERSITY)</a:t>
            </a:r>
            <a:endParaRPr b="1">
              <a:solidFill>
                <a:srgbClr val="FFFFFF"/>
              </a:solidFill>
              <a:latin typeface="Montserrat"/>
              <a:ea typeface="Montserrat"/>
              <a:cs typeface="Montserrat"/>
              <a:sym typeface="Montserrat"/>
            </a:endParaRPr>
          </a:p>
          <a:p>
            <a:pPr indent="0" lvl="0" marL="0" rtl="0" algn="ctr">
              <a:spcBef>
                <a:spcPts val="0"/>
              </a:spcBef>
              <a:spcAft>
                <a:spcPts val="0"/>
              </a:spcAft>
              <a:buNone/>
            </a:pPr>
            <a:r>
              <a:rPr lang="en">
                <a:solidFill>
                  <a:srgbClr val="FFFFFF"/>
                </a:solidFill>
                <a:latin typeface="Montserrat"/>
                <a:ea typeface="Montserrat"/>
                <a:cs typeface="Montserrat"/>
                <a:sym typeface="Montserrat"/>
              </a:rPr>
              <a:t>Department of Computer Engineering</a:t>
            </a:r>
            <a:endParaRPr>
              <a:solidFill>
                <a:srgbClr val="FFFFFF"/>
              </a:solidFill>
              <a:latin typeface="Montserrat"/>
              <a:ea typeface="Montserrat"/>
              <a:cs typeface="Montserrat"/>
              <a:sym typeface="Montserrat"/>
            </a:endParaRPr>
          </a:p>
          <a:p>
            <a:pPr indent="0" lvl="0" marL="0" rtl="0" algn="l">
              <a:spcBef>
                <a:spcPts val="0"/>
              </a:spcBef>
              <a:spcAft>
                <a:spcPts val="0"/>
              </a:spcAft>
              <a:buNone/>
            </a:pPr>
            <a:r>
              <a:t/>
            </a:r>
            <a:endParaRPr b="1">
              <a:solidFill>
                <a:srgbClr val="FFFFFF"/>
              </a:solidFill>
              <a:latin typeface="Montserrat"/>
              <a:ea typeface="Montserrat"/>
              <a:cs typeface="Montserrat"/>
              <a:sym typeface="Montserrat"/>
            </a:endParaRPr>
          </a:p>
        </p:txBody>
      </p:sp>
      <p:pic>
        <p:nvPicPr>
          <p:cNvPr id="438" name="Google Shape;438;p24"/>
          <p:cNvPicPr preferRelativeResize="0"/>
          <p:nvPr/>
        </p:nvPicPr>
        <p:blipFill>
          <a:blip r:embed="rId4">
            <a:alphaModFix/>
          </a:blip>
          <a:stretch>
            <a:fillRect/>
          </a:stretch>
        </p:blipFill>
        <p:spPr>
          <a:xfrm>
            <a:off x="512974" y="504474"/>
            <a:ext cx="1046683" cy="1046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The Company</a:t>
            </a:r>
            <a:endParaRPr/>
          </a:p>
        </p:txBody>
      </p:sp>
      <p:sp>
        <p:nvSpPr>
          <p:cNvPr id="444" name="Google Shape;444;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Forcepoint is </a:t>
            </a:r>
            <a:r>
              <a:rPr lang="en" sz="1200"/>
              <a:t>the </a:t>
            </a:r>
            <a:r>
              <a:rPr lang="en" sz="1200"/>
              <a:t>leading user and data security cybersecurity company, entrusted to safeguard organizations while driving digital transformation and growth. </a:t>
            </a:r>
            <a:endParaRPr sz="1200"/>
          </a:p>
          <a:p>
            <a:pPr indent="-304800" lvl="0" marL="457200" rtl="0" algn="l">
              <a:spcBef>
                <a:spcPts val="1600"/>
              </a:spcBef>
              <a:spcAft>
                <a:spcPts val="0"/>
              </a:spcAft>
              <a:buSzPts val="1200"/>
              <a:buChar char="●"/>
            </a:pPr>
            <a:r>
              <a:rPr lang="en" sz="1200"/>
              <a:t>Headquartered in Texas, US, Forcepoint employs 2,750 cybersecurity experts spread across 150 countries. In India, we have our offices in Bangalore, Chennai, Mumbai and Pune.</a:t>
            </a:r>
            <a:endParaRPr sz="1200"/>
          </a:p>
          <a:p>
            <a:pPr indent="-304800" lvl="0" marL="457200" rtl="0" algn="l">
              <a:spcBef>
                <a:spcPts val="1600"/>
              </a:spcBef>
              <a:spcAft>
                <a:spcPts val="0"/>
              </a:spcAft>
              <a:buSzPts val="1200"/>
              <a:buChar char="●"/>
            </a:pPr>
            <a:r>
              <a:rPr lang="en" sz="1200"/>
              <a:t>Technology stack includes Golang, Angular, Javascript, Cloud AWS, Docker, Microservices, C++, Kubernetes, Node JS etc.</a:t>
            </a:r>
            <a:endParaRPr sz="1200"/>
          </a:p>
          <a:p>
            <a:pPr indent="-304800" lvl="0" marL="457200" rtl="0" algn="l">
              <a:spcBef>
                <a:spcPts val="1600"/>
              </a:spcBef>
              <a:spcAft>
                <a:spcPts val="0"/>
              </a:spcAft>
              <a:buSzPts val="1200"/>
              <a:buChar char="●"/>
            </a:pPr>
            <a:r>
              <a:rPr lang="en" sz="1200"/>
              <a:t>Protecting thousands of leading companies worldwide such as IBM, Toyota, Microsoft, Qualcomm, Boeing, Walmart, CVS Pharmacy etc.</a:t>
            </a:r>
            <a:endParaRPr sz="1200"/>
          </a:p>
          <a:p>
            <a:pPr indent="-304800" lvl="0" marL="457200" rtl="0" algn="l">
              <a:spcBef>
                <a:spcPts val="1600"/>
              </a:spcBef>
              <a:spcAft>
                <a:spcPts val="0"/>
              </a:spcAft>
              <a:buSzPts val="1200"/>
              <a:buChar char="●"/>
            </a:pPr>
            <a:r>
              <a:rPr lang="en" sz="1200"/>
              <a:t>The company’s 6 values are as follows :- </a:t>
            </a:r>
            <a:endParaRPr sz="1200"/>
          </a:p>
          <a:p>
            <a:pPr indent="0" lvl="0" marL="457200" rtl="0" algn="l">
              <a:spcBef>
                <a:spcPts val="1600"/>
              </a:spcBef>
              <a:spcAft>
                <a:spcPts val="0"/>
              </a:spcAft>
              <a:buNone/>
            </a:pPr>
            <a:r>
              <a:rPr lang="en">
                <a:highlight>
                  <a:srgbClr val="1155CC"/>
                </a:highlight>
              </a:rPr>
              <a:t>Attentive  </a:t>
            </a:r>
            <a:r>
              <a:rPr lang="en">
                <a:solidFill>
                  <a:schemeClr val="dk2"/>
                </a:solidFill>
                <a:highlight>
                  <a:srgbClr val="F9CB9C"/>
                </a:highlight>
              </a:rPr>
              <a:t>Optimistic </a:t>
            </a:r>
            <a:r>
              <a:rPr lang="en">
                <a:highlight>
                  <a:srgbClr val="134F5C"/>
                </a:highlight>
              </a:rPr>
              <a:t>Committed  </a:t>
            </a:r>
            <a:r>
              <a:rPr lang="en">
                <a:solidFill>
                  <a:schemeClr val="dk2"/>
                </a:solidFill>
                <a:highlight>
                  <a:srgbClr val="D5A6BD"/>
                </a:highlight>
              </a:rPr>
              <a:t> Imaginative  </a:t>
            </a:r>
            <a:r>
              <a:rPr lang="en">
                <a:highlight>
                  <a:srgbClr val="351C75"/>
                </a:highlight>
              </a:rPr>
              <a:t>Trustworthy  </a:t>
            </a:r>
            <a:r>
              <a:rPr lang="en">
                <a:solidFill>
                  <a:schemeClr val="dk2"/>
                </a:solidFill>
                <a:highlight>
                  <a:srgbClr val="EA9999"/>
                </a:highlight>
              </a:rPr>
              <a:t>Human Centric</a:t>
            </a:r>
            <a:endParaRPr>
              <a:solidFill>
                <a:schemeClr val="dk2"/>
              </a:solidFill>
              <a:highlight>
                <a:srgbClr val="EA9999"/>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Placement Drive Company Details</a:t>
            </a:r>
            <a:endParaRPr/>
          </a:p>
        </p:txBody>
      </p:sp>
      <p:sp>
        <p:nvSpPr>
          <p:cNvPr id="450" name="Google Shape;450;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1" marL="457200" rtl="0" algn="l">
              <a:spcBef>
                <a:spcPts val="0"/>
              </a:spcBef>
              <a:spcAft>
                <a:spcPts val="0"/>
              </a:spcAft>
              <a:buClr>
                <a:srgbClr val="B7B7B7"/>
              </a:buClr>
              <a:buSzPts val="1400"/>
              <a:buAutoNum type="alphaLcPeriod"/>
            </a:pPr>
            <a:r>
              <a:rPr lang="en">
                <a:solidFill>
                  <a:srgbClr val="B7B7B7"/>
                </a:solidFill>
              </a:rPr>
              <a:t>Name of the Company: Forcepoint LLC</a:t>
            </a:r>
            <a:endParaRPr>
              <a:solidFill>
                <a:srgbClr val="B7B7B7"/>
              </a:solidFill>
            </a:endParaRPr>
          </a:p>
          <a:p>
            <a:pPr indent="-317500" lvl="1" marL="457200" rtl="0" algn="l">
              <a:spcBef>
                <a:spcPts val="0"/>
              </a:spcBef>
              <a:spcAft>
                <a:spcPts val="0"/>
              </a:spcAft>
              <a:buClr>
                <a:srgbClr val="B7B7B7"/>
              </a:buClr>
              <a:buSzPts val="1400"/>
              <a:buAutoNum type="alphaLcPeriod"/>
            </a:pPr>
            <a:r>
              <a:rPr lang="en">
                <a:solidFill>
                  <a:srgbClr val="B7B7B7"/>
                </a:solidFill>
              </a:rPr>
              <a:t>Company Status: Dream</a:t>
            </a:r>
            <a:endParaRPr>
              <a:solidFill>
                <a:srgbClr val="B7B7B7"/>
              </a:solidFill>
            </a:endParaRPr>
          </a:p>
          <a:p>
            <a:pPr indent="-317500" lvl="1" marL="457200" rtl="0" algn="l">
              <a:spcBef>
                <a:spcPts val="0"/>
              </a:spcBef>
              <a:spcAft>
                <a:spcPts val="0"/>
              </a:spcAft>
              <a:buClr>
                <a:srgbClr val="B7B7B7"/>
              </a:buClr>
              <a:buSzPts val="1400"/>
              <a:buAutoNum type="alphaLcPeriod"/>
            </a:pPr>
            <a:r>
              <a:rPr lang="en">
                <a:solidFill>
                  <a:srgbClr val="B7B7B7"/>
                </a:solidFill>
              </a:rPr>
              <a:t>Date of drive: 1st August and 3rd August</a:t>
            </a:r>
            <a:endParaRPr>
              <a:solidFill>
                <a:srgbClr val="B7B7B7"/>
              </a:solidFill>
            </a:endParaRPr>
          </a:p>
          <a:p>
            <a:pPr indent="-317500" lvl="1" marL="457200" rtl="0" algn="l">
              <a:spcBef>
                <a:spcPts val="0"/>
              </a:spcBef>
              <a:spcAft>
                <a:spcPts val="0"/>
              </a:spcAft>
              <a:buClr>
                <a:srgbClr val="B7B7B7"/>
              </a:buClr>
              <a:buSzPts val="1400"/>
              <a:buAutoNum type="alphaLcPeriod"/>
            </a:pPr>
            <a:r>
              <a:rPr lang="en">
                <a:solidFill>
                  <a:srgbClr val="B7B7B7"/>
                </a:solidFill>
              </a:rPr>
              <a:t>Branches</a:t>
            </a:r>
            <a:r>
              <a:rPr lang="en">
                <a:solidFill>
                  <a:srgbClr val="B7B7B7"/>
                </a:solidFill>
              </a:rPr>
              <a:t> Eligible: BE (CMPN and INFT)</a:t>
            </a:r>
            <a:endParaRPr>
              <a:solidFill>
                <a:srgbClr val="B7B7B7"/>
              </a:solidFill>
            </a:endParaRPr>
          </a:p>
          <a:p>
            <a:pPr indent="-317500" lvl="1" marL="457200" rtl="0" algn="l">
              <a:spcBef>
                <a:spcPts val="0"/>
              </a:spcBef>
              <a:spcAft>
                <a:spcPts val="0"/>
              </a:spcAft>
              <a:buClr>
                <a:srgbClr val="B7B7B7"/>
              </a:buClr>
              <a:buSzPts val="1400"/>
              <a:buAutoNum type="alphaLcPeriod"/>
            </a:pPr>
            <a:r>
              <a:rPr lang="en">
                <a:solidFill>
                  <a:srgbClr val="B7B7B7"/>
                </a:solidFill>
              </a:rPr>
              <a:t>Salary offered: 14.5 lpa CTC</a:t>
            </a:r>
            <a:endParaRPr>
              <a:solidFill>
                <a:srgbClr val="B7B7B7"/>
              </a:solidFill>
            </a:endParaRPr>
          </a:p>
          <a:p>
            <a:pPr indent="-317500" lvl="1" marL="457200" rtl="0" algn="l">
              <a:spcBef>
                <a:spcPts val="0"/>
              </a:spcBef>
              <a:spcAft>
                <a:spcPts val="0"/>
              </a:spcAft>
              <a:buClr>
                <a:srgbClr val="B7B7B7"/>
              </a:buClr>
              <a:buSzPts val="1400"/>
              <a:buAutoNum type="alphaLcPeriod"/>
            </a:pPr>
            <a:r>
              <a:rPr lang="en">
                <a:solidFill>
                  <a:srgbClr val="B7B7B7"/>
                </a:solidFill>
              </a:rPr>
              <a:t>Role: Developer ( </a:t>
            </a:r>
            <a:r>
              <a:rPr lang="en" u="sng">
                <a:solidFill>
                  <a:schemeClr val="hlink"/>
                </a:solidFill>
                <a:hlinkClick r:id="rId3"/>
              </a:rPr>
              <a:t>Job Descriptions</a:t>
            </a:r>
            <a:r>
              <a:rPr lang="en">
                <a:solidFill>
                  <a:srgbClr val="B7B7B7"/>
                </a:solidFill>
              </a:rPr>
              <a:t> )</a:t>
            </a:r>
            <a:endParaRPr>
              <a:solidFill>
                <a:srgbClr val="B7B7B7"/>
              </a:solidFill>
            </a:endParaRPr>
          </a:p>
          <a:p>
            <a:pPr indent="-317500" lvl="1" marL="457200" rtl="0" algn="l">
              <a:spcBef>
                <a:spcPts val="0"/>
              </a:spcBef>
              <a:spcAft>
                <a:spcPts val="0"/>
              </a:spcAft>
              <a:buClr>
                <a:srgbClr val="B7B7B7"/>
              </a:buClr>
              <a:buSzPts val="1400"/>
              <a:buAutoNum type="alphaLcPeriod"/>
            </a:pPr>
            <a:r>
              <a:rPr lang="en">
                <a:solidFill>
                  <a:srgbClr val="B7B7B7"/>
                </a:solidFill>
              </a:rPr>
              <a:t>Eligibility Criteria</a:t>
            </a:r>
            <a:endParaRPr>
              <a:solidFill>
                <a:srgbClr val="B7B7B7"/>
              </a:solidFill>
            </a:endParaRPr>
          </a:p>
          <a:p>
            <a:pPr indent="-317500" lvl="2" marL="1371600" rtl="0" algn="l">
              <a:spcBef>
                <a:spcPts val="0"/>
              </a:spcBef>
              <a:spcAft>
                <a:spcPts val="0"/>
              </a:spcAft>
              <a:buClr>
                <a:srgbClr val="B7B7B7"/>
              </a:buClr>
              <a:buSzPts val="1400"/>
              <a:buAutoNum type="romanLcPeriod"/>
            </a:pPr>
            <a:r>
              <a:rPr lang="en">
                <a:solidFill>
                  <a:srgbClr val="B7B7B7"/>
                </a:solidFill>
              </a:rPr>
              <a:t>BE (CMPN and INFT)</a:t>
            </a:r>
            <a:endParaRPr>
              <a:solidFill>
                <a:srgbClr val="B7B7B7"/>
              </a:solidFill>
            </a:endParaRPr>
          </a:p>
          <a:p>
            <a:pPr indent="-317500" lvl="2" marL="1371600" rtl="0" algn="l">
              <a:spcBef>
                <a:spcPts val="0"/>
              </a:spcBef>
              <a:spcAft>
                <a:spcPts val="0"/>
              </a:spcAft>
              <a:buClr>
                <a:srgbClr val="B7B7B7"/>
              </a:buClr>
              <a:buSzPts val="1400"/>
              <a:buAutoNum type="romanLcPeriod"/>
            </a:pPr>
            <a:r>
              <a:rPr lang="en">
                <a:solidFill>
                  <a:srgbClr val="B7B7B7"/>
                </a:solidFill>
              </a:rPr>
              <a:t>Aggregate CGPA above 9</a:t>
            </a:r>
            <a:endParaRPr>
              <a:solidFill>
                <a:srgbClr val="B7B7B7"/>
              </a:solidFill>
            </a:endParaRPr>
          </a:p>
          <a:p>
            <a:pPr indent="-317500" lvl="2" marL="1371600" rtl="0" algn="l">
              <a:spcBef>
                <a:spcPts val="0"/>
              </a:spcBef>
              <a:spcAft>
                <a:spcPts val="0"/>
              </a:spcAft>
              <a:buClr>
                <a:srgbClr val="B7B7B7"/>
              </a:buClr>
              <a:buSzPts val="1400"/>
              <a:buAutoNum type="romanLcPeriod"/>
            </a:pPr>
            <a:r>
              <a:rPr lang="en">
                <a:solidFill>
                  <a:srgbClr val="B7B7B7"/>
                </a:solidFill>
              </a:rPr>
              <a:t>Min 85% in 12th/diploma</a:t>
            </a:r>
            <a:endParaRPr>
              <a:solidFill>
                <a:srgbClr val="B7B7B7"/>
              </a:solidFill>
            </a:endParaRPr>
          </a:p>
          <a:p>
            <a:pPr indent="-317500" lvl="2" marL="1371600" rtl="0" algn="l">
              <a:spcBef>
                <a:spcPts val="0"/>
              </a:spcBef>
              <a:spcAft>
                <a:spcPts val="0"/>
              </a:spcAft>
              <a:buClr>
                <a:srgbClr val="B7B7B7"/>
              </a:buClr>
              <a:buSzPts val="1400"/>
              <a:buAutoNum type="romanLcPeriod"/>
            </a:pPr>
            <a:r>
              <a:rPr lang="en">
                <a:solidFill>
                  <a:srgbClr val="B7B7B7"/>
                </a:solidFill>
              </a:rPr>
              <a:t>Min 90% in 10th</a:t>
            </a:r>
            <a:endParaRPr>
              <a:solidFill>
                <a:srgbClr val="B7B7B7"/>
              </a:solidFill>
            </a:endParaRPr>
          </a:p>
          <a:p>
            <a:pPr indent="-317500" lvl="2" marL="1371600" rtl="0" algn="l">
              <a:spcBef>
                <a:spcPts val="0"/>
              </a:spcBef>
              <a:spcAft>
                <a:spcPts val="0"/>
              </a:spcAft>
              <a:buClr>
                <a:srgbClr val="B7B7B7"/>
              </a:buClr>
              <a:buSzPts val="1400"/>
              <a:buAutoNum type="romanLcPeriod"/>
            </a:pPr>
            <a:r>
              <a:rPr lang="en">
                <a:solidFill>
                  <a:srgbClr val="B7B7B7"/>
                </a:solidFill>
              </a:rPr>
              <a:t>No Live KT</a:t>
            </a:r>
            <a:endParaRPr>
              <a:solidFill>
                <a:srgbClr val="B7B7B7"/>
              </a:solidFill>
            </a:endParaRPr>
          </a:p>
          <a:p>
            <a:pPr indent="-317500" lvl="2" marL="1371600" rtl="0" algn="l">
              <a:spcBef>
                <a:spcPts val="0"/>
              </a:spcBef>
              <a:spcAft>
                <a:spcPts val="0"/>
              </a:spcAft>
              <a:buClr>
                <a:srgbClr val="B7B7B7"/>
              </a:buClr>
              <a:buSzPts val="1400"/>
              <a:buAutoNum type="romanLcPeriod"/>
            </a:pPr>
            <a:r>
              <a:rPr lang="en">
                <a:solidFill>
                  <a:srgbClr val="B7B7B7"/>
                </a:solidFill>
              </a:rPr>
              <a:t>Around (29 - 31) students were eligible for further Forcepoint Placement Drive Processes.</a:t>
            </a:r>
            <a:endParaRPr>
              <a:solidFill>
                <a:srgbClr val="B7B7B7"/>
              </a:solidFill>
            </a:endParaRPr>
          </a:p>
          <a:p>
            <a:pPr indent="0" lvl="0" marL="0" rtl="0" algn="l">
              <a:spcBef>
                <a:spcPts val="0"/>
              </a:spcBef>
              <a:spcAft>
                <a:spcPts val="1600"/>
              </a:spcAft>
              <a:buNone/>
            </a:pPr>
            <a:r>
              <a:t/>
            </a:r>
            <a:endParaRPr sz="1400">
              <a:solidFill>
                <a:srgbClr val="B7B7B7"/>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and Aptitude Test</a:t>
            </a:r>
            <a:endParaRPr/>
          </a:p>
        </p:txBody>
      </p:sp>
      <p:sp>
        <p:nvSpPr>
          <p:cNvPr id="456" name="Google Shape;456;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B7B7B7"/>
              </a:buClr>
              <a:buSzPts val="1200"/>
              <a:buFont typeface="Arial"/>
              <a:buAutoNum type="arabicPeriod"/>
            </a:pPr>
            <a:r>
              <a:rPr lang="en" sz="1200">
                <a:solidFill>
                  <a:srgbClr val="B7B7B7"/>
                </a:solidFill>
                <a:latin typeface="Arial"/>
                <a:ea typeface="Arial"/>
                <a:cs typeface="Arial"/>
                <a:sym typeface="Arial"/>
              </a:rPr>
              <a:t>The Aptitude Test was conducted on Mettl </a:t>
            </a:r>
            <a:r>
              <a:rPr lang="en" sz="1200">
                <a:solidFill>
                  <a:srgbClr val="B7B7B7"/>
                </a:solidFill>
                <a:highlight>
                  <a:srgbClr val="D0E0E3"/>
                </a:highlight>
                <a:latin typeface="Arial"/>
                <a:ea typeface="Arial"/>
                <a:cs typeface="Arial"/>
                <a:sym typeface="Arial"/>
              </a:rPr>
              <a:t>(</a:t>
            </a:r>
            <a:r>
              <a:rPr lang="en" sz="1200" u="sng">
                <a:solidFill>
                  <a:schemeClr val="dk2"/>
                </a:solidFill>
                <a:highlight>
                  <a:srgbClr val="D0E0E3"/>
                </a:highlight>
                <a:latin typeface="Roboto"/>
                <a:ea typeface="Roboto"/>
                <a:cs typeface="Roboto"/>
                <a:sym typeface="Roboto"/>
                <a:hlinkClick r:id="rId3">
                  <a:extLst>
                    <a:ext uri="{A12FA001-AC4F-418D-AE19-62706E023703}">
                      <ahyp:hlinkClr val="tx"/>
                    </a:ext>
                  </a:extLst>
                </a:hlinkClick>
              </a:rPr>
              <a:t>https://mettl.com</a:t>
            </a:r>
            <a:r>
              <a:rPr lang="en" sz="1200">
                <a:solidFill>
                  <a:srgbClr val="B7B7B7"/>
                </a:solidFill>
                <a:highlight>
                  <a:srgbClr val="D0E0E3"/>
                </a:highlight>
                <a:latin typeface="Arial"/>
                <a:ea typeface="Arial"/>
                <a:cs typeface="Arial"/>
                <a:sym typeface="Arial"/>
              </a:rPr>
              <a:t>)</a:t>
            </a:r>
            <a:endParaRPr sz="1200">
              <a:solidFill>
                <a:srgbClr val="B7B7B7"/>
              </a:solidFill>
              <a:highlight>
                <a:srgbClr val="D0E0E3"/>
              </a:highlight>
              <a:latin typeface="Arial"/>
              <a:ea typeface="Arial"/>
              <a:cs typeface="Arial"/>
              <a:sym typeface="Arial"/>
            </a:endParaRPr>
          </a:p>
          <a:p>
            <a:pPr indent="-304800" lvl="0" marL="457200" rtl="0" algn="l">
              <a:spcBef>
                <a:spcPts val="0"/>
              </a:spcBef>
              <a:spcAft>
                <a:spcPts val="0"/>
              </a:spcAft>
              <a:buClr>
                <a:srgbClr val="B7B7B7"/>
              </a:buClr>
              <a:buSzPts val="1200"/>
              <a:buFont typeface="Arial"/>
              <a:buAutoNum type="arabicPeriod"/>
            </a:pPr>
            <a:r>
              <a:rPr lang="en" sz="1200">
                <a:solidFill>
                  <a:srgbClr val="B7B7B7"/>
                </a:solidFill>
                <a:latin typeface="Arial"/>
                <a:ea typeface="Arial"/>
                <a:cs typeface="Arial"/>
                <a:sym typeface="Arial"/>
              </a:rPr>
              <a:t>The test was divided into 5 sections namely</a:t>
            </a:r>
            <a:endParaRPr sz="1200">
              <a:solidFill>
                <a:srgbClr val="B7B7B7"/>
              </a:solidFill>
              <a:latin typeface="Arial"/>
              <a:ea typeface="Arial"/>
              <a:cs typeface="Arial"/>
              <a:sym typeface="Arial"/>
            </a:endParaRPr>
          </a:p>
          <a:p>
            <a:pPr indent="-304800" lvl="1" marL="914400" rtl="0" algn="l">
              <a:spcBef>
                <a:spcPts val="0"/>
              </a:spcBef>
              <a:spcAft>
                <a:spcPts val="0"/>
              </a:spcAft>
              <a:buClr>
                <a:srgbClr val="B7B7B7"/>
              </a:buClr>
              <a:buSzPts val="1200"/>
              <a:buFont typeface="Arial"/>
              <a:buAutoNum type="alphaLcPeriod"/>
            </a:pPr>
            <a:r>
              <a:rPr lang="en" sz="1200">
                <a:solidFill>
                  <a:srgbClr val="B7B7B7"/>
                </a:solidFill>
                <a:latin typeface="Arial"/>
                <a:ea typeface="Arial"/>
                <a:cs typeface="Arial"/>
                <a:sym typeface="Arial"/>
              </a:rPr>
              <a:t>Logical Reasoning (5 questions)</a:t>
            </a:r>
            <a:endParaRPr sz="1200">
              <a:solidFill>
                <a:srgbClr val="B7B7B7"/>
              </a:solidFill>
              <a:latin typeface="Arial"/>
              <a:ea typeface="Arial"/>
              <a:cs typeface="Arial"/>
              <a:sym typeface="Arial"/>
            </a:endParaRPr>
          </a:p>
          <a:p>
            <a:pPr indent="-304800" lvl="1" marL="914400" rtl="0" algn="l">
              <a:spcBef>
                <a:spcPts val="0"/>
              </a:spcBef>
              <a:spcAft>
                <a:spcPts val="0"/>
              </a:spcAft>
              <a:buClr>
                <a:srgbClr val="B7B7B7"/>
              </a:buClr>
              <a:buSzPts val="1200"/>
              <a:buFont typeface="Arial"/>
              <a:buAutoNum type="alphaLcPeriod"/>
            </a:pPr>
            <a:r>
              <a:rPr lang="en" sz="1200">
                <a:solidFill>
                  <a:srgbClr val="B7B7B7"/>
                </a:solidFill>
                <a:latin typeface="Arial"/>
                <a:ea typeface="Arial"/>
                <a:cs typeface="Arial"/>
                <a:sym typeface="Arial"/>
              </a:rPr>
              <a:t>Verbal Ability (5 questions)</a:t>
            </a:r>
            <a:endParaRPr sz="1200">
              <a:solidFill>
                <a:srgbClr val="B7B7B7"/>
              </a:solidFill>
              <a:latin typeface="Arial"/>
              <a:ea typeface="Arial"/>
              <a:cs typeface="Arial"/>
              <a:sym typeface="Arial"/>
            </a:endParaRPr>
          </a:p>
          <a:p>
            <a:pPr indent="-304800" lvl="1" marL="914400" rtl="0" algn="l">
              <a:spcBef>
                <a:spcPts val="0"/>
              </a:spcBef>
              <a:spcAft>
                <a:spcPts val="0"/>
              </a:spcAft>
              <a:buClr>
                <a:srgbClr val="B7B7B7"/>
              </a:buClr>
              <a:buSzPts val="1200"/>
              <a:buFont typeface="Arial"/>
              <a:buAutoNum type="alphaLcPeriod"/>
            </a:pPr>
            <a:r>
              <a:rPr lang="en" sz="1200">
                <a:solidFill>
                  <a:srgbClr val="B7B7B7"/>
                </a:solidFill>
                <a:latin typeface="Arial"/>
                <a:ea typeface="Arial"/>
                <a:cs typeface="Arial"/>
                <a:sym typeface="Arial"/>
              </a:rPr>
              <a:t>Quantitative Analysis (5 questions)</a:t>
            </a:r>
            <a:endParaRPr sz="1200">
              <a:solidFill>
                <a:srgbClr val="B7B7B7"/>
              </a:solidFill>
              <a:latin typeface="Arial"/>
              <a:ea typeface="Arial"/>
              <a:cs typeface="Arial"/>
              <a:sym typeface="Arial"/>
            </a:endParaRPr>
          </a:p>
          <a:p>
            <a:pPr indent="-304800" lvl="1" marL="914400" rtl="0" algn="l">
              <a:spcBef>
                <a:spcPts val="0"/>
              </a:spcBef>
              <a:spcAft>
                <a:spcPts val="0"/>
              </a:spcAft>
              <a:buClr>
                <a:srgbClr val="B7B7B7"/>
              </a:buClr>
              <a:buSzPts val="1200"/>
              <a:buFont typeface="Arial"/>
              <a:buAutoNum type="alphaLcPeriod"/>
            </a:pPr>
            <a:r>
              <a:rPr lang="en" sz="1200">
                <a:solidFill>
                  <a:srgbClr val="B7B7B7"/>
                </a:solidFill>
                <a:latin typeface="Arial"/>
                <a:ea typeface="Arial"/>
                <a:cs typeface="Arial"/>
                <a:sym typeface="Arial"/>
              </a:rPr>
              <a:t>Data Analytics and Graph Analysis (5 questions)</a:t>
            </a:r>
            <a:endParaRPr sz="1200">
              <a:solidFill>
                <a:srgbClr val="B7B7B7"/>
              </a:solidFill>
              <a:latin typeface="Arial"/>
              <a:ea typeface="Arial"/>
              <a:cs typeface="Arial"/>
              <a:sym typeface="Arial"/>
            </a:endParaRPr>
          </a:p>
          <a:p>
            <a:pPr indent="-304800" lvl="1" marL="914400" rtl="0" algn="l">
              <a:spcBef>
                <a:spcPts val="0"/>
              </a:spcBef>
              <a:spcAft>
                <a:spcPts val="0"/>
              </a:spcAft>
              <a:buClr>
                <a:srgbClr val="B7B7B7"/>
              </a:buClr>
              <a:buSzPts val="1200"/>
              <a:buFont typeface="Arial"/>
              <a:buAutoNum type="alphaLcPeriod"/>
            </a:pPr>
            <a:r>
              <a:rPr lang="en" sz="1200">
                <a:solidFill>
                  <a:srgbClr val="B7B7B7"/>
                </a:solidFill>
                <a:latin typeface="Arial"/>
                <a:ea typeface="Arial"/>
                <a:cs typeface="Arial"/>
                <a:sym typeface="Arial"/>
              </a:rPr>
              <a:t>Technical Skills (16 questions)</a:t>
            </a:r>
            <a:endParaRPr sz="1200">
              <a:solidFill>
                <a:srgbClr val="B7B7B7"/>
              </a:solidFill>
              <a:latin typeface="Arial"/>
              <a:ea typeface="Arial"/>
              <a:cs typeface="Arial"/>
              <a:sym typeface="Arial"/>
            </a:endParaRPr>
          </a:p>
          <a:p>
            <a:pPr indent="-304800" lvl="0" marL="457200" rtl="0" algn="l">
              <a:spcBef>
                <a:spcPts val="0"/>
              </a:spcBef>
              <a:spcAft>
                <a:spcPts val="0"/>
              </a:spcAft>
              <a:buClr>
                <a:srgbClr val="B7B7B7"/>
              </a:buClr>
              <a:buSzPts val="1200"/>
              <a:buFont typeface="Arial"/>
              <a:buAutoNum type="arabicPeriod"/>
            </a:pPr>
            <a:r>
              <a:rPr lang="en" sz="1200">
                <a:solidFill>
                  <a:srgbClr val="B7B7B7"/>
                </a:solidFill>
                <a:latin typeface="Arial"/>
                <a:ea typeface="Arial"/>
                <a:cs typeface="Arial"/>
                <a:sym typeface="Arial"/>
              </a:rPr>
              <a:t>This test had a total of 36 questions and each section had its own time deadline(time limit) i.e. each section needed to be completed within the given timeline.</a:t>
            </a:r>
            <a:endParaRPr sz="1200">
              <a:solidFill>
                <a:srgbClr val="B7B7B7"/>
              </a:solidFill>
              <a:latin typeface="Arial"/>
              <a:ea typeface="Arial"/>
              <a:cs typeface="Arial"/>
              <a:sym typeface="Arial"/>
            </a:endParaRPr>
          </a:p>
          <a:p>
            <a:pPr indent="-304800" lvl="0" marL="457200" rtl="0" algn="l">
              <a:spcBef>
                <a:spcPts val="0"/>
              </a:spcBef>
              <a:spcAft>
                <a:spcPts val="0"/>
              </a:spcAft>
              <a:buClr>
                <a:srgbClr val="B7B7B7"/>
              </a:buClr>
              <a:buSzPts val="1200"/>
              <a:buFont typeface="Arial"/>
              <a:buAutoNum type="arabicPeriod"/>
            </a:pPr>
            <a:r>
              <a:rPr lang="en" sz="1200">
                <a:solidFill>
                  <a:srgbClr val="B7B7B7"/>
                </a:solidFill>
                <a:latin typeface="Arial"/>
                <a:ea typeface="Arial"/>
                <a:cs typeface="Arial"/>
                <a:sym typeface="Arial"/>
              </a:rPr>
              <a:t>Camera, Mic and Screen Share would be ON throughout the test.</a:t>
            </a:r>
            <a:endParaRPr sz="1200">
              <a:solidFill>
                <a:srgbClr val="B7B7B7"/>
              </a:solidFill>
              <a:latin typeface="Arial"/>
              <a:ea typeface="Arial"/>
              <a:cs typeface="Arial"/>
              <a:sym typeface="Arial"/>
            </a:endParaRPr>
          </a:p>
          <a:p>
            <a:pPr indent="-304800" lvl="0" marL="457200" rtl="0" algn="l">
              <a:spcBef>
                <a:spcPts val="0"/>
              </a:spcBef>
              <a:spcAft>
                <a:spcPts val="0"/>
              </a:spcAft>
              <a:buClr>
                <a:srgbClr val="B7B7B7"/>
              </a:buClr>
              <a:buSzPts val="1200"/>
              <a:buFont typeface="Arial"/>
              <a:buAutoNum type="arabicPeriod"/>
            </a:pPr>
            <a:r>
              <a:rPr lang="en" sz="1200">
                <a:solidFill>
                  <a:srgbClr val="B7B7B7"/>
                </a:solidFill>
                <a:latin typeface="Arial"/>
                <a:ea typeface="Arial"/>
                <a:cs typeface="Arial"/>
                <a:sym typeface="Arial"/>
              </a:rPr>
              <a:t>Only 13 students were selected from this round.</a:t>
            </a:r>
            <a:endParaRPr>
              <a:solidFill>
                <a:srgbClr val="B7B7B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28"/>
          <p:cNvSpPr txBox="1"/>
          <p:nvPr>
            <p:ph type="ctrTitle"/>
          </p:nvPr>
        </p:nvSpPr>
        <p:spPr>
          <a:xfrm>
            <a:off x="1561650" y="751888"/>
            <a:ext cx="60207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 N Guru Akaash</a:t>
            </a:r>
            <a:endParaRPr/>
          </a:p>
        </p:txBody>
      </p:sp>
      <p:sp>
        <p:nvSpPr>
          <p:cNvPr id="462" name="Google Shape;462;p28"/>
          <p:cNvSpPr txBox="1"/>
          <p:nvPr>
            <p:ph idx="1" type="subTitle"/>
          </p:nvPr>
        </p:nvSpPr>
        <p:spPr>
          <a:xfrm>
            <a:off x="2924250" y="2804488"/>
            <a:ext cx="3295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Forcepoint Experience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Interview - 1</a:t>
            </a:r>
            <a:endParaRPr/>
          </a:p>
        </p:txBody>
      </p:sp>
      <p:sp>
        <p:nvSpPr>
          <p:cNvPr id="468" name="Google Shape;468;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1150" lvl="1" marL="914400" rtl="0" algn="l">
              <a:spcBef>
                <a:spcPts val="0"/>
              </a:spcBef>
              <a:spcAft>
                <a:spcPts val="0"/>
              </a:spcAft>
              <a:buSzPts val="1300"/>
              <a:buAutoNum type="alphaLcPeriod"/>
            </a:pPr>
            <a:r>
              <a:rPr lang="en" sz="1300"/>
              <a:t>This first round of Interview started with one of the most famous questions “Tell me something about yourself”.</a:t>
            </a:r>
            <a:endParaRPr sz="1300"/>
          </a:p>
          <a:p>
            <a:pPr indent="-311150" lvl="1" marL="914400" rtl="0" algn="l">
              <a:spcBef>
                <a:spcPts val="0"/>
              </a:spcBef>
              <a:spcAft>
                <a:spcPts val="0"/>
              </a:spcAft>
              <a:buSzPts val="1300"/>
              <a:buAutoNum type="alphaLcPeriod"/>
            </a:pPr>
            <a:r>
              <a:rPr lang="en" sz="1300"/>
              <a:t>Then they asked me about the projects which I had done and the technology stack which I had used in my Projects.</a:t>
            </a:r>
            <a:endParaRPr sz="1300"/>
          </a:p>
          <a:p>
            <a:pPr indent="-311150" lvl="1" marL="914400" rtl="0" algn="l">
              <a:spcBef>
                <a:spcPts val="0"/>
              </a:spcBef>
              <a:spcAft>
                <a:spcPts val="0"/>
              </a:spcAft>
              <a:buSzPts val="1300"/>
              <a:buAutoNum type="alphaLcPeriod"/>
            </a:pPr>
            <a:r>
              <a:rPr lang="en" sz="1300"/>
              <a:t>Then they asked me about the Internship which I had done and what technology stack you used.</a:t>
            </a:r>
            <a:endParaRPr sz="1300"/>
          </a:p>
          <a:p>
            <a:pPr indent="-311150" lvl="1" marL="914400" rtl="0" algn="l">
              <a:spcBef>
                <a:spcPts val="0"/>
              </a:spcBef>
              <a:spcAft>
                <a:spcPts val="0"/>
              </a:spcAft>
              <a:buSzPts val="1300"/>
              <a:buAutoNum type="alphaLcPeriod"/>
            </a:pPr>
            <a:r>
              <a:rPr lang="en" sz="1300"/>
              <a:t>Then they asked me about OOPS Concepts, some of them which I remember are listed below:</a:t>
            </a:r>
            <a:endParaRPr sz="1300"/>
          </a:p>
          <a:p>
            <a:pPr indent="-311150" lvl="1" marL="914400" rtl="0" algn="l">
              <a:spcBef>
                <a:spcPts val="0"/>
              </a:spcBef>
              <a:spcAft>
                <a:spcPts val="0"/>
              </a:spcAft>
              <a:buSzPts val="1300"/>
              <a:buAutoNum type="alphaLcPeriod"/>
            </a:pPr>
            <a:r>
              <a:rPr lang="en" sz="1300"/>
              <a:t>Technical Questions (DSA) were asked.</a:t>
            </a:r>
            <a:endParaRPr sz="1300"/>
          </a:p>
          <a:p>
            <a:pPr indent="-311150" lvl="1" marL="914400" rtl="0" algn="l">
              <a:spcBef>
                <a:spcPts val="0"/>
              </a:spcBef>
              <a:spcAft>
                <a:spcPts val="0"/>
              </a:spcAft>
              <a:buSzPts val="1300"/>
              <a:buAutoNum type="alphaLcPeriod"/>
            </a:pPr>
            <a:r>
              <a:rPr lang="en" sz="1300"/>
              <a:t>Technical Questions on (Core CS topics) which were asked.</a:t>
            </a:r>
            <a:endParaRPr sz="1300"/>
          </a:p>
          <a:p>
            <a:pPr indent="-311150" lvl="1" marL="914400" rtl="0" algn="l">
              <a:spcBef>
                <a:spcPts val="0"/>
              </a:spcBef>
              <a:spcAft>
                <a:spcPts val="0"/>
              </a:spcAft>
              <a:buSzPts val="1300"/>
              <a:buAutoNum type="alphaLcPeriod"/>
            </a:pPr>
            <a:r>
              <a:rPr lang="en" sz="1300"/>
              <a:t>One Coding question was asked to me, I was also asked to share the screen and write the code in either notepad or vscode. The coding question was based on String Manipulation and at the end I was also asked about the time and space complexity analysis about the program written.</a:t>
            </a:r>
            <a:endParaRPr sz="1300"/>
          </a:p>
          <a:p>
            <a:pPr indent="-311150" lvl="1" marL="914400" rtl="0" algn="l">
              <a:spcBef>
                <a:spcPts val="0"/>
              </a:spcBef>
              <a:spcAft>
                <a:spcPts val="0"/>
              </a:spcAft>
              <a:buSzPts val="1300"/>
              <a:buAutoNum type="alphaLcPeriod"/>
            </a:pPr>
            <a:r>
              <a:rPr lang="en" sz="1300"/>
              <a:t>Finally the last question was based on a Puzzle.</a:t>
            </a:r>
            <a:endParaRPr sz="1300"/>
          </a:p>
          <a:p>
            <a:pPr indent="-311150" lvl="1" marL="914400" rtl="0" algn="l">
              <a:spcBef>
                <a:spcPts val="0"/>
              </a:spcBef>
              <a:spcAft>
                <a:spcPts val="0"/>
              </a:spcAft>
              <a:buSzPts val="1300"/>
              <a:buAutoNum type="alphaLcPeriod"/>
            </a:pPr>
            <a:r>
              <a:rPr lang="en" sz="1300"/>
              <a:t>8 people were selected from this round.</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Interview - 2</a:t>
            </a:r>
            <a:endParaRPr/>
          </a:p>
        </p:txBody>
      </p:sp>
      <p:sp>
        <p:nvSpPr>
          <p:cNvPr id="474" name="Google Shape;474;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1150" lvl="1" marL="914400" rtl="0" algn="l">
              <a:spcBef>
                <a:spcPts val="0"/>
              </a:spcBef>
              <a:spcAft>
                <a:spcPts val="0"/>
              </a:spcAft>
              <a:buSzPts val="1300"/>
              <a:buAutoNum type="alphaLcPeriod"/>
            </a:pPr>
            <a:r>
              <a:rPr lang="en" sz="1300"/>
              <a:t>A brief Introduction about myself.</a:t>
            </a:r>
            <a:endParaRPr sz="1300"/>
          </a:p>
          <a:p>
            <a:pPr indent="-311150" lvl="1" marL="914400" rtl="0" algn="l">
              <a:spcBef>
                <a:spcPts val="0"/>
              </a:spcBef>
              <a:spcAft>
                <a:spcPts val="0"/>
              </a:spcAft>
              <a:buSzPts val="1300"/>
              <a:buAutoNum type="alphaLcPeriod"/>
            </a:pPr>
            <a:r>
              <a:rPr lang="en" sz="1300"/>
              <a:t>A brief introduction about the projects I have worked upon.</a:t>
            </a:r>
            <a:endParaRPr sz="1300"/>
          </a:p>
          <a:p>
            <a:pPr indent="-311150" lvl="1" marL="914400" rtl="0" algn="l">
              <a:spcBef>
                <a:spcPts val="0"/>
              </a:spcBef>
              <a:spcAft>
                <a:spcPts val="0"/>
              </a:spcAft>
              <a:buSzPts val="1300"/>
              <a:buAutoNum type="alphaLcPeriod"/>
            </a:pPr>
            <a:r>
              <a:rPr lang="en" sz="1300"/>
              <a:t>A brief introduction about the Internship which I had done.</a:t>
            </a:r>
            <a:endParaRPr sz="1300"/>
          </a:p>
          <a:p>
            <a:pPr indent="-311150" lvl="1" marL="914400" rtl="0" algn="l">
              <a:spcBef>
                <a:spcPts val="0"/>
              </a:spcBef>
              <a:spcAft>
                <a:spcPts val="0"/>
              </a:spcAft>
              <a:buSzPts val="1300"/>
              <a:buAutoNum type="alphaLcPeriod"/>
            </a:pPr>
            <a:r>
              <a:rPr lang="en" sz="1300"/>
              <a:t>Asked about The technology stack used in the Project and why you choose this technology only, and why not any other similar technologies.</a:t>
            </a:r>
            <a:endParaRPr sz="1300"/>
          </a:p>
          <a:p>
            <a:pPr indent="-311150" lvl="1" marL="914400" rtl="0" algn="l">
              <a:spcBef>
                <a:spcPts val="0"/>
              </a:spcBef>
              <a:spcAft>
                <a:spcPts val="0"/>
              </a:spcAft>
              <a:buSzPts val="1300"/>
              <a:buAutoNum type="alphaLcPeriod"/>
            </a:pPr>
            <a:r>
              <a:rPr lang="en" sz="1300"/>
              <a:t>Asked about The technology stack used in the Internship and why you choose this technology stack only, and why not any other similar technologies.</a:t>
            </a:r>
            <a:endParaRPr sz="1300"/>
          </a:p>
          <a:p>
            <a:pPr indent="-311150" lvl="1" marL="914400" rtl="0" algn="l">
              <a:spcBef>
                <a:spcPts val="0"/>
              </a:spcBef>
              <a:spcAft>
                <a:spcPts val="0"/>
              </a:spcAft>
              <a:buSzPts val="1300"/>
              <a:buAutoNum type="alphaLcPeriod"/>
            </a:pPr>
            <a:r>
              <a:rPr lang="en" sz="1300"/>
              <a:t>Explain the internal working of various ML Algorithms which I implemented in my TE Project. How I implemented the different regression algorithms and classification algorithms.</a:t>
            </a:r>
            <a:endParaRPr sz="1300"/>
          </a:p>
          <a:p>
            <a:pPr indent="-311150" lvl="1" marL="914400" rtl="0" algn="l">
              <a:spcBef>
                <a:spcPts val="0"/>
              </a:spcBef>
              <a:spcAft>
                <a:spcPts val="0"/>
              </a:spcAft>
              <a:buSzPts val="1300"/>
              <a:buAutoNum type="alphaLcPeriod"/>
            </a:pPr>
            <a:r>
              <a:rPr lang="en" sz="1300"/>
              <a:t>What were the different Microsoft Azure services utilized in my TE Project and what was their need and final output?</a:t>
            </a:r>
            <a:endParaRPr sz="1300"/>
          </a:p>
          <a:p>
            <a:pPr indent="-311150" lvl="1" marL="914400" rtl="0" algn="l">
              <a:spcBef>
                <a:spcPts val="0"/>
              </a:spcBef>
              <a:spcAft>
                <a:spcPts val="0"/>
              </a:spcAft>
              <a:buSzPts val="1300"/>
              <a:buAutoNum type="alphaLcPeriod"/>
            </a:pPr>
            <a:r>
              <a:rPr lang="en" sz="1300"/>
              <a:t>Why did you choose Forcepoint Company and what made you feel like applying to Forcepoint Company?</a:t>
            </a:r>
            <a:endParaRPr sz="1300"/>
          </a:p>
          <a:p>
            <a:pPr indent="0" lvl="0" marL="0" rtl="0" algn="l">
              <a:spcBef>
                <a:spcPts val="0"/>
              </a:spcBef>
              <a:spcAft>
                <a:spcPts val="1600"/>
              </a:spcAft>
              <a:buNone/>
            </a:pPr>
            <a:r>
              <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Interview - 2 Contd..</a:t>
            </a:r>
            <a:endParaRPr/>
          </a:p>
        </p:txBody>
      </p:sp>
      <p:sp>
        <p:nvSpPr>
          <p:cNvPr id="480" name="Google Shape;480;p31"/>
          <p:cNvSpPr txBox="1"/>
          <p:nvPr>
            <p:ph idx="1" type="body"/>
          </p:nvPr>
        </p:nvSpPr>
        <p:spPr>
          <a:xfrm>
            <a:off x="311700" y="1152475"/>
            <a:ext cx="8520600" cy="3765900"/>
          </a:xfrm>
          <a:prstGeom prst="rect">
            <a:avLst/>
          </a:prstGeom>
        </p:spPr>
        <p:txBody>
          <a:bodyPr anchorCtr="0" anchor="t" bIns="91425" lIns="91425" spcFirstLastPara="1" rIns="91425" wrap="square" tIns="91425">
            <a:noAutofit/>
          </a:bodyPr>
          <a:lstStyle/>
          <a:p>
            <a:pPr indent="-311150" lvl="1" marL="914400" rtl="0" algn="l">
              <a:spcBef>
                <a:spcPts val="0"/>
              </a:spcBef>
              <a:spcAft>
                <a:spcPts val="0"/>
              </a:spcAft>
              <a:buSzPts val="1300"/>
              <a:buAutoNum type="alphaLcPeriod"/>
            </a:pPr>
            <a:r>
              <a:rPr lang="en" sz="1300"/>
              <a:t>Client Server Architecture</a:t>
            </a:r>
            <a:endParaRPr sz="1300"/>
          </a:p>
          <a:p>
            <a:pPr indent="-311150" lvl="2" marL="1371600" rtl="0" algn="l">
              <a:spcBef>
                <a:spcPts val="0"/>
              </a:spcBef>
              <a:spcAft>
                <a:spcPts val="0"/>
              </a:spcAft>
              <a:buSzPts val="1300"/>
              <a:buAutoNum type="romanLcPeriod"/>
            </a:pPr>
            <a:r>
              <a:rPr lang="en" sz="1300"/>
              <a:t>How data is transferred between the client and the server.</a:t>
            </a:r>
            <a:endParaRPr sz="1300"/>
          </a:p>
          <a:p>
            <a:pPr indent="-311150" lvl="2" marL="1371600" rtl="0" algn="l">
              <a:spcBef>
                <a:spcPts val="0"/>
              </a:spcBef>
              <a:spcAft>
                <a:spcPts val="0"/>
              </a:spcAft>
              <a:buSzPts val="1300"/>
              <a:buAutoNum type="romanLcPeriod"/>
            </a:pPr>
            <a:r>
              <a:rPr lang="en" sz="1300"/>
              <a:t>How did you encrypt the data while transferring data between the client and the server in your internship and which algorithm you used for encryption and decryption of data.</a:t>
            </a:r>
            <a:endParaRPr sz="1300"/>
          </a:p>
          <a:p>
            <a:pPr indent="-311150" lvl="2" marL="1371600" rtl="0" algn="l">
              <a:spcBef>
                <a:spcPts val="0"/>
              </a:spcBef>
              <a:spcAft>
                <a:spcPts val="0"/>
              </a:spcAft>
              <a:buSzPts val="1300"/>
              <a:buAutoNum type="romanLcPeriod"/>
            </a:pPr>
            <a:r>
              <a:rPr lang="en" sz="1300"/>
              <a:t>How will you store the passwords and other confidential information in the database? About Hashing and Salting techniques.</a:t>
            </a:r>
            <a:endParaRPr sz="1300"/>
          </a:p>
          <a:p>
            <a:pPr indent="-311150" lvl="2" marL="1371600" rtl="0" algn="l">
              <a:spcBef>
                <a:spcPts val="0"/>
              </a:spcBef>
              <a:spcAft>
                <a:spcPts val="0"/>
              </a:spcAft>
              <a:buSzPts val="1300"/>
              <a:buAutoNum type="romanLcPeriod"/>
            </a:pPr>
            <a:r>
              <a:rPr lang="en" sz="1300"/>
              <a:t>RESTful API</a:t>
            </a:r>
            <a:endParaRPr sz="1300"/>
          </a:p>
          <a:p>
            <a:pPr indent="-311150" lvl="2" marL="1371600" rtl="0" algn="l">
              <a:spcBef>
                <a:spcPts val="0"/>
              </a:spcBef>
              <a:spcAft>
                <a:spcPts val="0"/>
              </a:spcAft>
              <a:buSzPts val="1300"/>
              <a:buAutoNum type="romanLcPeriod"/>
            </a:pPr>
            <a:r>
              <a:rPr lang="en" sz="1300"/>
              <a:t>Google OAuth Authentication process and Local Authentication Process.</a:t>
            </a:r>
            <a:endParaRPr sz="1300"/>
          </a:p>
          <a:p>
            <a:pPr indent="-311150" lvl="2" marL="1371600" rtl="0" algn="l">
              <a:spcBef>
                <a:spcPts val="0"/>
              </a:spcBef>
              <a:spcAft>
                <a:spcPts val="0"/>
              </a:spcAft>
              <a:buSzPts val="1300"/>
              <a:buAutoNum type="romanLcPeriod"/>
            </a:pPr>
            <a:r>
              <a:rPr lang="en" sz="1300"/>
              <a:t>How are requests sent by the client to the server and different types of routes for data transfer.</a:t>
            </a:r>
            <a:endParaRPr sz="1300"/>
          </a:p>
          <a:p>
            <a:pPr indent="-311150" lvl="2" marL="1371600" rtl="0" algn="l">
              <a:spcBef>
                <a:spcPts val="0"/>
              </a:spcBef>
              <a:spcAft>
                <a:spcPts val="0"/>
              </a:spcAft>
              <a:buSzPts val="1300"/>
              <a:buAutoNum type="romanLcPeriod"/>
            </a:pPr>
            <a:r>
              <a:rPr lang="en" sz="1300"/>
              <a:t>CRUD Operations on the database.</a:t>
            </a:r>
            <a:endParaRPr sz="1300"/>
          </a:p>
          <a:p>
            <a:pPr indent="-311150" lvl="2" marL="1371600" rtl="0" algn="l">
              <a:spcBef>
                <a:spcPts val="0"/>
              </a:spcBef>
              <a:spcAft>
                <a:spcPts val="0"/>
              </a:spcAft>
              <a:buSzPts val="1300"/>
              <a:buAutoNum type="romanLcPeriod"/>
            </a:pPr>
            <a:r>
              <a:rPr lang="en" sz="1300"/>
              <a:t>Transfer of data in JSON format.</a:t>
            </a:r>
            <a:endParaRPr sz="1300"/>
          </a:p>
          <a:p>
            <a:pPr indent="0" lvl="0" marL="0" rtl="0" algn="l">
              <a:spcBef>
                <a:spcPts val="0"/>
              </a:spcBef>
              <a:spcAft>
                <a:spcPts val="0"/>
              </a:spcAft>
              <a:buNone/>
            </a:pPr>
            <a:r>
              <a:t/>
            </a:r>
            <a:endParaRPr sz="1300"/>
          </a:p>
          <a:p>
            <a:pPr indent="0" lvl="0" marL="0" rtl="0" algn="l">
              <a:spcBef>
                <a:spcPts val="0"/>
              </a:spcBef>
              <a:spcAft>
                <a:spcPts val="1600"/>
              </a:spcAft>
              <a:buNone/>
            </a:pPr>
            <a:r>
              <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Interview - 2 Contd..</a:t>
            </a:r>
            <a:endParaRPr/>
          </a:p>
        </p:txBody>
      </p:sp>
      <p:sp>
        <p:nvSpPr>
          <p:cNvPr id="486" name="Google Shape;486;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1150" lvl="1" marL="914400" rtl="0" algn="l">
              <a:spcBef>
                <a:spcPts val="0"/>
              </a:spcBef>
              <a:spcAft>
                <a:spcPts val="0"/>
              </a:spcAft>
              <a:buSzPts val="1300"/>
              <a:buAutoNum type="alphaLcPeriod"/>
            </a:pPr>
            <a:r>
              <a:rPr lang="en" sz="1300"/>
              <a:t>What is the flow of the user on your website which you created in your internship.</a:t>
            </a:r>
            <a:endParaRPr sz="1300"/>
          </a:p>
          <a:p>
            <a:pPr indent="-311150" lvl="1" marL="914400" rtl="0" algn="l">
              <a:spcBef>
                <a:spcPts val="0"/>
              </a:spcBef>
              <a:spcAft>
                <a:spcPts val="0"/>
              </a:spcAft>
              <a:buSzPts val="1300"/>
              <a:buAutoNum type="alphaLcPeriod"/>
            </a:pPr>
            <a:r>
              <a:rPr lang="en" sz="1300"/>
              <a:t>DIfferent error codes and their meanings which are generated in error cases, for example: 200 status ok, 404, 401 etc.</a:t>
            </a:r>
            <a:endParaRPr sz="1300"/>
          </a:p>
          <a:p>
            <a:pPr indent="-311150" lvl="1" marL="914400" rtl="0" algn="l">
              <a:spcBef>
                <a:spcPts val="0"/>
              </a:spcBef>
              <a:spcAft>
                <a:spcPts val="0"/>
              </a:spcAft>
              <a:buSzPts val="1300"/>
              <a:buAutoNum type="alphaLcPeriod"/>
            </a:pPr>
            <a:r>
              <a:rPr lang="en" sz="1300"/>
              <a:t>Difference between http and https protocol.</a:t>
            </a:r>
            <a:endParaRPr sz="1300"/>
          </a:p>
          <a:p>
            <a:pPr indent="-311150" lvl="1" marL="914400" rtl="0" algn="l">
              <a:spcBef>
                <a:spcPts val="0"/>
              </a:spcBef>
              <a:spcAft>
                <a:spcPts val="0"/>
              </a:spcAft>
              <a:buSzPts val="1300"/>
              <a:buAutoNum type="alphaLcPeriod"/>
            </a:pPr>
            <a:r>
              <a:rPr lang="en" sz="1300"/>
              <a:t>(Counter question) What is SSL protocol?</a:t>
            </a:r>
            <a:endParaRPr sz="1300"/>
          </a:p>
          <a:p>
            <a:pPr indent="-311150" lvl="1" marL="914400" rtl="0" algn="l">
              <a:spcBef>
                <a:spcPts val="0"/>
              </a:spcBef>
              <a:spcAft>
                <a:spcPts val="0"/>
              </a:spcAft>
              <a:buSzPts val="1300"/>
              <a:buAutoNum type="alphaLcPeriod"/>
            </a:pPr>
            <a:r>
              <a:rPr lang="en" sz="1300"/>
              <a:t>4 people were selected from this round.</a:t>
            </a:r>
            <a:endParaRPr sz="1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HR Round</a:t>
            </a:r>
            <a:endParaRPr/>
          </a:p>
        </p:txBody>
      </p:sp>
      <p:sp>
        <p:nvSpPr>
          <p:cNvPr id="492" name="Google Shape;492;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1150" lvl="1" marL="914400" rtl="0" algn="l">
              <a:spcBef>
                <a:spcPts val="0"/>
              </a:spcBef>
              <a:spcAft>
                <a:spcPts val="0"/>
              </a:spcAft>
              <a:buSzPts val="1300"/>
              <a:buFont typeface="Arial"/>
              <a:buAutoNum type="alphaLcPeriod"/>
            </a:pPr>
            <a:r>
              <a:rPr lang="en" sz="1300">
                <a:latin typeface="Arial"/>
                <a:ea typeface="Arial"/>
                <a:cs typeface="Arial"/>
                <a:sym typeface="Arial"/>
              </a:rPr>
              <a:t>This was basically a professional communication test round, basically they check your life skills, your speaking and thinking skills.</a:t>
            </a:r>
            <a:endParaRPr sz="1300">
              <a:latin typeface="Arial"/>
              <a:ea typeface="Arial"/>
              <a:cs typeface="Arial"/>
              <a:sym typeface="Arial"/>
            </a:endParaRPr>
          </a:p>
          <a:p>
            <a:pPr indent="-311150" lvl="1" marL="914400" rtl="0" algn="l">
              <a:spcBef>
                <a:spcPts val="0"/>
              </a:spcBef>
              <a:spcAft>
                <a:spcPts val="0"/>
              </a:spcAft>
              <a:buSzPts val="1300"/>
              <a:buFont typeface="Arial"/>
              <a:buAutoNum type="alphaLcPeriod"/>
            </a:pPr>
            <a:r>
              <a:rPr lang="en" sz="1300">
                <a:latin typeface="Arial"/>
                <a:ea typeface="Arial"/>
                <a:cs typeface="Arial"/>
                <a:sym typeface="Arial"/>
              </a:rPr>
              <a:t>They also check how and what type of questions you ask and how professionally you answer the asked questions.</a:t>
            </a:r>
            <a:endParaRPr sz="1300">
              <a:latin typeface="Arial"/>
              <a:ea typeface="Arial"/>
              <a:cs typeface="Arial"/>
              <a:sym typeface="Arial"/>
            </a:endParaRPr>
          </a:p>
          <a:p>
            <a:pPr indent="-311150" lvl="1" marL="914400" rtl="0" algn="l">
              <a:spcBef>
                <a:spcPts val="0"/>
              </a:spcBef>
              <a:spcAft>
                <a:spcPts val="0"/>
              </a:spcAft>
              <a:buSzPts val="1300"/>
              <a:buFont typeface="Arial"/>
              <a:buAutoNum type="alphaLcPeriod"/>
            </a:pPr>
            <a:r>
              <a:rPr lang="en" sz="1300">
                <a:latin typeface="Arial"/>
                <a:ea typeface="Arial"/>
                <a:cs typeface="Arial"/>
                <a:sym typeface="Arial"/>
              </a:rPr>
              <a:t>The HR asked me about my Hobbies and what I do in my leisure time.</a:t>
            </a:r>
            <a:endParaRPr sz="1300">
              <a:latin typeface="Arial"/>
              <a:ea typeface="Arial"/>
              <a:cs typeface="Arial"/>
              <a:sym typeface="Arial"/>
            </a:endParaRPr>
          </a:p>
          <a:p>
            <a:pPr indent="-311150" lvl="1" marL="914400" rtl="0" algn="l">
              <a:spcBef>
                <a:spcPts val="0"/>
              </a:spcBef>
              <a:spcAft>
                <a:spcPts val="0"/>
              </a:spcAft>
              <a:buSzPts val="1300"/>
              <a:buFont typeface="Arial"/>
              <a:buAutoNum type="alphaLcPeriod"/>
            </a:pPr>
            <a:r>
              <a:rPr lang="en" sz="1300">
                <a:latin typeface="Arial"/>
                <a:ea typeface="Arial"/>
                <a:cs typeface="Arial"/>
                <a:sym typeface="Arial"/>
              </a:rPr>
              <a:t>Since I said I play keyboard (Synthesizer) and the HR also had interest in Music and played Musical Instruments so we both talked about Music.</a:t>
            </a:r>
            <a:endParaRPr sz="1300">
              <a:latin typeface="Arial"/>
              <a:ea typeface="Arial"/>
              <a:cs typeface="Arial"/>
              <a:sym typeface="Arial"/>
            </a:endParaRPr>
          </a:p>
          <a:p>
            <a:pPr indent="-311150" lvl="1" marL="914400" rtl="0" algn="l">
              <a:spcBef>
                <a:spcPts val="0"/>
              </a:spcBef>
              <a:spcAft>
                <a:spcPts val="0"/>
              </a:spcAft>
              <a:buSzPts val="1300"/>
              <a:buFont typeface="Arial"/>
              <a:buAutoNum type="alphaLcPeriod"/>
            </a:pPr>
            <a:r>
              <a:rPr lang="en" sz="1300">
                <a:latin typeface="Arial"/>
                <a:ea typeface="Arial"/>
                <a:cs typeface="Arial"/>
                <a:sym typeface="Arial"/>
              </a:rPr>
              <a:t>Then I asked them about the Company, their products and their work culture.</a:t>
            </a:r>
            <a:endParaRPr sz="1300">
              <a:latin typeface="Arial"/>
              <a:ea typeface="Arial"/>
              <a:cs typeface="Arial"/>
              <a:sym typeface="Arial"/>
            </a:endParaRPr>
          </a:p>
          <a:p>
            <a:pPr indent="-311150" lvl="1" marL="914400" rtl="0" algn="l">
              <a:spcBef>
                <a:spcPts val="0"/>
              </a:spcBef>
              <a:spcAft>
                <a:spcPts val="0"/>
              </a:spcAft>
              <a:buSzPts val="1300"/>
              <a:buFont typeface="Arial"/>
              <a:buAutoNum type="alphaLcPeriod"/>
            </a:pPr>
            <a:r>
              <a:rPr lang="en" sz="1300">
                <a:latin typeface="Arial"/>
                <a:ea typeface="Arial"/>
                <a:cs typeface="Arial"/>
                <a:sym typeface="Arial"/>
              </a:rPr>
              <a:t>We both talked about how life has changed from before covid lockdown to post covid lockdown.</a:t>
            </a:r>
            <a:endParaRPr sz="1300">
              <a:latin typeface="Arial"/>
              <a:ea typeface="Arial"/>
              <a:cs typeface="Arial"/>
              <a:sym typeface="Arial"/>
            </a:endParaRPr>
          </a:p>
          <a:p>
            <a:pPr indent="-311150" lvl="1" marL="914400" rtl="0" algn="l">
              <a:spcBef>
                <a:spcPts val="0"/>
              </a:spcBef>
              <a:spcAft>
                <a:spcPts val="0"/>
              </a:spcAft>
              <a:buSzPts val="1300"/>
              <a:buFont typeface="Arial"/>
              <a:buAutoNum type="alphaLcPeriod"/>
            </a:pPr>
            <a:r>
              <a:rPr lang="en" sz="1300">
                <a:latin typeface="Arial"/>
                <a:ea typeface="Arial"/>
                <a:cs typeface="Arial"/>
                <a:sym typeface="Arial"/>
              </a:rPr>
              <a:t>This was a general conversation or a communication round, the HR was very interactive and informative.</a:t>
            </a:r>
            <a:endParaRPr sz="1300">
              <a:latin typeface="Arial"/>
              <a:ea typeface="Arial"/>
              <a:cs typeface="Arial"/>
              <a:sym typeface="Arial"/>
            </a:endParaRPr>
          </a:p>
          <a:p>
            <a:pPr indent="-311150" lvl="1" marL="914400" rtl="0" algn="l">
              <a:spcBef>
                <a:spcPts val="0"/>
              </a:spcBef>
              <a:spcAft>
                <a:spcPts val="0"/>
              </a:spcAft>
              <a:buSzPts val="1300"/>
              <a:buFont typeface="Arial"/>
              <a:buAutoNum type="alphaLcPeriod"/>
            </a:pPr>
            <a:r>
              <a:rPr lang="en" sz="1300">
                <a:latin typeface="Arial"/>
                <a:ea typeface="Arial"/>
                <a:cs typeface="Arial"/>
                <a:sym typeface="Arial"/>
              </a:rPr>
              <a:t>Finally 4 students were selected from this round.</a:t>
            </a:r>
            <a:endParaRPr sz="1300">
              <a:latin typeface="Arial"/>
              <a:ea typeface="Arial"/>
              <a:cs typeface="Arial"/>
              <a:sym typeface="Arial"/>
            </a:endParaRPr>
          </a:p>
          <a:p>
            <a:pPr indent="0" lvl="0" marL="0" rtl="0" algn="l">
              <a:spcBef>
                <a:spcPts val="0"/>
              </a:spcBef>
              <a:spcAft>
                <a:spcPts val="1600"/>
              </a:spcAft>
              <a:buNone/>
            </a:pPr>
            <a:r>
              <a:t/>
            </a:r>
            <a:endParaRPr sz="1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make your study plan?</a:t>
            </a:r>
            <a:endParaRPr/>
          </a:p>
        </p:txBody>
      </p:sp>
      <p:sp>
        <p:nvSpPr>
          <p:cNvPr id="498" name="Google Shape;498;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Practice GeeksforGeeks or Leetcode for DSA, choose anyone platform, and then try to complete as</a:t>
            </a:r>
            <a:r>
              <a:rPr lang="en" sz="1400"/>
              <a:t> </a:t>
            </a:r>
            <a:r>
              <a:rPr lang="en" sz="1400"/>
              <a:t>much variety of problems as you can.</a:t>
            </a:r>
            <a:endParaRPr sz="1400"/>
          </a:p>
          <a:p>
            <a:pPr indent="-317500" lvl="0" marL="457200" rtl="0" algn="l">
              <a:spcBef>
                <a:spcPts val="1600"/>
              </a:spcBef>
              <a:spcAft>
                <a:spcPts val="0"/>
              </a:spcAft>
              <a:buSzPts val="1400"/>
              <a:buChar char="●"/>
            </a:pPr>
            <a:r>
              <a:rPr lang="en" sz="1400"/>
              <a:t>For CS Core subject concepts you can refer Apna College, Gate Smashers, 5 Minutes Engineering, GeeksforGeeks.</a:t>
            </a:r>
            <a:endParaRPr sz="1400"/>
          </a:p>
          <a:p>
            <a:pPr indent="-317500" lvl="0" marL="457200" rtl="0" algn="l">
              <a:spcBef>
                <a:spcPts val="1600"/>
              </a:spcBef>
              <a:spcAft>
                <a:spcPts val="0"/>
              </a:spcAft>
              <a:buSzPts val="1400"/>
              <a:buChar char="●"/>
            </a:pPr>
            <a:r>
              <a:rPr lang="en" sz="1400"/>
              <a:t>For Aptitude Test practice questions from IndiaBix.</a:t>
            </a:r>
            <a:endParaRPr sz="1400"/>
          </a:p>
          <a:p>
            <a:pPr indent="-317500" lvl="0" marL="457200" rtl="0" algn="l">
              <a:spcBef>
                <a:spcPts val="1600"/>
              </a:spcBef>
              <a:spcAft>
                <a:spcPts val="0"/>
              </a:spcAft>
              <a:buSzPts val="1400"/>
              <a:buChar char="●"/>
            </a:pPr>
            <a:r>
              <a:rPr lang="en" sz="1400"/>
              <a:t>Plan your week in such a manner that  you give at least 3 days a week for placement preparation, </a:t>
            </a:r>
            <a:r>
              <a:rPr lang="en" sz="1400"/>
              <a:t>2 days a week for your project, </a:t>
            </a:r>
            <a:r>
              <a:rPr lang="en" sz="1400"/>
              <a:t>2 days a week for your college work and studies.</a:t>
            </a:r>
            <a:endParaRPr sz="1400"/>
          </a:p>
          <a:p>
            <a:pPr indent="-317500" lvl="0" marL="457200" rtl="0" algn="l">
              <a:spcBef>
                <a:spcPts val="1600"/>
              </a:spcBef>
              <a:spcAft>
                <a:spcPts val="1600"/>
              </a:spcAft>
              <a:buSzPts val="1400"/>
              <a:buChar char="●"/>
            </a:pPr>
            <a:r>
              <a:rPr lang="en" sz="1400"/>
              <a:t>A day before the Company’s Interview, try to see some of the previous year Interview Experiences to get an idea about the Company’s Interview process.</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5"/>
          <p:cNvSpPr txBox="1"/>
          <p:nvPr>
            <p:ph type="ctrTitle"/>
          </p:nvPr>
        </p:nvSpPr>
        <p:spPr>
          <a:xfrm>
            <a:off x="1561650" y="751888"/>
            <a:ext cx="60207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Jay Deshmukh</a:t>
            </a:r>
            <a:endParaRPr/>
          </a:p>
        </p:txBody>
      </p:sp>
      <p:sp>
        <p:nvSpPr>
          <p:cNvPr id="504" name="Google Shape;504;p35"/>
          <p:cNvSpPr txBox="1"/>
          <p:nvPr>
            <p:ph idx="1" type="subTitle"/>
          </p:nvPr>
        </p:nvSpPr>
        <p:spPr>
          <a:xfrm>
            <a:off x="2924250" y="2804488"/>
            <a:ext cx="3295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Forcepoint Experience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Jay Deshmukh</a:t>
            </a:r>
            <a:r>
              <a:rPr lang="en"/>
              <a:t> - Technical Interview 1</a:t>
            </a:r>
            <a:endParaRPr/>
          </a:p>
        </p:txBody>
      </p:sp>
      <p:sp>
        <p:nvSpPr>
          <p:cNvPr id="510" name="Google Shape;510;p36"/>
          <p:cNvSpPr txBox="1"/>
          <p:nvPr>
            <p:ph idx="1" type="body"/>
          </p:nvPr>
        </p:nvSpPr>
        <p:spPr>
          <a:xfrm>
            <a:off x="311700" y="1017725"/>
            <a:ext cx="8520600" cy="34929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The interviewer was very friendly and asked me to give my introduction.</a:t>
            </a:r>
            <a:endParaRPr sz="1600"/>
          </a:p>
          <a:p>
            <a:pPr indent="-330200" lvl="0" marL="457200" rtl="0" algn="l">
              <a:spcBef>
                <a:spcPts val="1000"/>
              </a:spcBef>
              <a:spcAft>
                <a:spcPts val="0"/>
              </a:spcAft>
              <a:buSzPts val="1600"/>
              <a:buChar char="●"/>
            </a:pPr>
            <a:r>
              <a:rPr lang="en" sz="1600"/>
              <a:t>Later he asked me to go through my resume. I started explaining about one of my project which lasted for 20-30 mins and then we had a conversation about one of my hackathon </a:t>
            </a:r>
            <a:r>
              <a:rPr lang="en" sz="1600"/>
              <a:t>experience</a:t>
            </a:r>
            <a:r>
              <a:rPr lang="en" sz="1600"/>
              <a:t> and what all things we </a:t>
            </a:r>
            <a:r>
              <a:rPr lang="en" sz="1600"/>
              <a:t>developed in it</a:t>
            </a:r>
            <a:r>
              <a:rPr lang="en" sz="1600"/>
              <a:t> which lasted for 10-15 mins.</a:t>
            </a:r>
            <a:endParaRPr sz="1600"/>
          </a:p>
          <a:p>
            <a:pPr indent="-330200" lvl="0" marL="457200" rtl="0" algn="l">
              <a:spcBef>
                <a:spcPts val="1000"/>
              </a:spcBef>
              <a:spcAft>
                <a:spcPts val="0"/>
              </a:spcAft>
              <a:buSzPts val="1600"/>
              <a:buChar char="●"/>
            </a:pPr>
            <a:r>
              <a:rPr lang="en" sz="1600"/>
              <a:t>In between he asked me questions related to the project like why you have used this technology and why not some other, what all challenges you faced in developing the project and asked me about my experience of working as a team. </a:t>
            </a:r>
            <a:endParaRPr sz="1600"/>
          </a:p>
          <a:p>
            <a:pPr indent="-330200" lvl="0" marL="457200" rtl="0" algn="l">
              <a:spcBef>
                <a:spcPts val="1000"/>
              </a:spcBef>
              <a:spcAft>
                <a:spcPts val="0"/>
              </a:spcAft>
              <a:buSzPts val="1600"/>
              <a:buChar char="●"/>
            </a:pPr>
            <a:r>
              <a:rPr lang="en" sz="1600"/>
              <a:t>Overall it was based on the projects that I mentioned in my resume. </a:t>
            </a:r>
            <a:endParaRPr sz="1600"/>
          </a:p>
          <a:p>
            <a:pPr indent="-330200" lvl="0" marL="457200" rtl="0" algn="l">
              <a:spcBef>
                <a:spcPts val="1000"/>
              </a:spcBef>
              <a:spcAft>
                <a:spcPts val="1000"/>
              </a:spcAft>
              <a:buSzPts val="1600"/>
              <a:buChar char="●"/>
            </a:pPr>
            <a:r>
              <a:rPr lang="en" sz="1600"/>
              <a:t>On the lighter note we even discussed about the college life.</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Jay Deshmukh - Technical Interview 2</a:t>
            </a:r>
            <a:endParaRPr/>
          </a:p>
        </p:txBody>
      </p:sp>
      <p:sp>
        <p:nvSpPr>
          <p:cNvPr id="516" name="Google Shape;516;p37"/>
          <p:cNvSpPr txBox="1"/>
          <p:nvPr>
            <p:ph idx="1" type="body"/>
          </p:nvPr>
        </p:nvSpPr>
        <p:spPr>
          <a:xfrm>
            <a:off x="311700" y="1017725"/>
            <a:ext cx="8520600" cy="4032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600"/>
              <a:t>I personally felt this interview was much more difficult than the first one because the interviewer was a bit strict. He started by asking situation based ques like:</a:t>
            </a:r>
            <a:endParaRPr sz="1600"/>
          </a:p>
          <a:p>
            <a:pPr indent="-330200" lvl="0" marL="457200" rtl="0" algn="l">
              <a:spcBef>
                <a:spcPts val="1000"/>
              </a:spcBef>
              <a:spcAft>
                <a:spcPts val="0"/>
              </a:spcAft>
              <a:buSzPts val="1600"/>
              <a:buChar char="●"/>
            </a:pPr>
            <a:r>
              <a:rPr lang="en" sz="1600"/>
              <a:t>In a team of 5, 3 other people have knowledge about the project that you are currently working on but they are not a team player and you along with the other teammate have no knowledge about the project. So you are the team leader so what will you do.</a:t>
            </a:r>
            <a:endParaRPr sz="1600"/>
          </a:p>
          <a:p>
            <a:pPr indent="0" lvl="0" marL="457200" rtl="0" algn="l">
              <a:spcBef>
                <a:spcPts val="1000"/>
              </a:spcBef>
              <a:spcAft>
                <a:spcPts val="0"/>
              </a:spcAft>
              <a:buNone/>
            </a:pPr>
            <a:r>
              <a:rPr lang="en" sz="1600"/>
              <a:t>Tips - </a:t>
            </a:r>
            <a:endParaRPr sz="1600"/>
          </a:p>
          <a:p>
            <a:pPr indent="457200" lvl="0" marL="457200" rtl="0" algn="l">
              <a:spcBef>
                <a:spcPts val="1000"/>
              </a:spcBef>
              <a:spcAft>
                <a:spcPts val="0"/>
              </a:spcAft>
              <a:buNone/>
            </a:pPr>
            <a:r>
              <a:rPr lang="en" sz="1600"/>
              <a:t>Try not to blame someone. </a:t>
            </a:r>
            <a:endParaRPr sz="1600"/>
          </a:p>
          <a:p>
            <a:pPr indent="457200" lvl="0" marL="457200" rtl="0" algn="l">
              <a:spcBef>
                <a:spcPts val="1000"/>
              </a:spcBef>
              <a:spcAft>
                <a:spcPts val="0"/>
              </a:spcAft>
              <a:buNone/>
            </a:pPr>
            <a:r>
              <a:rPr lang="en" sz="1600"/>
              <a:t>Try to think </a:t>
            </a:r>
            <a:r>
              <a:rPr lang="en" sz="1600"/>
              <a:t>answers</a:t>
            </a:r>
            <a:r>
              <a:rPr lang="en" sz="1600"/>
              <a:t> that are different from others. </a:t>
            </a:r>
            <a:endParaRPr sz="1600"/>
          </a:p>
          <a:p>
            <a:pPr indent="457200" lvl="0" marL="457200" rtl="0" algn="l">
              <a:spcBef>
                <a:spcPts val="1000"/>
              </a:spcBef>
              <a:spcAft>
                <a:spcPts val="0"/>
              </a:spcAft>
              <a:buNone/>
            </a:pPr>
            <a:r>
              <a:rPr lang="en" sz="1600"/>
              <a:t>Not always the interviewer is expecting </a:t>
            </a:r>
            <a:r>
              <a:rPr lang="en" sz="1600"/>
              <a:t>professional</a:t>
            </a:r>
            <a:r>
              <a:rPr lang="en" sz="1600"/>
              <a:t> answers. </a:t>
            </a:r>
            <a:endParaRPr sz="1600"/>
          </a:p>
          <a:p>
            <a:pPr indent="0" lvl="0" marL="457200" rtl="0" algn="l">
              <a:spcBef>
                <a:spcPts val="1000"/>
              </a:spcBef>
              <a:spcAft>
                <a:spcPts val="1000"/>
              </a:spcAft>
              <a:buNone/>
            </a:pPr>
            <a:r>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Jay Deshmukh - Technical Interview 2</a:t>
            </a:r>
            <a:endParaRPr/>
          </a:p>
        </p:txBody>
      </p:sp>
      <p:sp>
        <p:nvSpPr>
          <p:cNvPr id="522" name="Google Shape;522;p38"/>
          <p:cNvSpPr txBox="1"/>
          <p:nvPr>
            <p:ph idx="1" type="body"/>
          </p:nvPr>
        </p:nvSpPr>
        <p:spPr>
          <a:xfrm>
            <a:off x="311700" y="1017725"/>
            <a:ext cx="8520600" cy="36480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You have an airline company as your client. They gave you a project to develop a software which has 10 important features to implement and a deadline of 1 year. But in the middle of the year the company came with one more feature to implement. Now you can't deliver the software within the given time. So now you are the company representative and you have been sent to talk with the airline company to come up with some solutions to resolve the problem. So what solutions will you propose.</a:t>
            </a:r>
            <a:endParaRPr sz="1600"/>
          </a:p>
          <a:p>
            <a:pPr indent="0" lvl="0" marL="457200" rtl="0" algn="l">
              <a:spcBef>
                <a:spcPts val="1000"/>
              </a:spcBef>
              <a:spcAft>
                <a:spcPts val="0"/>
              </a:spcAft>
              <a:buNone/>
            </a:pPr>
            <a:r>
              <a:rPr lang="en" sz="1600"/>
              <a:t>Tips - </a:t>
            </a:r>
            <a:endParaRPr sz="1600"/>
          </a:p>
          <a:p>
            <a:pPr indent="0" lvl="0" marL="457200" rtl="0" algn="l">
              <a:spcBef>
                <a:spcPts val="1000"/>
              </a:spcBef>
              <a:spcAft>
                <a:spcPts val="0"/>
              </a:spcAft>
              <a:buNone/>
            </a:pPr>
            <a:r>
              <a:rPr lang="en" sz="1600"/>
              <a:t>Try to have a conversation with him like what you are thinking, how you trying to come up with the solutions for the problem.</a:t>
            </a:r>
            <a:endParaRPr sz="1600"/>
          </a:p>
          <a:p>
            <a:pPr indent="0" lvl="0" marL="457200" rtl="0" algn="l">
              <a:spcBef>
                <a:spcPts val="1000"/>
              </a:spcBef>
              <a:spcAft>
                <a:spcPts val="1000"/>
              </a:spcAft>
              <a:buNone/>
            </a:pPr>
            <a:r>
              <a:rPr lang="en" sz="1600"/>
              <a:t> Expected answer was Cost , Time , Quality</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Jay Deshmukh - Technical Interview 2</a:t>
            </a:r>
            <a:endParaRPr/>
          </a:p>
        </p:txBody>
      </p:sp>
      <p:sp>
        <p:nvSpPr>
          <p:cNvPr id="528" name="Google Shape;528;p39"/>
          <p:cNvSpPr txBox="1"/>
          <p:nvPr>
            <p:ph idx="1" type="body"/>
          </p:nvPr>
        </p:nvSpPr>
        <p:spPr>
          <a:xfrm>
            <a:off x="311700" y="1017725"/>
            <a:ext cx="8520600" cy="34662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Later he asked me some questions related to my projects. </a:t>
            </a:r>
            <a:endParaRPr sz="1600"/>
          </a:p>
          <a:p>
            <a:pPr indent="-330200" lvl="0" marL="457200" rtl="0" algn="l">
              <a:spcBef>
                <a:spcPts val="1000"/>
              </a:spcBef>
              <a:spcAft>
                <a:spcPts val="0"/>
              </a:spcAft>
              <a:buSzPts val="1600"/>
              <a:buChar char="●"/>
            </a:pPr>
            <a:r>
              <a:rPr lang="en" sz="1600"/>
              <a:t>He asked me some questions related to JS, Java, Python, Sql and mongoDB. </a:t>
            </a:r>
            <a:endParaRPr sz="1600"/>
          </a:p>
          <a:p>
            <a:pPr indent="-330200" lvl="0" marL="457200" rtl="0" algn="l">
              <a:spcBef>
                <a:spcPts val="1000"/>
              </a:spcBef>
              <a:spcAft>
                <a:spcPts val="0"/>
              </a:spcAft>
              <a:buSzPts val="1600"/>
              <a:buChar char="●"/>
            </a:pPr>
            <a:r>
              <a:rPr lang="en" sz="1600"/>
              <a:t>Later he asked me some questions on quants and some puzzles.</a:t>
            </a:r>
            <a:endParaRPr sz="1600"/>
          </a:p>
          <a:p>
            <a:pPr indent="-330200" lvl="0" marL="457200" rtl="0" algn="l">
              <a:spcBef>
                <a:spcPts val="1000"/>
              </a:spcBef>
              <a:spcAft>
                <a:spcPts val="0"/>
              </a:spcAft>
              <a:buSzPts val="1600"/>
              <a:buChar char="●"/>
            </a:pPr>
            <a:r>
              <a:rPr lang="en" sz="1600"/>
              <a:t>After every answer that I gave he asked me whether I am 99% sure, 50% sure or 10% sure which was really very demotivating. </a:t>
            </a:r>
            <a:endParaRPr sz="1600"/>
          </a:p>
          <a:p>
            <a:pPr indent="-330200" lvl="0" marL="457200" rtl="0" algn="l">
              <a:spcBef>
                <a:spcPts val="1000"/>
              </a:spcBef>
              <a:spcAft>
                <a:spcPts val="0"/>
              </a:spcAft>
              <a:buSzPts val="1600"/>
              <a:buChar char="●"/>
            </a:pPr>
            <a:r>
              <a:rPr lang="en" sz="1600"/>
              <a:t>Lastly he asked about my JD preferences. </a:t>
            </a:r>
            <a:endParaRPr sz="1600"/>
          </a:p>
          <a:p>
            <a:pPr indent="-330200" lvl="0" marL="457200" rtl="0" algn="l">
              <a:spcBef>
                <a:spcPts val="1000"/>
              </a:spcBef>
              <a:spcAft>
                <a:spcPts val="0"/>
              </a:spcAft>
              <a:buSzPts val="1600"/>
              <a:buChar char="●"/>
            </a:pPr>
            <a:r>
              <a:rPr lang="en" sz="1600"/>
              <a:t>The interview lasted for an hour.</a:t>
            </a:r>
            <a:endParaRPr sz="1600"/>
          </a:p>
          <a:p>
            <a:pPr indent="-330200" lvl="0" marL="457200" rtl="0" algn="l">
              <a:spcBef>
                <a:spcPts val="1000"/>
              </a:spcBef>
              <a:spcAft>
                <a:spcPts val="1000"/>
              </a:spcAft>
              <a:buSzPts val="1600"/>
              <a:buChar char="●"/>
            </a:pPr>
            <a:r>
              <a:rPr lang="en" sz="1600"/>
              <a:t>The good thing about the interview was that he used to give me more than enough time to come up with a solution.</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Jay Deshmukh - HR Interview</a:t>
            </a:r>
            <a:endParaRPr/>
          </a:p>
        </p:txBody>
      </p:sp>
      <p:sp>
        <p:nvSpPr>
          <p:cNvPr id="534" name="Google Shape;534;p40"/>
          <p:cNvSpPr txBox="1"/>
          <p:nvPr>
            <p:ph idx="1" type="body"/>
          </p:nvPr>
        </p:nvSpPr>
        <p:spPr>
          <a:xfrm>
            <a:off x="311700" y="1017725"/>
            <a:ext cx="8520600" cy="27717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It was very </a:t>
            </a:r>
            <a:r>
              <a:rPr lang="en" sz="1600"/>
              <a:t>friendly conversation and even the interviewer was very calm.</a:t>
            </a:r>
            <a:endParaRPr sz="1600"/>
          </a:p>
          <a:p>
            <a:pPr indent="-330200" lvl="0" marL="457200" rtl="0" algn="l">
              <a:spcBef>
                <a:spcPts val="1000"/>
              </a:spcBef>
              <a:spcAft>
                <a:spcPts val="0"/>
              </a:spcAft>
              <a:buSzPts val="1600"/>
              <a:buChar char="●"/>
            </a:pPr>
            <a:r>
              <a:rPr lang="en" sz="1600"/>
              <a:t>She started by sharing her experience in Forcepoint.</a:t>
            </a:r>
            <a:endParaRPr sz="1600"/>
          </a:p>
          <a:p>
            <a:pPr indent="-330200" lvl="0" marL="457200" rtl="0" algn="l">
              <a:spcBef>
                <a:spcPts val="1000"/>
              </a:spcBef>
              <a:spcAft>
                <a:spcPts val="0"/>
              </a:spcAft>
              <a:buSzPts val="1600"/>
              <a:buChar char="●"/>
            </a:pPr>
            <a:r>
              <a:rPr lang="en" sz="1600"/>
              <a:t>She explained about the work culture in ForcePoint. </a:t>
            </a:r>
            <a:endParaRPr sz="1600"/>
          </a:p>
          <a:p>
            <a:pPr indent="-330200" lvl="0" marL="457200" rtl="0" algn="l">
              <a:spcBef>
                <a:spcPts val="1000"/>
              </a:spcBef>
              <a:spcAft>
                <a:spcPts val="0"/>
              </a:spcAft>
              <a:buSzPts val="1600"/>
              <a:buChar char="●"/>
            </a:pPr>
            <a:r>
              <a:rPr lang="en" sz="1600"/>
              <a:t>Later she asked me what do you know about the company and why do you want to join it.</a:t>
            </a:r>
            <a:endParaRPr sz="1600"/>
          </a:p>
          <a:p>
            <a:pPr indent="-330200" lvl="0" marL="457200" rtl="0" algn="l">
              <a:spcBef>
                <a:spcPts val="1000"/>
              </a:spcBef>
              <a:spcAft>
                <a:spcPts val="0"/>
              </a:spcAft>
              <a:buSzPts val="1600"/>
              <a:buChar char="●"/>
            </a:pPr>
            <a:r>
              <a:rPr lang="en" sz="1600"/>
              <a:t>Lastly</a:t>
            </a:r>
            <a:r>
              <a:rPr lang="en" sz="1600"/>
              <a:t> she asked me if I had any questions for her.</a:t>
            </a:r>
            <a:endParaRPr sz="1600"/>
          </a:p>
          <a:p>
            <a:pPr indent="-330200" lvl="0" marL="457200" rtl="0" algn="l">
              <a:spcBef>
                <a:spcPts val="1000"/>
              </a:spcBef>
              <a:spcAft>
                <a:spcPts val="1000"/>
              </a:spcAft>
              <a:buSzPts val="1600"/>
              <a:buChar char="●"/>
            </a:pPr>
            <a:r>
              <a:rPr lang="en" sz="1600"/>
              <a:t>It was a normal conversation about the company and nothing technical. </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Study</a:t>
            </a:r>
            <a:endParaRPr/>
          </a:p>
        </p:txBody>
      </p:sp>
      <p:sp>
        <p:nvSpPr>
          <p:cNvPr id="540" name="Google Shape;540;p41"/>
          <p:cNvSpPr txBox="1"/>
          <p:nvPr>
            <p:ph idx="1" type="body"/>
          </p:nvPr>
        </p:nvSpPr>
        <p:spPr>
          <a:xfrm>
            <a:off x="311700" y="1152475"/>
            <a:ext cx="8520600" cy="28998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solidFill>
                  <a:srgbClr val="E6B8AF"/>
                </a:solidFill>
              </a:rPr>
              <a:t>RS Aggrawal - Quants</a:t>
            </a:r>
            <a:endParaRPr sz="1600">
              <a:solidFill>
                <a:srgbClr val="E6B8AF"/>
              </a:solidFill>
            </a:endParaRPr>
          </a:p>
          <a:p>
            <a:pPr indent="-330200" lvl="0" marL="457200" rtl="0" algn="l">
              <a:spcBef>
                <a:spcPts val="1000"/>
              </a:spcBef>
              <a:spcAft>
                <a:spcPts val="0"/>
              </a:spcAft>
              <a:buSzPts val="1600"/>
              <a:buChar char="●"/>
            </a:pPr>
            <a:r>
              <a:rPr lang="en" sz="1600">
                <a:solidFill>
                  <a:srgbClr val="E6B8AF"/>
                </a:solidFill>
              </a:rPr>
              <a:t>Arihant Sijwali - LR</a:t>
            </a:r>
            <a:endParaRPr sz="1600">
              <a:solidFill>
                <a:srgbClr val="E6B8AF"/>
              </a:solidFill>
            </a:endParaRPr>
          </a:p>
          <a:p>
            <a:pPr indent="-330200" lvl="0" marL="457200" rtl="0" algn="l">
              <a:spcBef>
                <a:spcPts val="1000"/>
              </a:spcBef>
              <a:spcAft>
                <a:spcPts val="0"/>
              </a:spcAft>
              <a:buSzPts val="1600"/>
              <a:buChar char="●"/>
            </a:pPr>
            <a:r>
              <a:rPr lang="en" sz="1600">
                <a:solidFill>
                  <a:srgbClr val="E6B8AF"/>
                </a:solidFill>
              </a:rPr>
              <a:t>Arun Sharma - Verbal, DI</a:t>
            </a:r>
            <a:endParaRPr sz="1600">
              <a:solidFill>
                <a:srgbClr val="E6B8AF"/>
              </a:solidFill>
            </a:endParaRPr>
          </a:p>
          <a:p>
            <a:pPr indent="457200" lvl="0" marL="0" rtl="0" algn="l">
              <a:spcBef>
                <a:spcPts val="1000"/>
              </a:spcBef>
              <a:spcAft>
                <a:spcPts val="0"/>
              </a:spcAft>
              <a:buNone/>
            </a:pPr>
            <a:r>
              <a:rPr lang="en" sz="1600">
                <a:solidFill>
                  <a:srgbClr val="E6B8AF"/>
                </a:solidFill>
              </a:rPr>
              <a:t>( I took all this books a week before the test and just studied some imp topics)</a:t>
            </a:r>
            <a:endParaRPr sz="1600">
              <a:solidFill>
                <a:srgbClr val="E6B8AF"/>
              </a:solidFill>
            </a:endParaRPr>
          </a:p>
          <a:p>
            <a:pPr indent="-330200" lvl="0" marL="457200" rtl="0" algn="l">
              <a:spcBef>
                <a:spcPts val="1000"/>
              </a:spcBef>
              <a:spcAft>
                <a:spcPts val="0"/>
              </a:spcAft>
              <a:buSzPts val="1600"/>
              <a:buChar char="●"/>
            </a:pPr>
            <a:r>
              <a:rPr lang="en" sz="1600">
                <a:solidFill>
                  <a:srgbClr val="E6B8AF"/>
                </a:solidFill>
              </a:rPr>
              <a:t>Gfg, InterviewBit, IndiaBix - Technical mcqs</a:t>
            </a:r>
            <a:endParaRPr sz="1600">
              <a:solidFill>
                <a:srgbClr val="E6B8AF"/>
              </a:solidFill>
            </a:endParaRPr>
          </a:p>
          <a:p>
            <a:pPr indent="-330200" lvl="0" marL="457200" rtl="0" algn="l">
              <a:spcBef>
                <a:spcPts val="1000"/>
              </a:spcBef>
              <a:spcAft>
                <a:spcPts val="0"/>
              </a:spcAft>
              <a:buSzPts val="1600"/>
              <a:buChar char="●"/>
            </a:pPr>
            <a:r>
              <a:rPr lang="en" sz="1600">
                <a:solidFill>
                  <a:srgbClr val="E6B8AF"/>
                </a:solidFill>
              </a:rPr>
              <a:t>Gfg - Puzzles</a:t>
            </a:r>
            <a:endParaRPr sz="1600">
              <a:solidFill>
                <a:srgbClr val="E6B8AF"/>
              </a:solidFill>
            </a:endParaRPr>
          </a:p>
          <a:p>
            <a:pPr indent="0" lvl="0" marL="0" rtl="0" algn="l">
              <a:spcBef>
                <a:spcPts val="1000"/>
              </a:spcBef>
              <a:spcAft>
                <a:spcPts val="1000"/>
              </a:spcAft>
              <a:buNone/>
            </a:pPr>
            <a:r>
              <a:t/>
            </a:r>
            <a:endParaRPr sz="1600">
              <a:solidFill>
                <a:srgbClr val="E6B8A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Tips </a:t>
            </a:r>
            <a:endParaRPr/>
          </a:p>
        </p:txBody>
      </p:sp>
      <p:sp>
        <p:nvSpPr>
          <p:cNvPr id="546" name="Google Shape;546;p42"/>
          <p:cNvSpPr txBox="1"/>
          <p:nvPr>
            <p:ph idx="1" type="body"/>
          </p:nvPr>
        </p:nvSpPr>
        <p:spPr>
          <a:xfrm>
            <a:off x="311700" y="1152475"/>
            <a:ext cx="8520600" cy="33114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solidFill>
                  <a:srgbClr val="E6B8AF"/>
                </a:solidFill>
              </a:rPr>
              <a:t>Be</a:t>
            </a:r>
            <a:r>
              <a:rPr lang="en" sz="1600">
                <a:solidFill>
                  <a:srgbClr val="E6B8AF"/>
                </a:solidFill>
              </a:rPr>
              <a:t> thorough with your projects.</a:t>
            </a:r>
            <a:endParaRPr sz="1600">
              <a:solidFill>
                <a:srgbClr val="E6B8AF"/>
              </a:solidFill>
            </a:endParaRPr>
          </a:p>
          <a:p>
            <a:pPr indent="-330200" lvl="0" marL="457200" rtl="0" algn="l">
              <a:spcBef>
                <a:spcPts val="1000"/>
              </a:spcBef>
              <a:spcAft>
                <a:spcPts val="0"/>
              </a:spcAft>
              <a:buClr>
                <a:srgbClr val="E6B8AF"/>
              </a:buClr>
              <a:buSzPts val="1600"/>
              <a:buChar char="●"/>
            </a:pPr>
            <a:r>
              <a:rPr lang="en" sz="1600">
                <a:solidFill>
                  <a:srgbClr val="E6B8AF"/>
                </a:solidFill>
              </a:rPr>
              <a:t>Be honest in your answers.</a:t>
            </a:r>
            <a:endParaRPr sz="1600">
              <a:solidFill>
                <a:srgbClr val="E6B8AF"/>
              </a:solidFill>
            </a:endParaRPr>
          </a:p>
          <a:p>
            <a:pPr indent="-330200" lvl="0" marL="457200" rtl="0" algn="l">
              <a:spcBef>
                <a:spcPts val="1000"/>
              </a:spcBef>
              <a:spcAft>
                <a:spcPts val="0"/>
              </a:spcAft>
              <a:buClr>
                <a:srgbClr val="E6B8AF"/>
              </a:buClr>
              <a:buSzPts val="1600"/>
              <a:buChar char="●"/>
            </a:pPr>
            <a:r>
              <a:rPr lang="en" sz="1600">
                <a:solidFill>
                  <a:srgbClr val="E6B8AF"/>
                </a:solidFill>
              </a:rPr>
              <a:t>Accept your mistakes.</a:t>
            </a:r>
            <a:endParaRPr sz="1600">
              <a:solidFill>
                <a:srgbClr val="E6B8AF"/>
              </a:solidFill>
            </a:endParaRPr>
          </a:p>
          <a:p>
            <a:pPr indent="-330200" lvl="0" marL="457200" rtl="0" algn="l">
              <a:spcBef>
                <a:spcPts val="1000"/>
              </a:spcBef>
              <a:spcAft>
                <a:spcPts val="0"/>
              </a:spcAft>
              <a:buClr>
                <a:srgbClr val="E6B8AF"/>
              </a:buClr>
              <a:buSzPts val="1600"/>
              <a:buChar char="●"/>
            </a:pPr>
            <a:r>
              <a:rPr lang="en" sz="1600">
                <a:solidFill>
                  <a:srgbClr val="E6B8AF"/>
                </a:solidFill>
              </a:rPr>
              <a:t>Try to have a mock interview.</a:t>
            </a:r>
            <a:endParaRPr sz="1600">
              <a:solidFill>
                <a:srgbClr val="E6B8AF"/>
              </a:solidFill>
            </a:endParaRPr>
          </a:p>
          <a:p>
            <a:pPr indent="-330200" lvl="0" marL="457200" rtl="0" algn="l">
              <a:spcBef>
                <a:spcPts val="1000"/>
              </a:spcBef>
              <a:spcAft>
                <a:spcPts val="0"/>
              </a:spcAft>
              <a:buClr>
                <a:srgbClr val="E6B8AF"/>
              </a:buClr>
              <a:buSzPts val="1600"/>
              <a:buChar char="●"/>
            </a:pPr>
            <a:r>
              <a:rPr lang="en" sz="1600">
                <a:solidFill>
                  <a:srgbClr val="E6B8AF"/>
                </a:solidFill>
              </a:rPr>
              <a:t>Never ever get demotivated my company’s rejection.</a:t>
            </a:r>
            <a:endParaRPr sz="1600">
              <a:solidFill>
                <a:srgbClr val="E6B8AF"/>
              </a:solidFill>
            </a:endParaRPr>
          </a:p>
          <a:p>
            <a:pPr indent="0" lvl="0" marL="0" rtl="0" algn="l">
              <a:spcBef>
                <a:spcPts val="1000"/>
              </a:spcBef>
              <a:spcAft>
                <a:spcPts val="0"/>
              </a:spcAft>
              <a:buNone/>
            </a:pPr>
            <a:r>
              <a:t/>
            </a:r>
            <a:endParaRPr sz="1600">
              <a:solidFill>
                <a:srgbClr val="E6B8AF"/>
              </a:solidFill>
            </a:endParaRPr>
          </a:p>
          <a:p>
            <a:pPr indent="0" lvl="0" marL="0" rtl="0" algn="l">
              <a:spcBef>
                <a:spcPts val="1000"/>
              </a:spcBef>
              <a:spcAft>
                <a:spcPts val="0"/>
              </a:spcAft>
              <a:buNone/>
            </a:pPr>
            <a:r>
              <a:t/>
            </a:r>
            <a:endParaRPr sz="1600">
              <a:solidFill>
                <a:srgbClr val="E6B8AF"/>
              </a:solidFill>
            </a:endParaRPr>
          </a:p>
          <a:p>
            <a:pPr indent="0" lvl="0" marL="457200" rtl="0" algn="l">
              <a:spcBef>
                <a:spcPts val="1000"/>
              </a:spcBef>
              <a:spcAft>
                <a:spcPts val="1000"/>
              </a:spcAft>
              <a:buNone/>
            </a:pPr>
            <a:r>
              <a:t/>
            </a:r>
            <a:endParaRPr sz="1600">
              <a:solidFill>
                <a:srgbClr val="E6B8A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3"/>
          <p:cNvSpPr txBox="1"/>
          <p:nvPr>
            <p:ph type="ctrTitle"/>
          </p:nvPr>
        </p:nvSpPr>
        <p:spPr>
          <a:xfrm>
            <a:off x="1561650" y="751888"/>
            <a:ext cx="60207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Prithvi Kumar</a:t>
            </a:r>
            <a:endParaRPr/>
          </a:p>
        </p:txBody>
      </p:sp>
      <p:sp>
        <p:nvSpPr>
          <p:cNvPr id="552" name="Google Shape;552;p43"/>
          <p:cNvSpPr txBox="1"/>
          <p:nvPr>
            <p:ph idx="1" type="subTitle"/>
          </p:nvPr>
        </p:nvSpPr>
        <p:spPr>
          <a:xfrm>
            <a:off x="2924250" y="2804488"/>
            <a:ext cx="3295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Forcepoint Experience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Prithvi Kumar - Technical Interview 1</a:t>
            </a:r>
            <a:endParaRPr/>
          </a:p>
        </p:txBody>
      </p:sp>
      <p:sp>
        <p:nvSpPr>
          <p:cNvPr id="558" name="Google Shape;558;p44"/>
          <p:cNvSpPr txBox="1"/>
          <p:nvPr>
            <p:ph idx="1" type="body"/>
          </p:nvPr>
        </p:nvSpPr>
        <p:spPr>
          <a:xfrm>
            <a:off x="311700" y="1017725"/>
            <a:ext cx="8520600" cy="40329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Introduction, then basic </a:t>
            </a:r>
            <a:r>
              <a:rPr lang="en" sz="1600">
                <a:solidFill>
                  <a:srgbClr val="FFF2CC"/>
                </a:solidFill>
              </a:rPr>
              <a:t>OOPS concepts</a:t>
            </a:r>
            <a:endParaRPr sz="1600">
              <a:solidFill>
                <a:srgbClr val="FFF2CC"/>
              </a:solidFill>
            </a:endParaRPr>
          </a:p>
          <a:p>
            <a:pPr indent="-330200" lvl="0" marL="457200" rtl="0" algn="l">
              <a:spcBef>
                <a:spcPts val="1000"/>
              </a:spcBef>
              <a:spcAft>
                <a:spcPts val="0"/>
              </a:spcAft>
              <a:buSzPts val="1600"/>
              <a:buChar char="●"/>
            </a:pPr>
            <a:r>
              <a:rPr lang="en" sz="1600"/>
              <a:t>Share screen and code the solution to two problems in whatever language I was comfortable with. The problems were</a:t>
            </a:r>
            <a:endParaRPr sz="1600"/>
          </a:p>
          <a:p>
            <a:pPr indent="-330200" lvl="1" marL="914400" rtl="0" algn="l">
              <a:spcBef>
                <a:spcPts val="1000"/>
              </a:spcBef>
              <a:spcAft>
                <a:spcPts val="0"/>
              </a:spcAft>
              <a:buSzPts val="1600"/>
              <a:buChar char="○"/>
            </a:pPr>
            <a:r>
              <a:rPr lang="en" sz="1600"/>
              <a:t>Check if an array can be partitioned into 3 parts with equal sum</a:t>
            </a:r>
            <a:endParaRPr sz="1600"/>
          </a:p>
          <a:p>
            <a:pPr indent="-330200" lvl="1" marL="914400" rtl="0" algn="l">
              <a:spcBef>
                <a:spcPts val="0"/>
              </a:spcBef>
              <a:spcAft>
                <a:spcPts val="0"/>
              </a:spcAft>
              <a:buSzPts val="1600"/>
              <a:buChar char="○"/>
            </a:pPr>
            <a:r>
              <a:rPr lang="en" sz="1600"/>
              <a:t>Word Break Problem</a:t>
            </a:r>
            <a:endParaRPr sz="1600"/>
          </a:p>
          <a:p>
            <a:pPr indent="-330200" lvl="0" marL="457200" rtl="0" algn="l">
              <a:spcBef>
                <a:spcPts val="1000"/>
              </a:spcBef>
              <a:spcAft>
                <a:spcPts val="0"/>
              </a:spcAft>
              <a:buSzPts val="1600"/>
              <a:buChar char="●"/>
            </a:pPr>
            <a:r>
              <a:rPr lang="en" sz="1600"/>
              <a:t>Discuss about any project of mine, and my </a:t>
            </a:r>
            <a:r>
              <a:rPr lang="en" sz="1600">
                <a:solidFill>
                  <a:srgbClr val="FFF2CC"/>
                </a:solidFill>
              </a:rPr>
              <a:t>role in the project</a:t>
            </a:r>
            <a:r>
              <a:rPr lang="en" sz="1600"/>
              <a:t>.</a:t>
            </a:r>
            <a:endParaRPr sz="1600"/>
          </a:p>
          <a:p>
            <a:pPr indent="-330200" lvl="0" marL="457200" rtl="0" algn="l">
              <a:spcBef>
                <a:spcPts val="1000"/>
              </a:spcBef>
              <a:spcAft>
                <a:spcPts val="0"/>
              </a:spcAft>
              <a:buSzPts val="1600"/>
              <a:buChar char="●"/>
            </a:pPr>
            <a:r>
              <a:rPr lang="en" sz="1600"/>
              <a:t>The interviewer asked me about the languages I’m most comfortable with, then asked me to differentiate between them (Java and Python).</a:t>
            </a:r>
            <a:endParaRPr sz="1600"/>
          </a:p>
          <a:p>
            <a:pPr indent="-330200" lvl="0" marL="457200" rtl="0" algn="l">
              <a:spcBef>
                <a:spcPts val="1000"/>
              </a:spcBef>
              <a:spcAft>
                <a:spcPts val="0"/>
              </a:spcAft>
              <a:buSzPts val="1600"/>
              <a:buChar char="●"/>
            </a:pPr>
            <a:r>
              <a:rPr lang="en" sz="1600"/>
              <a:t>I was also asked which python libraries I was familiar with. My answers were mostly data and ML related, so he asked me to talk about the backend frameworks as well.</a:t>
            </a:r>
            <a:endParaRPr sz="1600"/>
          </a:p>
          <a:p>
            <a:pPr indent="-330200" lvl="0" marL="457200" rtl="0" algn="l">
              <a:spcBef>
                <a:spcPts val="1000"/>
              </a:spcBef>
              <a:spcAft>
                <a:spcPts val="1000"/>
              </a:spcAft>
              <a:buSzPts val="1600"/>
              <a:buChar char="●"/>
            </a:pPr>
            <a:r>
              <a:rPr lang="en" sz="1600"/>
              <a:t>Lasted around 35-45 minutes.</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Prithvi Kumar - Technical Interview 2</a:t>
            </a:r>
            <a:endParaRPr/>
          </a:p>
        </p:txBody>
      </p:sp>
      <p:sp>
        <p:nvSpPr>
          <p:cNvPr id="564" name="Google Shape;564;p45"/>
          <p:cNvSpPr txBox="1"/>
          <p:nvPr>
            <p:ph idx="1" type="body"/>
          </p:nvPr>
        </p:nvSpPr>
        <p:spPr>
          <a:xfrm>
            <a:off x="311700" y="1152475"/>
            <a:ext cx="8520600" cy="29532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The interview started with a normal greeting.</a:t>
            </a:r>
            <a:endParaRPr sz="1600"/>
          </a:p>
          <a:p>
            <a:pPr indent="-330200" lvl="0" marL="457200" rtl="0" algn="l">
              <a:spcBef>
                <a:spcPts val="1000"/>
              </a:spcBef>
              <a:spcAft>
                <a:spcPts val="0"/>
              </a:spcAft>
              <a:buSzPts val="1600"/>
              <a:buChar char="●"/>
            </a:pPr>
            <a:r>
              <a:rPr lang="en" sz="1600"/>
              <a:t>I was given a problem to solve. </a:t>
            </a:r>
            <a:r>
              <a:rPr lang="en" sz="1600">
                <a:solidFill>
                  <a:srgbClr val="FFF2CC"/>
                </a:solidFill>
              </a:rPr>
              <a:t>There is a list of all the cities in the world and their latitude and longitude. Given a random point anywhere in the world, find the closest city.</a:t>
            </a:r>
            <a:r>
              <a:rPr lang="en" sz="1600"/>
              <a:t> I had the right approach at first but lost confidence and changed my approach. I was told to preprocess the data to make the search quicker. </a:t>
            </a:r>
            <a:endParaRPr sz="1600"/>
          </a:p>
          <a:p>
            <a:pPr indent="-330200" lvl="0" marL="457200" rtl="0" algn="l">
              <a:spcBef>
                <a:spcPts val="1000"/>
              </a:spcBef>
              <a:spcAft>
                <a:spcPts val="1000"/>
              </a:spcAft>
              <a:buSzPts val="1600"/>
              <a:buChar char="●"/>
            </a:pPr>
            <a:r>
              <a:rPr lang="en" sz="1600"/>
              <a:t>I was given many hints by the interviewer but couldn’t crack it, and he told me the solution in the end. (A 2D matrix where rows and columns were latitude and longitude and each cell contains a list of all cities within an arbitrary distance X from that latitude and longitude. This reduces lookup time)</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Prithvi Kumar - Technical Interview 2</a:t>
            </a:r>
            <a:endParaRPr/>
          </a:p>
        </p:txBody>
      </p:sp>
      <p:sp>
        <p:nvSpPr>
          <p:cNvPr id="570" name="Google Shape;570;p46"/>
          <p:cNvSpPr txBox="1"/>
          <p:nvPr>
            <p:ph idx="1" type="body"/>
          </p:nvPr>
        </p:nvSpPr>
        <p:spPr>
          <a:xfrm>
            <a:off x="311700" y="1152475"/>
            <a:ext cx="8520600" cy="36480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I was then asked to code a simple version of the above problem, which was just a BFS to find the nearest 1 to the given cell in a matrix of 0s and 1s. Due to time constraints I was unable to code this fully.</a:t>
            </a:r>
            <a:endParaRPr sz="1600"/>
          </a:p>
          <a:p>
            <a:pPr indent="-330200" lvl="0" marL="457200" rtl="0" algn="l">
              <a:spcBef>
                <a:spcPts val="1000"/>
              </a:spcBef>
              <a:spcAft>
                <a:spcPts val="0"/>
              </a:spcAft>
              <a:buSzPts val="1600"/>
              <a:buChar char="●"/>
            </a:pPr>
            <a:r>
              <a:rPr lang="en" sz="1600"/>
              <a:t>He then asked me about my third year project and my role in it. I was asked to show some of the code I wrote and asked what we used for version control.</a:t>
            </a:r>
            <a:endParaRPr sz="1600"/>
          </a:p>
          <a:p>
            <a:pPr indent="-330200" lvl="0" marL="457200" rtl="0" algn="l">
              <a:spcBef>
                <a:spcPts val="1000"/>
              </a:spcBef>
              <a:spcAft>
                <a:spcPts val="0"/>
              </a:spcAft>
              <a:buSzPts val="1600"/>
              <a:buChar char="●"/>
            </a:pPr>
            <a:r>
              <a:rPr lang="en" sz="1600"/>
              <a:t>Then I was asked </a:t>
            </a:r>
            <a:r>
              <a:rPr lang="en" sz="1600">
                <a:solidFill>
                  <a:srgbClr val="FFF2CC"/>
                </a:solidFill>
              </a:rPr>
              <a:t>questions based on OS.</a:t>
            </a:r>
            <a:r>
              <a:rPr lang="en" sz="1600"/>
              <a:t> I was told to create a struct to represent a process, and add all attributes / components of a process within it. I was asked to explain semaphores. Then he asked me about which operating system I’m most familiar with and asked me about </a:t>
            </a:r>
            <a:r>
              <a:rPr lang="en" sz="1600">
                <a:solidFill>
                  <a:srgbClr val="FFF2CC"/>
                </a:solidFill>
              </a:rPr>
              <a:t>low level programming</a:t>
            </a:r>
            <a:r>
              <a:rPr lang="en" sz="1600"/>
              <a:t>.</a:t>
            </a:r>
            <a:endParaRPr sz="1600"/>
          </a:p>
          <a:p>
            <a:pPr indent="-330200" lvl="0" marL="457200" rtl="0" algn="l">
              <a:spcBef>
                <a:spcPts val="1000"/>
              </a:spcBef>
              <a:spcAft>
                <a:spcPts val="1000"/>
              </a:spcAft>
              <a:buSzPts val="1600"/>
              <a:buChar char="●"/>
            </a:pPr>
            <a:r>
              <a:rPr lang="en" sz="1600"/>
              <a:t>The interviewer was very friendly and kind, so I was able to </a:t>
            </a:r>
            <a:r>
              <a:rPr lang="en" sz="1600">
                <a:solidFill>
                  <a:srgbClr val="FFF2CC"/>
                </a:solidFill>
              </a:rPr>
              <a:t>relax and answer</a:t>
            </a:r>
            <a:r>
              <a:rPr lang="en" sz="1600"/>
              <a:t> as many questions as I could. Interview lasted an hour.</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Prithvi Kumar - HR Interview</a:t>
            </a:r>
            <a:endParaRPr/>
          </a:p>
        </p:txBody>
      </p:sp>
      <p:sp>
        <p:nvSpPr>
          <p:cNvPr id="576" name="Google Shape;576;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The HR interview was more like a </a:t>
            </a:r>
            <a:r>
              <a:rPr lang="en" sz="1600">
                <a:solidFill>
                  <a:srgbClr val="FFF2CC"/>
                </a:solidFill>
              </a:rPr>
              <a:t>conversation</a:t>
            </a:r>
            <a:r>
              <a:rPr lang="en" sz="1600"/>
              <a:t>.</a:t>
            </a:r>
            <a:endParaRPr sz="1600"/>
          </a:p>
          <a:p>
            <a:pPr indent="-330200" lvl="0" marL="457200" rtl="0" algn="l">
              <a:spcBef>
                <a:spcPts val="1000"/>
              </a:spcBef>
              <a:spcAft>
                <a:spcPts val="0"/>
              </a:spcAft>
              <a:buSzPts val="1600"/>
              <a:buChar char="●"/>
            </a:pPr>
            <a:r>
              <a:rPr lang="en" sz="1600"/>
              <a:t>First I was asked about my day, and about how the interviews went so far.</a:t>
            </a:r>
            <a:endParaRPr sz="1600"/>
          </a:p>
          <a:p>
            <a:pPr indent="-330200" lvl="0" marL="457200" rtl="0" algn="l">
              <a:spcBef>
                <a:spcPts val="1000"/>
              </a:spcBef>
              <a:spcAft>
                <a:spcPts val="0"/>
              </a:spcAft>
              <a:buSzPts val="1600"/>
              <a:buChar char="●"/>
            </a:pPr>
            <a:r>
              <a:rPr lang="en" sz="1600"/>
              <a:t>I was asked about Forcepoint, and if I would join it if it wasn't coming for campus placements, and why.</a:t>
            </a:r>
            <a:endParaRPr sz="1600"/>
          </a:p>
          <a:p>
            <a:pPr indent="-330200" lvl="0" marL="457200" rtl="0" algn="l">
              <a:spcBef>
                <a:spcPts val="1000"/>
              </a:spcBef>
              <a:spcAft>
                <a:spcPts val="0"/>
              </a:spcAft>
              <a:buSzPts val="1600"/>
              <a:buChar char="●"/>
            </a:pPr>
            <a:r>
              <a:rPr lang="en" sz="1600"/>
              <a:t>The interviewer asked me how I felt about </a:t>
            </a:r>
            <a:r>
              <a:rPr lang="en" sz="1600">
                <a:solidFill>
                  <a:srgbClr val="FFF2CC"/>
                </a:solidFill>
              </a:rPr>
              <a:t>relocation</a:t>
            </a:r>
            <a:r>
              <a:rPr lang="en" sz="1600"/>
              <a:t>.</a:t>
            </a:r>
            <a:endParaRPr sz="1600"/>
          </a:p>
          <a:p>
            <a:pPr indent="-330200" lvl="0" marL="457200" rtl="0" algn="l">
              <a:spcBef>
                <a:spcPts val="1000"/>
              </a:spcBef>
              <a:spcAft>
                <a:spcPts val="0"/>
              </a:spcAft>
              <a:buSzPts val="1600"/>
              <a:buChar char="●"/>
            </a:pPr>
            <a:r>
              <a:rPr lang="en" sz="1600"/>
              <a:t>I was also asked about how I spent lockdown and what experience I had in it.</a:t>
            </a:r>
            <a:endParaRPr sz="1600"/>
          </a:p>
          <a:p>
            <a:pPr indent="-330200" lvl="0" marL="457200" rtl="0" algn="l">
              <a:spcBef>
                <a:spcPts val="1000"/>
              </a:spcBef>
              <a:spcAft>
                <a:spcPts val="1000"/>
              </a:spcAft>
              <a:buSzPts val="1600"/>
              <a:buChar char="●"/>
            </a:pPr>
            <a:r>
              <a:rPr lang="en" sz="1600"/>
              <a:t>Most of the interview was a conversation about the company and about my mindset towards work and life.</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Tips for preparation</a:t>
            </a:r>
            <a:endParaRPr/>
          </a:p>
        </p:txBody>
      </p:sp>
      <p:sp>
        <p:nvSpPr>
          <p:cNvPr id="582" name="Google Shape;582;p48"/>
          <p:cNvSpPr txBox="1"/>
          <p:nvPr>
            <p:ph idx="1" type="body"/>
          </p:nvPr>
        </p:nvSpPr>
        <p:spPr>
          <a:xfrm>
            <a:off x="311700" y="1152475"/>
            <a:ext cx="8520600" cy="30549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Regular practice of Aptitude and specifically Quantitative analysis.</a:t>
            </a:r>
            <a:endParaRPr sz="1600"/>
          </a:p>
          <a:p>
            <a:pPr indent="-330200" lvl="1" marL="914400" rtl="0" algn="l">
              <a:spcBef>
                <a:spcPts val="1000"/>
              </a:spcBef>
              <a:spcAft>
                <a:spcPts val="0"/>
              </a:spcAft>
              <a:buSzPts val="1600"/>
              <a:buChar char="○"/>
            </a:pPr>
            <a:r>
              <a:rPr lang="en" sz="1600"/>
              <a:t>IndiaBix.com was my go to</a:t>
            </a:r>
            <a:endParaRPr sz="1600"/>
          </a:p>
          <a:p>
            <a:pPr indent="-330200" lvl="0" marL="457200" rtl="0" algn="l">
              <a:spcBef>
                <a:spcPts val="1000"/>
              </a:spcBef>
              <a:spcAft>
                <a:spcPts val="0"/>
              </a:spcAft>
              <a:buSzPts val="1600"/>
              <a:buChar char="●"/>
            </a:pPr>
            <a:r>
              <a:rPr lang="en" sz="1600"/>
              <a:t>Common Puzzles from GFG</a:t>
            </a:r>
            <a:endParaRPr sz="1600"/>
          </a:p>
          <a:p>
            <a:pPr indent="-330200" lvl="0" marL="457200" rtl="0" algn="l">
              <a:spcBef>
                <a:spcPts val="1000"/>
              </a:spcBef>
              <a:spcAft>
                <a:spcPts val="0"/>
              </a:spcAft>
              <a:buSzPts val="1600"/>
              <a:buChar char="●"/>
            </a:pPr>
            <a:r>
              <a:rPr lang="en" sz="1600"/>
              <a:t>Thorough knowledge of at least one programming language (Java, Python or C++) along with OOP, DBMS, OS and DSA</a:t>
            </a:r>
            <a:endParaRPr sz="1600"/>
          </a:p>
          <a:p>
            <a:pPr indent="-330200" lvl="0" marL="457200" rtl="0" algn="l">
              <a:spcBef>
                <a:spcPts val="1000"/>
              </a:spcBef>
              <a:spcAft>
                <a:spcPts val="0"/>
              </a:spcAft>
              <a:buSzPts val="1600"/>
              <a:buChar char="●"/>
            </a:pPr>
            <a:r>
              <a:rPr lang="en" sz="1600"/>
              <a:t>In-N-out knowledge of your projects and internships</a:t>
            </a:r>
            <a:endParaRPr sz="1600"/>
          </a:p>
          <a:p>
            <a:pPr indent="-330200" lvl="0" marL="457200" rtl="0" algn="l">
              <a:spcBef>
                <a:spcPts val="1000"/>
              </a:spcBef>
              <a:spcAft>
                <a:spcPts val="1000"/>
              </a:spcAft>
              <a:buSzPts val="1600"/>
              <a:buChar char="●"/>
            </a:pPr>
            <a:r>
              <a:rPr lang="en" sz="1600"/>
              <a:t> </a:t>
            </a:r>
            <a:r>
              <a:rPr b="1" lang="en" sz="1600" u="sng"/>
              <a:t>Very Important</a:t>
            </a:r>
            <a:r>
              <a:rPr b="1" lang="en" sz="1600"/>
              <a:t>:</a:t>
            </a:r>
            <a:r>
              <a:rPr lang="en" sz="1600"/>
              <a:t> Try and focus on speaking skills and being able to express yourself clearly.</a:t>
            </a:r>
            <a:endParaRPr b="1" sz="1600" u="sng"/>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9"/>
          <p:cNvSpPr txBox="1"/>
          <p:nvPr>
            <p:ph type="ctrTitle"/>
          </p:nvPr>
        </p:nvSpPr>
        <p:spPr>
          <a:xfrm>
            <a:off x="1561650" y="751888"/>
            <a:ext cx="60207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Questions?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0"/>
          <p:cNvSpPr txBox="1"/>
          <p:nvPr>
            <p:ph type="ctrTitle"/>
          </p:nvPr>
        </p:nvSpPr>
        <p:spPr>
          <a:xfrm>
            <a:off x="1561650" y="751903"/>
            <a:ext cx="6020700" cy="88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Feel free to contact us</a:t>
            </a:r>
            <a:endParaRPr/>
          </a:p>
        </p:txBody>
      </p:sp>
      <p:sp>
        <p:nvSpPr>
          <p:cNvPr id="593" name="Google Shape;593;p50"/>
          <p:cNvSpPr txBox="1"/>
          <p:nvPr>
            <p:ph idx="1" type="subTitle"/>
          </p:nvPr>
        </p:nvSpPr>
        <p:spPr>
          <a:xfrm>
            <a:off x="1697250" y="2200975"/>
            <a:ext cx="5885100" cy="15699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Prithvi K: </a:t>
            </a:r>
            <a:r>
              <a:rPr lang="en">
                <a:solidFill>
                  <a:schemeClr val="hlink"/>
                </a:solidFill>
                <a:uFill>
                  <a:noFill/>
                </a:uFill>
                <a:hlinkClick r:id="rId3"/>
              </a:rPr>
              <a:t>2019prithvi.kumar@ves.ac.in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JN GuruAkaash: </a:t>
            </a:r>
            <a:r>
              <a:rPr lang="en">
                <a:solidFill>
                  <a:schemeClr val="hlink"/>
                </a:solidFill>
                <a:uFill>
                  <a:noFill/>
                </a:uFill>
                <a:hlinkClick r:id="rId4"/>
              </a:rPr>
              <a:t>2019guruakaash.janthalur@ves.ac.in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Jay Deshmukh: 2019jay.deshmukh@ves.ac.in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