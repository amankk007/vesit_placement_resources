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Proxima Nova"/>
      <p:regular r:id="rId16"/>
      <p:bold r:id="rId17"/>
      <p:italic r:id="rId18"/>
      <p:boldItalic r:id="rId19"/>
    </p:embeddedFont>
    <p:embeddedFont>
      <p:font typeface="Proxima Nova Extrabold"/>
      <p:bold r:id="rId20"/>
    </p:embeddedFont>
    <p:embeddedFont>
      <p:font typeface="Barlow"/>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Extrabold-bold.fntdata"/><Relationship Id="rId11" Type="http://schemas.openxmlformats.org/officeDocument/2006/relationships/slide" Target="slides/slide6.xml"/><Relationship Id="rId22" Type="http://schemas.openxmlformats.org/officeDocument/2006/relationships/font" Target="fonts/Barlow-bold.fntdata"/><Relationship Id="rId10" Type="http://schemas.openxmlformats.org/officeDocument/2006/relationships/slide" Target="slides/slide5.xml"/><Relationship Id="rId21" Type="http://schemas.openxmlformats.org/officeDocument/2006/relationships/font" Target="fonts/Barlow-regular.fntdata"/><Relationship Id="rId13" Type="http://schemas.openxmlformats.org/officeDocument/2006/relationships/slide" Target="slides/slide8.xml"/><Relationship Id="rId24" Type="http://schemas.openxmlformats.org/officeDocument/2006/relationships/font" Target="fonts/Barlow-boldItalic.fntdata"/><Relationship Id="rId12" Type="http://schemas.openxmlformats.org/officeDocument/2006/relationships/slide" Target="slides/slide7.xml"/><Relationship Id="rId23" Type="http://schemas.openxmlformats.org/officeDocument/2006/relationships/font" Target="fonts/Barlow-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roximaNova-bold.fntdata"/><Relationship Id="rId16" Type="http://schemas.openxmlformats.org/officeDocument/2006/relationships/font" Target="fonts/ProximaNova-regular.fntdata"/><Relationship Id="rId5" Type="http://schemas.openxmlformats.org/officeDocument/2006/relationships/notesMaster" Target="notesMasters/notesMaster1.xml"/><Relationship Id="rId19" Type="http://schemas.openxmlformats.org/officeDocument/2006/relationships/font" Target="fonts/ProximaNova-boldItalic.fntdata"/><Relationship Id="rId6" Type="http://schemas.openxmlformats.org/officeDocument/2006/relationships/slide" Target="slides/slide1.xml"/><Relationship Id="rId18" Type="http://schemas.openxmlformats.org/officeDocument/2006/relationships/font" Target="fonts/ProximaNova-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109d9e1b8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109d9e1b8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109d9e1b82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109d9e1b82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109d9e1b82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109d9e1b82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109d9e1b82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109d9e1b82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109d9e1b82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109d9e1b8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109d9e1b82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109d9e1b82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10c03aee0c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10c03aee0c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10c03aee0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10c03aee0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109d9e1b82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109d9e1b82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hyperlink" Target="mailto:2019drishti.katiyara@ves.ac.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 name="Shape 58"/>
        <p:cNvGrpSpPr/>
        <p:nvPr/>
      </p:nvGrpSpPr>
      <p:grpSpPr>
        <a:xfrm>
          <a:off x="0" y="0"/>
          <a:ext cx="0" cy="0"/>
          <a:chOff x="0" y="0"/>
          <a:chExt cx="0" cy="0"/>
        </a:xfrm>
      </p:grpSpPr>
      <p:sp>
        <p:nvSpPr>
          <p:cNvPr id="59" name="Google Shape;59;p13"/>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Placement Interview Experience by:</a:t>
            </a:r>
            <a:endParaRPr sz="1800"/>
          </a:p>
          <a:p>
            <a:pPr indent="0" lvl="0" marL="0" rtl="0" algn="ctr">
              <a:spcBef>
                <a:spcPts val="0"/>
              </a:spcBef>
              <a:spcAft>
                <a:spcPts val="0"/>
              </a:spcAft>
              <a:buNone/>
            </a:pPr>
            <a:r>
              <a:rPr lang="en" sz="1800"/>
              <a:t>Drishti Katiyara (D17B)</a:t>
            </a:r>
            <a:endParaRPr sz="1800"/>
          </a:p>
          <a:p>
            <a:pPr indent="0" lvl="0" marL="0" rtl="0" algn="ctr">
              <a:spcBef>
                <a:spcPts val="0"/>
              </a:spcBef>
              <a:spcAft>
                <a:spcPts val="0"/>
              </a:spcAft>
              <a:buNone/>
            </a:pPr>
            <a:r>
              <a:rPr lang="en" sz="1800"/>
              <a:t>Khushboo Dalwani (D17A)</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rPr lang="en" sz="1800"/>
              <a:t>Computer Engineering Department, 2023 Batch</a:t>
            </a:r>
            <a:endParaRPr sz="1800"/>
          </a:p>
          <a:p>
            <a:pPr indent="0" lvl="0" marL="0" rtl="0" algn="l">
              <a:spcBef>
                <a:spcPts val="0"/>
              </a:spcBef>
              <a:spcAft>
                <a:spcPts val="0"/>
              </a:spcAft>
              <a:buNone/>
            </a:pPr>
            <a:r>
              <a:t/>
            </a:r>
            <a:endParaRPr/>
          </a:p>
        </p:txBody>
      </p:sp>
      <p:pic>
        <p:nvPicPr>
          <p:cNvPr id="60" name="Google Shape;60;p13"/>
          <p:cNvPicPr preferRelativeResize="0"/>
          <p:nvPr/>
        </p:nvPicPr>
        <p:blipFill rotWithShape="1">
          <a:blip r:embed="rId3">
            <a:alphaModFix/>
          </a:blip>
          <a:srcRect b="0" l="0" r="0" t="0"/>
          <a:stretch/>
        </p:blipFill>
        <p:spPr>
          <a:xfrm>
            <a:off x="1753548" y="1120200"/>
            <a:ext cx="5636924" cy="1806525"/>
          </a:xfrm>
          <a:prstGeom prst="rect">
            <a:avLst/>
          </a:prstGeom>
          <a:noFill/>
          <a:ln>
            <a:noFill/>
          </a:ln>
        </p:spPr>
      </p:pic>
      <p:sp>
        <p:nvSpPr>
          <p:cNvPr id="61" name="Google Shape;61;p13"/>
          <p:cNvSpPr txBox="1"/>
          <p:nvPr/>
        </p:nvSpPr>
        <p:spPr>
          <a:xfrm>
            <a:off x="2029650" y="343775"/>
            <a:ext cx="50847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FFFFFF"/>
                </a:solidFill>
                <a:latin typeface="Proxima Nova"/>
                <a:ea typeface="Proxima Nova"/>
                <a:cs typeface="Proxima Nova"/>
                <a:sym typeface="Proxima Nova"/>
              </a:rPr>
              <a:t>VIVEKANAND EDUCATION SOCIETY INSTITUTE OF TECHNOLOGY (MUMBAI UNIVERSITY)</a:t>
            </a:r>
            <a:endParaRPr b="1">
              <a:solidFill>
                <a:srgbClr val="FFFFFF"/>
              </a:solidFill>
              <a:latin typeface="Proxima Nova"/>
              <a:ea typeface="Proxima Nova"/>
              <a:cs typeface="Proxima Nova"/>
              <a:sym typeface="Proxima Nova"/>
            </a:endParaRPr>
          </a:p>
          <a:p>
            <a:pPr indent="0" lvl="0" marL="0" rtl="0" algn="ctr">
              <a:spcBef>
                <a:spcPts val="0"/>
              </a:spcBef>
              <a:spcAft>
                <a:spcPts val="0"/>
              </a:spcAft>
              <a:buNone/>
            </a:pPr>
            <a:r>
              <a:rPr lang="en">
                <a:solidFill>
                  <a:srgbClr val="FFFFFF"/>
                </a:solidFill>
                <a:latin typeface="Proxima Nova"/>
                <a:ea typeface="Proxima Nova"/>
                <a:cs typeface="Proxima Nova"/>
                <a:sym typeface="Proxima Nova"/>
              </a:rPr>
              <a:t>Department of Computer Engineering</a:t>
            </a:r>
            <a:endParaRPr>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b="1">
              <a:solidFill>
                <a:srgbClr val="FFFFFF"/>
              </a:solidFill>
              <a:latin typeface="Proxima Nova"/>
              <a:ea typeface="Proxima Nova"/>
              <a:cs typeface="Proxima Nova"/>
              <a:sym typeface="Proxima Nova"/>
            </a:endParaRPr>
          </a:p>
        </p:txBody>
      </p:sp>
      <p:pic>
        <p:nvPicPr>
          <p:cNvPr id="62" name="Google Shape;62;p13"/>
          <p:cNvPicPr preferRelativeResize="0"/>
          <p:nvPr/>
        </p:nvPicPr>
        <p:blipFill rotWithShape="1">
          <a:blip r:embed="rId4">
            <a:alphaModFix/>
          </a:blip>
          <a:srcRect b="0" l="0" r="0" t="0"/>
          <a:stretch/>
        </p:blipFill>
        <p:spPr>
          <a:xfrm>
            <a:off x="7878900" y="171850"/>
            <a:ext cx="587375" cy="948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About Deloitte.</a:t>
            </a:r>
            <a:endParaRPr b="1" sz="3000"/>
          </a:p>
        </p:txBody>
      </p:sp>
      <p:sp>
        <p:nvSpPr>
          <p:cNvPr id="68" name="Google Shape;68;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SzPts val="1600"/>
              <a:buChar char="●"/>
            </a:pPr>
            <a:r>
              <a:rPr lang="en" sz="1600"/>
              <a:t>Deloitte is a member of the renowned group of "Big Four" accounting firms and holds the position of the world's largest professional services network in terms of revenue and staff count. </a:t>
            </a:r>
            <a:endParaRPr sz="1600"/>
          </a:p>
          <a:p>
            <a:pPr indent="-330200" lvl="0" marL="457200" rtl="0" algn="l">
              <a:lnSpc>
                <a:spcPct val="115000"/>
              </a:lnSpc>
              <a:spcBef>
                <a:spcPts val="1000"/>
              </a:spcBef>
              <a:spcAft>
                <a:spcPts val="0"/>
              </a:spcAft>
              <a:buSzPts val="1600"/>
              <a:buChar char="●"/>
            </a:pPr>
            <a:r>
              <a:rPr lang="en" sz="1600"/>
              <a:t>Its range of services includes audit, tax, consulting, enterprise risk, and financial advisory. </a:t>
            </a:r>
            <a:endParaRPr sz="1600"/>
          </a:p>
          <a:p>
            <a:pPr indent="-330200" lvl="0" marL="457200" rtl="0" algn="l">
              <a:lnSpc>
                <a:spcPct val="115000"/>
              </a:lnSpc>
              <a:spcBef>
                <a:spcPts val="1000"/>
              </a:spcBef>
              <a:spcAft>
                <a:spcPts val="0"/>
              </a:spcAft>
              <a:buSzPts val="1600"/>
              <a:buChar char="●"/>
            </a:pPr>
            <a:r>
              <a:rPr lang="en" sz="1600"/>
              <a:t>Caters to a significant majority of the companies listed in the Fortune Global 500®, which accounts for around 90 percent of them. </a:t>
            </a:r>
            <a:endParaRPr sz="1600"/>
          </a:p>
          <a:p>
            <a:pPr indent="-330200" lvl="0" marL="457200" rtl="0" algn="l">
              <a:lnSpc>
                <a:spcPct val="115000"/>
              </a:lnSpc>
              <a:spcBef>
                <a:spcPts val="1000"/>
              </a:spcBef>
              <a:spcAft>
                <a:spcPts val="0"/>
              </a:spcAft>
              <a:buSzPts val="1600"/>
              <a:buChar char="●"/>
            </a:pPr>
            <a:r>
              <a:rPr lang="en" sz="1600"/>
              <a:t>Building on more than 175 years of service, the company has a wide presence, with offices in over 150 countries, and boasts a workforce that consists of 45% female employees.</a:t>
            </a:r>
            <a:endParaRPr sz="1600"/>
          </a:p>
          <a:p>
            <a:pPr indent="-330200" lvl="0" marL="457200" rtl="0" algn="l">
              <a:lnSpc>
                <a:spcPct val="115000"/>
              </a:lnSpc>
              <a:spcBef>
                <a:spcPts val="1000"/>
              </a:spcBef>
              <a:spcAft>
                <a:spcPts val="1000"/>
              </a:spcAft>
              <a:buSzPts val="1600"/>
              <a:buChar char="●"/>
            </a:pPr>
            <a:r>
              <a:rPr lang="en" sz="1600"/>
              <a:t>“Making an impact that matters”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Company Status &amp; Eligibility</a:t>
            </a:r>
            <a:endParaRPr b="1" sz="3000"/>
          </a:p>
          <a:p>
            <a:pPr indent="0" lvl="0" marL="0" rtl="0" algn="ctr">
              <a:spcBef>
                <a:spcPts val="0"/>
              </a:spcBef>
              <a:spcAft>
                <a:spcPts val="0"/>
              </a:spcAft>
              <a:buNone/>
            </a:pPr>
            <a:r>
              <a:t/>
            </a:r>
            <a:endParaRPr b="1" sz="3000"/>
          </a:p>
          <a:p>
            <a:pPr indent="0" lvl="0" marL="0" rtl="0" algn="ctr">
              <a:spcBef>
                <a:spcPts val="0"/>
              </a:spcBef>
              <a:spcAft>
                <a:spcPts val="0"/>
              </a:spcAft>
              <a:buNone/>
            </a:pPr>
            <a:r>
              <a:t/>
            </a:r>
            <a:endParaRPr b="1" sz="3000"/>
          </a:p>
        </p:txBody>
      </p:sp>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Company Name: </a:t>
            </a:r>
            <a:r>
              <a:rPr b="1" lang="en" sz="1400"/>
              <a:t>Deloitte-USI</a:t>
            </a:r>
            <a:endParaRPr b="1" sz="1400"/>
          </a:p>
          <a:p>
            <a:pPr indent="0" lvl="0" marL="0" rtl="0" algn="l">
              <a:spcBef>
                <a:spcPts val="1200"/>
              </a:spcBef>
              <a:spcAft>
                <a:spcPts val="0"/>
              </a:spcAft>
              <a:buNone/>
            </a:pPr>
            <a:r>
              <a:rPr lang="en" sz="1400"/>
              <a:t>Company Status : </a:t>
            </a:r>
            <a:r>
              <a:rPr b="1" lang="en" sz="1400"/>
              <a:t>Dream </a:t>
            </a:r>
            <a:endParaRPr b="1" sz="1400"/>
          </a:p>
          <a:p>
            <a:pPr indent="0" lvl="0" marL="0" rtl="0" algn="l">
              <a:spcBef>
                <a:spcPts val="1200"/>
              </a:spcBef>
              <a:spcAft>
                <a:spcPts val="0"/>
              </a:spcAft>
              <a:buNone/>
            </a:pPr>
            <a:r>
              <a:rPr lang="en" sz="1400"/>
              <a:t>Eligible Branches: B.Tech/ B.E. – All Electronics/ Electrical/Instrumentation streams, Computer Science/ IT, Mechanical, Civil and Chemical streams, M.Tech – Computer Science and Engineering/IT streams, MCA</a:t>
            </a:r>
            <a:endParaRPr sz="1400"/>
          </a:p>
          <a:p>
            <a:pPr indent="0" lvl="0" marL="0" rtl="0" algn="l">
              <a:spcBef>
                <a:spcPts val="1200"/>
              </a:spcBef>
              <a:spcAft>
                <a:spcPts val="0"/>
              </a:spcAft>
              <a:buNone/>
            </a:pPr>
            <a:r>
              <a:rPr lang="en" sz="1400"/>
              <a:t>Eligibility Criteria: Aggregate 60% or CGPA of 6.5 and above , No active backlogs</a:t>
            </a:r>
            <a:endParaRPr sz="1400"/>
          </a:p>
          <a:p>
            <a:pPr indent="0" lvl="0" marL="0" rtl="0" algn="l">
              <a:spcBef>
                <a:spcPts val="1200"/>
              </a:spcBef>
              <a:spcAft>
                <a:spcPts val="0"/>
              </a:spcAft>
              <a:buNone/>
            </a:pPr>
            <a:r>
              <a:rPr lang="en" sz="1400"/>
              <a:t>Salary: CTC: </a:t>
            </a:r>
            <a:r>
              <a:rPr b="1" lang="en" sz="1400"/>
              <a:t>7.6 LPA</a:t>
            </a:r>
            <a:r>
              <a:rPr lang="en" sz="1400"/>
              <a:t> ( 6L fixed + 10% Variable + 1L Joining bonus) </a:t>
            </a:r>
            <a:endParaRPr sz="1400"/>
          </a:p>
          <a:p>
            <a:pPr indent="0" lvl="0" marL="0" rtl="0" algn="l">
              <a:spcBef>
                <a:spcPts val="1200"/>
              </a:spcBef>
              <a:spcAft>
                <a:spcPts val="0"/>
              </a:spcAft>
              <a:buNone/>
            </a:pPr>
            <a:r>
              <a:rPr lang="en" sz="1400"/>
              <a:t>Role : </a:t>
            </a:r>
            <a:r>
              <a:rPr b="1" lang="en" sz="1400"/>
              <a:t>Analyst</a:t>
            </a:r>
            <a:r>
              <a:rPr lang="en" sz="1400"/>
              <a:t> – USI Deloitte Consulting</a:t>
            </a:r>
            <a:endParaRPr sz="1400"/>
          </a:p>
          <a:p>
            <a:pPr indent="0" lvl="0" marL="0" rtl="0" algn="l">
              <a:spcBef>
                <a:spcPts val="1200"/>
              </a:spcBef>
              <a:spcAft>
                <a:spcPts val="0"/>
              </a:spcAft>
              <a:buNone/>
            </a:pPr>
            <a:r>
              <a:rPr lang="en" sz="1400"/>
              <a:t>Date of Drive:    Test Date : </a:t>
            </a:r>
            <a:r>
              <a:rPr b="1" lang="en" sz="1400"/>
              <a:t>23-Aug-2022</a:t>
            </a:r>
            <a:r>
              <a:rPr lang="en" sz="1400"/>
              <a:t> and Hiring Event Date: </a:t>
            </a:r>
            <a:r>
              <a:rPr b="1" lang="en" sz="1400"/>
              <a:t>26-Aug-2022</a:t>
            </a:r>
            <a:endParaRPr b="1" sz="1400"/>
          </a:p>
          <a:p>
            <a:pPr indent="0" lvl="0" marL="0" rtl="0" algn="l">
              <a:spcBef>
                <a:spcPts val="1200"/>
              </a:spcBef>
              <a:spcAft>
                <a:spcPts val="0"/>
              </a:spcAft>
              <a:buNone/>
            </a:pPr>
            <a:r>
              <a:t/>
            </a:r>
            <a:endParaRPr sz="1400"/>
          </a:p>
          <a:p>
            <a:pPr indent="0" lvl="0" marL="0" rtl="0" algn="l">
              <a:spcBef>
                <a:spcPts val="1200"/>
              </a:spcBef>
              <a:spcAft>
                <a:spcPts val="1200"/>
              </a:spcAft>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70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Placement Process</a:t>
            </a:r>
            <a:endParaRPr b="1" sz="3000"/>
          </a:p>
          <a:p>
            <a:pPr indent="0" lvl="0" marL="0" rtl="0" algn="ctr">
              <a:spcBef>
                <a:spcPts val="0"/>
              </a:spcBef>
              <a:spcAft>
                <a:spcPts val="0"/>
              </a:spcAft>
              <a:buNone/>
            </a:pPr>
            <a:r>
              <a:t/>
            </a:r>
            <a:endParaRPr b="1" sz="3000"/>
          </a:p>
          <a:p>
            <a:pPr indent="0" lvl="0" marL="0" rtl="0" algn="ctr">
              <a:spcBef>
                <a:spcPts val="0"/>
              </a:spcBef>
              <a:spcAft>
                <a:spcPts val="0"/>
              </a:spcAft>
              <a:buNone/>
            </a:pPr>
            <a:r>
              <a:t/>
            </a:r>
            <a:endParaRPr b="1" sz="3000"/>
          </a:p>
        </p:txBody>
      </p:sp>
      <p:sp>
        <p:nvSpPr>
          <p:cNvPr id="80" name="Google Shape;80;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t>Round 1: </a:t>
            </a:r>
            <a:r>
              <a:rPr b="1" lang="en" sz="1900"/>
              <a:t>Aptitude Test</a:t>
            </a:r>
            <a:endParaRPr b="1" sz="1900"/>
          </a:p>
          <a:p>
            <a:pPr indent="0" lvl="0" marL="0" rtl="0" algn="l">
              <a:spcBef>
                <a:spcPts val="1200"/>
              </a:spcBef>
              <a:spcAft>
                <a:spcPts val="0"/>
              </a:spcAft>
              <a:buNone/>
            </a:pPr>
            <a:r>
              <a:rPr lang="en" sz="1900"/>
              <a:t>Round 2 : Interview </a:t>
            </a:r>
            <a:r>
              <a:rPr b="1" lang="en" sz="1900"/>
              <a:t>(Technical + HR)</a:t>
            </a:r>
            <a:endParaRPr b="1" sz="1900"/>
          </a:p>
          <a:p>
            <a:pPr indent="-349250" lvl="0" marL="457200" rtl="0" algn="l">
              <a:spcBef>
                <a:spcPts val="1200"/>
              </a:spcBef>
              <a:spcAft>
                <a:spcPts val="0"/>
              </a:spcAft>
              <a:buSzPts val="1900"/>
              <a:buChar char="●"/>
            </a:pPr>
            <a:r>
              <a:rPr lang="en" sz="1900"/>
              <a:t>NO JAM (Just a minute) session</a:t>
            </a:r>
            <a:endParaRPr sz="19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3214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000"/>
              <a:t>Aptitude Test</a:t>
            </a:r>
            <a:endParaRPr b="1" sz="3000"/>
          </a:p>
          <a:p>
            <a:pPr indent="0" lvl="0" marL="0" rtl="0" algn="ctr">
              <a:spcBef>
                <a:spcPts val="0"/>
              </a:spcBef>
              <a:spcAft>
                <a:spcPts val="0"/>
              </a:spcAft>
              <a:buNone/>
            </a:pPr>
            <a:r>
              <a:t/>
            </a:r>
            <a:endParaRPr b="1" sz="3000"/>
          </a:p>
          <a:p>
            <a:pPr indent="0" lvl="0" marL="0" rtl="0" algn="ctr">
              <a:spcBef>
                <a:spcPts val="0"/>
              </a:spcBef>
              <a:spcAft>
                <a:spcPts val="0"/>
              </a:spcAft>
              <a:buNone/>
            </a:pPr>
            <a:r>
              <a:t/>
            </a:r>
            <a:endParaRPr b="1" sz="3000"/>
          </a:p>
        </p:txBody>
      </p:sp>
      <p:sp>
        <p:nvSpPr>
          <p:cNvPr id="86" name="Google Shape;86;p17"/>
          <p:cNvSpPr txBox="1"/>
          <p:nvPr>
            <p:ph idx="1" type="body"/>
          </p:nvPr>
        </p:nvSpPr>
        <p:spPr>
          <a:xfrm>
            <a:off x="311700" y="1041925"/>
            <a:ext cx="8520600" cy="3416400"/>
          </a:xfrm>
          <a:prstGeom prst="rect">
            <a:avLst/>
          </a:prstGeom>
        </p:spPr>
        <p:txBody>
          <a:bodyPr anchorCtr="0" anchor="t" bIns="91425" lIns="91425" spcFirstLastPara="1" rIns="91425" wrap="square" tIns="91425">
            <a:noAutofit/>
          </a:bodyPr>
          <a:lstStyle/>
          <a:p>
            <a:pPr indent="-317500" lvl="0" marL="457200" rtl="0" algn="l">
              <a:lnSpc>
                <a:spcPct val="105000"/>
              </a:lnSpc>
              <a:spcBef>
                <a:spcPts val="0"/>
              </a:spcBef>
              <a:spcAft>
                <a:spcPts val="0"/>
              </a:spcAft>
              <a:buSzPts val="1400"/>
              <a:buChar char="●"/>
            </a:pPr>
            <a:r>
              <a:rPr lang="en" sz="1400"/>
              <a:t>AMCAT platform is equipped with a camera and microphone </a:t>
            </a:r>
            <a:endParaRPr sz="1400"/>
          </a:p>
          <a:p>
            <a:pPr indent="-317500" lvl="0" marL="457200" rtl="0" algn="l">
              <a:lnSpc>
                <a:spcPct val="105000"/>
              </a:lnSpc>
              <a:spcBef>
                <a:spcPts val="1000"/>
              </a:spcBef>
              <a:spcAft>
                <a:spcPts val="0"/>
              </a:spcAft>
              <a:buSzPts val="1400"/>
              <a:buChar char="●"/>
            </a:pPr>
            <a:r>
              <a:rPr lang="en" sz="1400"/>
              <a:t>Divided into sections, namely verbal, logical, and quantitative. </a:t>
            </a:r>
            <a:endParaRPr sz="1400"/>
          </a:p>
          <a:p>
            <a:pPr indent="-317500" lvl="0" marL="457200" rtl="0" algn="l">
              <a:lnSpc>
                <a:spcPct val="105000"/>
              </a:lnSpc>
              <a:spcBef>
                <a:spcPts val="1000"/>
              </a:spcBef>
              <a:spcAft>
                <a:spcPts val="0"/>
              </a:spcAft>
              <a:buSzPts val="1400"/>
              <a:buChar char="●"/>
            </a:pPr>
            <a:r>
              <a:rPr lang="en" sz="1400"/>
              <a:t>Total of 75 questions, with 25 questions in each section. </a:t>
            </a:r>
            <a:endParaRPr sz="1400"/>
          </a:p>
          <a:p>
            <a:pPr indent="-317500" lvl="0" marL="457200" rtl="0" algn="l">
              <a:lnSpc>
                <a:spcPct val="105000"/>
              </a:lnSpc>
              <a:spcBef>
                <a:spcPts val="1000"/>
              </a:spcBef>
              <a:spcAft>
                <a:spcPts val="0"/>
              </a:spcAft>
              <a:buSzPts val="1400"/>
              <a:buChar char="●"/>
            </a:pPr>
            <a:r>
              <a:rPr lang="en" sz="1400"/>
              <a:t>Test duration is 90 minutes, and it follows a progressive format where the answer to a previous question cannot be changed. </a:t>
            </a:r>
            <a:endParaRPr sz="1400"/>
          </a:p>
          <a:p>
            <a:pPr indent="-317500" lvl="0" marL="457200" rtl="0" algn="l">
              <a:lnSpc>
                <a:spcPct val="105000"/>
              </a:lnSpc>
              <a:spcBef>
                <a:spcPts val="1000"/>
              </a:spcBef>
              <a:spcAft>
                <a:spcPts val="0"/>
              </a:spcAft>
              <a:buSzPts val="1400"/>
              <a:buChar char="●"/>
            </a:pPr>
            <a:r>
              <a:rPr lang="en" sz="1400"/>
              <a:t>Does not include coding questions and has no negative marking. </a:t>
            </a:r>
            <a:endParaRPr sz="1400"/>
          </a:p>
          <a:p>
            <a:pPr indent="-317500" lvl="0" marL="457200" rtl="0" algn="l">
              <a:lnSpc>
                <a:spcPct val="105000"/>
              </a:lnSpc>
              <a:spcBef>
                <a:spcPts val="1000"/>
              </a:spcBef>
              <a:spcAft>
                <a:spcPts val="0"/>
              </a:spcAft>
              <a:buSzPts val="1400"/>
              <a:buChar char="●"/>
            </a:pPr>
            <a:r>
              <a:rPr lang="en" sz="1400"/>
              <a:t>Preparation resources - R.S. Aggarwal and IndiaBix. </a:t>
            </a:r>
            <a:endParaRPr sz="1400"/>
          </a:p>
          <a:p>
            <a:pPr indent="-317500" lvl="0" marL="457200" rtl="0" algn="l">
              <a:lnSpc>
                <a:spcPct val="105000"/>
              </a:lnSpc>
              <a:spcBef>
                <a:spcPts val="1000"/>
              </a:spcBef>
              <a:spcAft>
                <a:spcPts val="0"/>
              </a:spcAft>
              <a:buSzPts val="1400"/>
              <a:buChar char="●"/>
            </a:pPr>
            <a:r>
              <a:rPr lang="en" sz="1400"/>
              <a:t>It is advisable to keep track of time while solving questions. </a:t>
            </a:r>
            <a:endParaRPr sz="1400"/>
          </a:p>
          <a:p>
            <a:pPr indent="-317500" lvl="0" marL="457200" rtl="0" algn="l">
              <a:lnSpc>
                <a:spcPct val="105000"/>
              </a:lnSpc>
              <a:spcBef>
                <a:spcPts val="1000"/>
              </a:spcBef>
              <a:spcAft>
                <a:spcPts val="0"/>
              </a:spcAft>
              <a:buSzPts val="1400"/>
              <a:buChar char="●"/>
            </a:pPr>
            <a:r>
              <a:rPr lang="en" sz="1400"/>
              <a:t>The test is of easy to medium difficulty level and covers topics such as speed and time, profit and loss, percentage, trains, directions, and basic verbal questions related to vocabulary and grammar. </a:t>
            </a:r>
            <a:endParaRPr sz="1400"/>
          </a:p>
          <a:p>
            <a:pPr indent="-317500" lvl="0" marL="457200" rtl="0" algn="l">
              <a:lnSpc>
                <a:spcPct val="105000"/>
              </a:lnSpc>
              <a:spcBef>
                <a:spcPts val="1000"/>
              </a:spcBef>
              <a:spcAft>
                <a:spcPts val="1000"/>
              </a:spcAft>
              <a:buSzPts val="1400"/>
              <a:buChar char="●"/>
            </a:pPr>
            <a:r>
              <a:rPr lang="en" sz="1400"/>
              <a:t>134 students had been shortlisted for the interviews.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510450" y="2043450"/>
            <a:ext cx="8123100" cy="77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4800"/>
              <a:t>Drishti Katiyara</a:t>
            </a:r>
            <a:endParaRPr b="1" sz="4800"/>
          </a:p>
        </p:txBody>
      </p:sp>
      <p:sp>
        <p:nvSpPr>
          <p:cNvPr id="92" name="Google Shape;92;p18"/>
          <p:cNvSpPr txBox="1"/>
          <p:nvPr/>
        </p:nvSpPr>
        <p:spPr>
          <a:xfrm>
            <a:off x="2557800" y="3178075"/>
            <a:ext cx="4028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3111"/>
              <a:buFont typeface="Arial"/>
              <a:buNone/>
            </a:pPr>
            <a:r>
              <a:rPr lang="en" sz="2400">
                <a:solidFill>
                  <a:schemeClr val="lt1"/>
                </a:solidFill>
                <a:latin typeface="Proxima Nova Extrabold"/>
                <a:ea typeface="Proxima Nova Extrabold"/>
                <a:cs typeface="Proxima Nova Extrabold"/>
                <a:sym typeface="Proxima Nova Extrabold"/>
              </a:rPr>
              <a:t>Interview Experience</a:t>
            </a:r>
            <a:endParaRPr sz="2400">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idx="1" type="body"/>
          </p:nvPr>
        </p:nvSpPr>
        <p:spPr>
          <a:xfrm>
            <a:off x="311700" y="223025"/>
            <a:ext cx="8520600" cy="4781100"/>
          </a:xfrm>
          <a:prstGeom prst="rect">
            <a:avLst/>
          </a:prstGeom>
        </p:spPr>
        <p:txBody>
          <a:bodyPr anchorCtr="0" anchor="t" bIns="91425" lIns="91425" spcFirstLastPara="1" rIns="91425" wrap="square" tIns="91425">
            <a:noAutofit/>
          </a:bodyPr>
          <a:lstStyle/>
          <a:p>
            <a:pPr indent="-321310" lvl="0" marL="457200" rtl="0" algn="l">
              <a:lnSpc>
                <a:spcPct val="105000"/>
              </a:lnSpc>
              <a:spcBef>
                <a:spcPts val="0"/>
              </a:spcBef>
              <a:spcAft>
                <a:spcPts val="0"/>
              </a:spcAft>
              <a:buSzPts val="1460"/>
              <a:buChar char="●"/>
            </a:pPr>
            <a:r>
              <a:rPr lang="en" sz="1460"/>
              <a:t>Interview was conducted via Zoom meeting with Deloitte</a:t>
            </a:r>
            <a:endParaRPr sz="1460"/>
          </a:p>
          <a:p>
            <a:pPr indent="-321310" lvl="0" marL="457200" rtl="0" algn="l">
              <a:lnSpc>
                <a:spcPct val="105000"/>
              </a:lnSpc>
              <a:spcBef>
                <a:spcPts val="1000"/>
              </a:spcBef>
              <a:spcAft>
                <a:spcPts val="0"/>
              </a:spcAft>
              <a:buSzPts val="1460"/>
              <a:buChar char="●"/>
            </a:pPr>
            <a:r>
              <a:rPr lang="en" sz="1460"/>
              <a:t>Interviewer was friendly and put me at ease</a:t>
            </a:r>
            <a:endParaRPr sz="1460"/>
          </a:p>
          <a:p>
            <a:pPr indent="-321310" lvl="0" marL="457200" rtl="0" algn="l">
              <a:lnSpc>
                <a:spcPct val="105000"/>
              </a:lnSpc>
              <a:spcBef>
                <a:spcPts val="1000"/>
              </a:spcBef>
              <a:spcAft>
                <a:spcPts val="0"/>
              </a:spcAft>
              <a:buSzPts val="1460"/>
              <a:buChar char="●"/>
            </a:pPr>
            <a:r>
              <a:rPr lang="en" sz="1460"/>
              <a:t>Interview started with "Tell me about yourself" question</a:t>
            </a:r>
            <a:endParaRPr sz="1460"/>
          </a:p>
          <a:p>
            <a:pPr indent="-321310" lvl="0" marL="457200" rtl="0" algn="l">
              <a:lnSpc>
                <a:spcPct val="105000"/>
              </a:lnSpc>
              <a:spcBef>
                <a:spcPts val="1000"/>
              </a:spcBef>
              <a:spcAft>
                <a:spcPts val="0"/>
              </a:spcAft>
              <a:buSzPts val="1460"/>
              <a:buChar char="●"/>
            </a:pPr>
            <a:r>
              <a:rPr lang="en" sz="1460"/>
              <a:t>Previous internships and co-curricular activities were discussed to understand my experience and capabilities</a:t>
            </a:r>
            <a:endParaRPr sz="1460"/>
          </a:p>
          <a:p>
            <a:pPr indent="-321310" lvl="0" marL="457200" rtl="0" algn="l">
              <a:lnSpc>
                <a:spcPct val="105000"/>
              </a:lnSpc>
              <a:spcBef>
                <a:spcPts val="1000"/>
              </a:spcBef>
              <a:spcAft>
                <a:spcPts val="0"/>
              </a:spcAft>
              <a:buSzPts val="1460"/>
              <a:buChar char="●"/>
            </a:pPr>
            <a:r>
              <a:rPr lang="en" sz="1460"/>
              <a:t>Each project in my resume was inquired about, giving me a chance to elaborate on my work and technical skills</a:t>
            </a:r>
            <a:endParaRPr sz="1460"/>
          </a:p>
          <a:p>
            <a:pPr indent="-321310" lvl="0" marL="457200" rtl="0" algn="l">
              <a:lnSpc>
                <a:spcPct val="105000"/>
              </a:lnSpc>
              <a:spcBef>
                <a:spcPts val="1000"/>
              </a:spcBef>
              <a:spcAft>
                <a:spcPts val="0"/>
              </a:spcAft>
              <a:buSzPts val="1460"/>
              <a:buChar char="●"/>
            </a:pPr>
            <a:r>
              <a:rPr lang="en" sz="1460"/>
              <a:t>Why I was interested in working with Deloitte and my goals were discussed</a:t>
            </a:r>
            <a:endParaRPr sz="1460"/>
          </a:p>
          <a:p>
            <a:pPr indent="-321310" lvl="0" marL="457200" rtl="0" algn="l">
              <a:lnSpc>
                <a:spcPct val="105000"/>
              </a:lnSpc>
              <a:spcBef>
                <a:spcPts val="1000"/>
              </a:spcBef>
              <a:spcAft>
                <a:spcPts val="0"/>
              </a:spcAft>
              <a:buSzPts val="1460"/>
              <a:buChar char="●"/>
            </a:pPr>
            <a:r>
              <a:rPr lang="en" sz="1460"/>
              <a:t>2-3 SQL queries were asked to test my technical skills and knowledge</a:t>
            </a:r>
            <a:endParaRPr sz="1460"/>
          </a:p>
          <a:p>
            <a:pPr indent="-321310" lvl="0" marL="457200" rtl="0" algn="l">
              <a:lnSpc>
                <a:spcPct val="105000"/>
              </a:lnSpc>
              <a:spcBef>
                <a:spcPts val="1000"/>
              </a:spcBef>
              <a:spcAft>
                <a:spcPts val="0"/>
              </a:spcAft>
              <a:buSzPts val="1460"/>
              <a:buChar char="●"/>
            </a:pPr>
            <a:r>
              <a:rPr lang="en" sz="1460"/>
              <a:t>Difficulty level was rated as easy, allowing me to answer with confidence and demonstrate communication skills</a:t>
            </a:r>
            <a:endParaRPr sz="1460"/>
          </a:p>
          <a:p>
            <a:pPr indent="-321310" lvl="0" marL="457200" rtl="0" algn="l">
              <a:lnSpc>
                <a:spcPct val="105000"/>
              </a:lnSpc>
              <a:spcBef>
                <a:spcPts val="1000"/>
              </a:spcBef>
              <a:spcAft>
                <a:spcPts val="0"/>
              </a:spcAft>
              <a:buSzPts val="1460"/>
              <a:buChar char="●"/>
            </a:pPr>
            <a:r>
              <a:rPr lang="en" sz="1460"/>
              <a:t>Advised to maintain good communication and answer confidently</a:t>
            </a:r>
            <a:endParaRPr sz="1460"/>
          </a:p>
          <a:p>
            <a:pPr indent="-321310" lvl="0" marL="457200" rtl="0" algn="l">
              <a:lnSpc>
                <a:spcPct val="105000"/>
              </a:lnSpc>
              <a:spcBef>
                <a:spcPts val="1000"/>
              </a:spcBef>
              <a:spcAft>
                <a:spcPts val="0"/>
              </a:spcAft>
              <a:buSzPts val="1460"/>
              <a:buChar char="●"/>
            </a:pPr>
            <a:r>
              <a:rPr lang="en" sz="1460"/>
              <a:t>Encouraged to ask relevant questions to show enthusiasm and interest in the role</a:t>
            </a:r>
            <a:endParaRPr sz="1460"/>
          </a:p>
          <a:p>
            <a:pPr indent="-321310" lvl="0" marL="457200" rtl="0" algn="l">
              <a:lnSpc>
                <a:spcPct val="105000"/>
              </a:lnSpc>
              <a:spcBef>
                <a:spcPts val="1000"/>
              </a:spcBef>
              <a:spcAft>
                <a:spcPts val="1000"/>
              </a:spcAft>
              <a:buSzPts val="1460"/>
              <a:buChar char="●"/>
            </a:pPr>
            <a:r>
              <a:rPr lang="en" sz="1460"/>
              <a:t>Positive interview experience, opportunity to showcase skills and capabilities</a:t>
            </a:r>
            <a:endParaRPr sz="146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t>Khushboo Dalwani</a:t>
            </a:r>
            <a:endParaRPr b="1"/>
          </a:p>
        </p:txBody>
      </p:sp>
      <p:sp>
        <p:nvSpPr>
          <p:cNvPr id="103" name="Google Shape;103;p20"/>
          <p:cNvSpPr txBox="1"/>
          <p:nvPr/>
        </p:nvSpPr>
        <p:spPr>
          <a:xfrm>
            <a:off x="2186000" y="3088125"/>
            <a:ext cx="4878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3111"/>
              <a:buFont typeface="Arial"/>
              <a:buNone/>
            </a:pPr>
            <a:r>
              <a:rPr lang="en" sz="2400">
                <a:solidFill>
                  <a:schemeClr val="lt1"/>
                </a:solidFill>
                <a:latin typeface="Proxima Nova"/>
                <a:ea typeface="Proxima Nova"/>
                <a:cs typeface="Proxima Nova"/>
                <a:sym typeface="Proxima Nova"/>
              </a:rPr>
              <a:t>Interview Experience</a:t>
            </a:r>
            <a:endParaRPr>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idx="1" type="body"/>
          </p:nvPr>
        </p:nvSpPr>
        <p:spPr>
          <a:xfrm>
            <a:off x="311700" y="177600"/>
            <a:ext cx="8520600" cy="4965900"/>
          </a:xfrm>
          <a:prstGeom prst="rect">
            <a:avLst/>
          </a:prstGeom>
        </p:spPr>
        <p:txBody>
          <a:bodyPr anchorCtr="0" anchor="t" bIns="91425" lIns="91425" spcFirstLastPara="1" rIns="91425" wrap="square" tIns="91425">
            <a:normAutofit fontScale="92500" lnSpcReduction="20000"/>
          </a:bodyPr>
          <a:lstStyle/>
          <a:p>
            <a:pPr indent="-314356" lvl="0" marL="457200" rtl="0" algn="l">
              <a:lnSpc>
                <a:spcPct val="105000"/>
              </a:lnSpc>
              <a:spcBef>
                <a:spcPts val="0"/>
              </a:spcBef>
              <a:spcAft>
                <a:spcPts val="0"/>
              </a:spcAft>
              <a:buSzPct val="100000"/>
              <a:buChar char="●"/>
            </a:pPr>
            <a:r>
              <a:rPr lang="en" sz="1460"/>
              <a:t>Interview was conducted via Zoom meeting with Deloitte</a:t>
            </a:r>
            <a:endParaRPr sz="1460"/>
          </a:p>
          <a:p>
            <a:pPr indent="-314356" lvl="0" marL="457200" rtl="0" algn="l">
              <a:lnSpc>
                <a:spcPct val="105000"/>
              </a:lnSpc>
              <a:spcBef>
                <a:spcPts val="1000"/>
              </a:spcBef>
              <a:spcAft>
                <a:spcPts val="0"/>
              </a:spcAft>
              <a:buSzPct val="100000"/>
              <a:buChar char="●"/>
            </a:pPr>
            <a:r>
              <a:rPr lang="en" sz="1460"/>
              <a:t>Interviewer first asked me to share my screen and show Resume.</a:t>
            </a:r>
            <a:endParaRPr sz="1460"/>
          </a:p>
          <a:p>
            <a:pPr indent="-314356" lvl="0" marL="457200" rtl="0" algn="l">
              <a:lnSpc>
                <a:spcPct val="105000"/>
              </a:lnSpc>
              <a:spcBef>
                <a:spcPts val="1000"/>
              </a:spcBef>
              <a:spcAft>
                <a:spcPts val="0"/>
              </a:spcAft>
              <a:buSzPct val="100000"/>
              <a:buChar char="●"/>
            </a:pPr>
            <a:r>
              <a:rPr lang="en" sz="1460"/>
              <a:t>Interviewer asked me to elaborate on my Internship and what was my role there.</a:t>
            </a:r>
            <a:endParaRPr sz="1460"/>
          </a:p>
          <a:p>
            <a:pPr indent="-314356" lvl="0" marL="457200" rtl="0" algn="l">
              <a:lnSpc>
                <a:spcPct val="115000"/>
              </a:lnSpc>
              <a:spcBef>
                <a:spcPts val="1000"/>
              </a:spcBef>
              <a:spcAft>
                <a:spcPts val="0"/>
              </a:spcAft>
              <a:buSzPct val="100000"/>
              <a:buChar char="●"/>
            </a:pPr>
            <a:r>
              <a:rPr lang="en" sz="1460"/>
              <a:t>One coding question was asked to do: Program for printing equilateral triangle in any language you are comfortable in.</a:t>
            </a:r>
            <a:endParaRPr sz="1460"/>
          </a:p>
          <a:p>
            <a:pPr indent="-314356" lvl="0" marL="457200" rtl="0" algn="l">
              <a:lnSpc>
                <a:spcPct val="115000"/>
              </a:lnSpc>
              <a:spcBef>
                <a:spcPts val="1000"/>
              </a:spcBef>
              <a:spcAft>
                <a:spcPts val="0"/>
              </a:spcAft>
              <a:buSzPct val="100000"/>
              <a:buChar char="●"/>
            </a:pPr>
            <a:r>
              <a:rPr lang="en" sz="1460"/>
              <a:t>I was able to complete the code in Java. (completing the code is important as few students who could not complete were not selected)</a:t>
            </a:r>
            <a:endParaRPr sz="1460"/>
          </a:p>
          <a:p>
            <a:pPr indent="-314356" lvl="0" marL="457200" rtl="0" algn="l">
              <a:lnSpc>
                <a:spcPct val="115000"/>
              </a:lnSpc>
              <a:spcBef>
                <a:spcPts val="1000"/>
              </a:spcBef>
              <a:spcAft>
                <a:spcPts val="0"/>
              </a:spcAft>
              <a:buSzPct val="100000"/>
              <a:buChar char="●"/>
            </a:pPr>
            <a:r>
              <a:rPr lang="en" sz="1460"/>
              <a:t>Then I was asked about my strengths and weaknesses, Interviewer grilled me alot on my weakness.</a:t>
            </a:r>
            <a:endParaRPr sz="1460"/>
          </a:p>
          <a:p>
            <a:pPr indent="-314356" lvl="0" marL="457200" rtl="0" algn="l">
              <a:lnSpc>
                <a:spcPct val="105000"/>
              </a:lnSpc>
              <a:spcBef>
                <a:spcPts val="1000"/>
              </a:spcBef>
              <a:spcAft>
                <a:spcPts val="0"/>
              </a:spcAft>
              <a:buSzPct val="100000"/>
              <a:buChar char="●"/>
            </a:pPr>
            <a:r>
              <a:rPr lang="en" sz="1460"/>
              <a:t>Interviewer asked me alot of scenario based questions. Keep in mind to think practical rather than ideal as they don’t need ideal solutions</a:t>
            </a:r>
            <a:endParaRPr sz="1460"/>
          </a:p>
          <a:p>
            <a:pPr indent="-314356" lvl="0" marL="457200" rtl="0" algn="l">
              <a:lnSpc>
                <a:spcPct val="105000"/>
              </a:lnSpc>
              <a:spcBef>
                <a:spcPts val="1000"/>
              </a:spcBef>
              <a:spcAft>
                <a:spcPts val="0"/>
              </a:spcAft>
              <a:buSzPct val="100000"/>
              <a:buChar char="●"/>
            </a:pPr>
            <a:r>
              <a:rPr lang="en" sz="1460"/>
              <a:t>My interview was 30mins long and it was majorly focused on my thinking skills, ability to solve any problem.</a:t>
            </a:r>
            <a:endParaRPr sz="1460"/>
          </a:p>
          <a:p>
            <a:pPr indent="-314356" lvl="0" marL="457200" rtl="0" algn="l">
              <a:lnSpc>
                <a:spcPct val="105000"/>
              </a:lnSpc>
              <a:spcBef>
                <a:spcPts val="1000"/>
              </a:spcBef>
              <a:spcAft>
                <a:spcPts val="0"/>
              </a:spcAft>
              <a:buSzPct val="100000"/>
              <a:buChar char="●"/>
            </a:pPr>
            <a:r>
              <a:rPr lang="en" sz="1460"/>
              <a:t>Advised to keep your c and java basics clear as few students were asked about the important basics of c like pointers, structure etc. </a:t>
            </a:r>
            <a:endParaRPr sz="1460"/>
          </a:p>
          <a:p>
            <a:pPr indent="-314356" lvl="0" marL="457200" rtl="0" algn="l">
              <a:lnSpc>
                <a:spcPct val="105000"/>
              </a:lnSpc>
              <a:spcBef>
                <a:spcPts val="1000"/>
              </a:spcBef>
              <a:spcAft>
                <a:spcPts val="0"/>
              </a:spcAft>
              <a:buSzPct val="100000"/>
              <a:buChar char="●"/>
            </a:pPr>
            <a:r>
              <a:rPr lang="en" sz="1460"/>
              <a:t>Advised to maintain good communication and answer confidently</a:t>
            </a:r>
            <a:endParaRPr sz="1460"/>
          </a:p>
          <a:p>
            <a:pPr indent="-314356" lvl="0" marL="457200" rtl="0" algn="l">
              <a:lnSpc>
                <a:spcPct val="105000"/>
              </a:lnSpc>
              <a:spcBef>
                <a:spcPts val="1000"/>
              </a:spcBef>
              <a:spcAft>
                <a:spcPts val="0"/>
              </a:spcAft>
              <a:buSzPct val="100000"/>
              <a:buChar char="●"/>
            </a:pPr>
            <a:r>
              <a:rPr lang="en" sz="1460"/>
              <a:t>Encouraged to ask relevant questions to show enthusiasm and interest in the role</a:t>
            </a:r>
            <a:endParaRPr sz="1460"/>
          </a:p>
          <a:p>
            <a:pPr indent="-314356" lvl="0" marL="457200" rtl="0" algn="l">
              <a:lnSpc>
                <a:spcPct val="105000"/>
              </a:lnSpc>
              <a:spcBef>
                <a:spcPts val="1000"/>
              </a:spcBef>
              <a:spcAft>
                <a:spcPts val="1000"/>
              </a:spcAft>
              <a:buSzPct val="100000"/>
              <a:buChar char="●"/>
            </a:pPr>
            <a:r>
              <a:rPr lang="en" sz="1460"/>
              <a:t>Positive interview experience, opportunity to showcase skills and capabilities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35175" y="1591500"/>
            <a:ext cx="4045200" cy="196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i="1" lang="en" sz="6000">
                <a:latin typeface="Barlow"/>
                <a:ea typeface="Barlow"/>
                <a:cs typeface="Barlow"/>
                <a:sym typeface="Barlow"/>
              </a:rPr>
              <a:t>THANK </a:t>
            </a:r>
            <a:endParaRPr b="1" i="1" sz="6000">
              <a:latin typeface="Barlow"/>
              <a:ea typeface="Barlow"/>
              <a:cs typeface="Barlow"/>
              <a:sym typeface="Barlow"/>
            </a:endParaRPr>
          </a:p>
          <a:p>
            <a:pPr indent="0" lvl="0" marL="0" rtl="0" algn="ctr">
              <a:spcBef>
                <a:spcPts val="0"/>
              </a:spcBef>
              <a:spcAft>
                <a:spcPts val="0"/>
              </a:spcAft>
              <a:buNone/>
            </a:pPr>
            <a:r>
              <a:rPr b="1" i="1" lang="en" sz="6000">
                <a:latin typeface="Barlow"/>
                <a:ea typeface="Barlow"/>
                <a:cs typeface="Barlow"/>
                <a:sym typeface="Barlow"/>
              </a:rPr>
              <a:t>YOU!!</a:t>
            </a:r>
            <a:endParaRPr b="1" i="1" sz="6000">
              <a:latin typeface="Barlow"/>
              <a:ea typeface="Barlow"/>
              <a:cs typeface="Barlow"/>
              <a:sym typeface="Barlow"/>
            </a:endParaRPr>
          </a:p>
        </p:txBody>
      </p:sp>
      <p:sp>
        <p:nvSpPr>
          <p:cNvPr id="114" name="Google Shape;114;p22"/>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fontScale="85000" lnSpcReduction="10000"/>
          </a:bodyPr>
          <a:lstStyle/>
          <a:p>
            <a:pPr indent="0" lvl="0" marL="0" rtl="0" algn="l">
              <a:spcBef>
                <a:spcPts val="0"/>
              </a:spcBef>
              <a:spcAft>
                <a:spcPts val="0"/>
              </a:spcAft>
              <a:buNone/>
            </a:pPr>
            <a:r>
              <a:rPr lang="en"/>
              <a:t>Contact Details</a:t>
            </a:r>
            <a:r>
              <a:rPr lang="en"/>
              <a:t>:</a:t>
            </a:r>
            <a:endParaRPr/>
          </a:p>
          <a:p>
            <a:pPr indent="0" lvl="0" marL="0" rtl="0" algn="l">
              <a:spcBef>
                <a:spcPts val="1200"/>
              </a:spcBef>
              <a:spcAft>
                <a:spcPts val="0"/>
              </a:spcAft>
              <a:buNone/>
            </a:pPr>
            <a:r>
              <a:rPr lang="en"/>
              <a:t>Drishti Katiyara </a:t>
            </a:r>
            <a:endParaRPr/>
          </a:p>
          <a:p>
            <a:pPr indent="0" lvl="0" marL="0" rtl="0" algn="l">
              <a:spcBef>
                <a:spcPts val="1200"/>
              </a:spcBef>
              <a:spcAft>
                <a:spcPts val="0"/>
              </a:spcAft>
              <a:buNone/>
            </a:pPr>
            <a:r>
              <a:rPr lang="en"/>
              <a:t>Whatsapp- 8976051759</a:t>
            </a:r>
            <a:endParaRPr/>
          </a:p>
          <a:p>
            <a:pPr indent="0" lvl="0" marL="0" rtl="0" algn="l">
              <a:spcBef>
                <a:spcPts val="1200"/>
              </a:spcBef>
              <a:spcAft>
                <a:spcPts val="0"/>
              </a:spcAft>
              <a:buNone/>
            </a:pPr>
            <a:r>
              <a:rPr lang="en"/>
              <a:t>Email- </a:t>
            </a:r>
            <a:r>
              <a:rPr b="1" lang="en" u="sng">
                <a:hlinkClick r:id="rId3"/>
              </a:rPr>
              <a:t>2019drishti.katiyara@ves.ac.in</a:t>
            </a:r>
            <a:endParaRPr/>
          </a:p>
          <a:p>
            <a:pPr indent="0" lvl="0" marL="0" rtl="0" algn="l">
              <a:spcBef>
                <a:spcPts val="1200"/>
              </a:spcBef>
              <a:spcAft>
                <a:spcPts val="0"/>
              </a:spcAft>
              <a:buNone/>
            </a:pPr>
            <a:r>
              <a:rPr lang="en"/>
              <a:t>Khushboo Dalwani</a:t>
            </a:r>
            <a:r>
              <a:rPr lang="en"/>
              <a:t> </a:t>
            </a:r>
            <a:endParaRPr/>
          </a:p>
          <a:p>
            <a:pPr indent="0" lvl="0" marL="0" rtl="0" algn="l">
              <a:spcBef>
                <a:spcPts val="1200"/>
              </a:spcBef>
              <a:spcAft>
                <a:spcPts val="0"/>
              </a:spcAft>
              <a:buNone/>
            </a:pPr>
            <a:r>
              <a:rPr lang="en"/>
              <a:t>Whatsapp- 8793994887</a:t>
            </a:r>
            <a:endParaRPr/>
          </a:p>
          <a:p>
            <a:pPr indent="0" lvl="0" marL="0" rtl="0" algn="l">
              <a:spcBef>
                <a:spcPts val="1200"/>
              </a:spcBef>
              <a:spcAft>
                <a:spcPts val="0"/>
              </a:spcAft>
              <a:buNone/>
            </a:pPr>
            <a:r>
              <a:rPr lang="en"/>
              <a:t>Email- </a:t>
            </a:r>
            <a:r>
              <a:rPr b="1" lang="en"/>
              <a:t>2019khushboo.dalwani@ves.ac.in</a:t>
            </a:r>
            <a:r>
              <a:rPr lang="en"/>
              <a:t> </a:t>
            </a:r>
            <a:endParaRPr/>
          </a:p>
          <a:p>
            <a:pPr indent="0" lvl="0" marL="0" rtl="0" algn="l">
              <a:spcBef>
                <a:spcPts val="1200"/>
              </a:spcBef>
              <a:spcAft>
                <a:spcPts val="0"/>
              </a:spcAft>
              <a:buNone/>
            </a:pPr>
            <a:r>
              <a:rPr lang="en"/>
              <a:t> </a:t>
            </a:r>
            <a:endParaRPr/>
          </a:p>
          <a:p>
            <a:pPr indent="0" lvl="0" marL="0" rtl="0" algn="l">
              <a:spcBef>
                <a:spcPts val="1200"/>
              </a:spcBef>
              <a:spcAft>
                <a:spcPts val="1200"/>
              </a:spcAft>
              <a:buNone/>
            </a:pPr>
            <a:r>
              <a:t/>
            </a:r>
            <a:endParaRPr/>
          </a:p>
        </p:txBody>
      </p:sp>
      <p:sp>
        <p:nvSpPr>
          <p:cNvPr id="115" name="Google Shape;115;p22"/>
          <p:cNvSpPr txBox="1"/>
          <p:nvPr/>
        </p:nvSpPr>
        <p:spPr>
          <a:xfrm>
            <a:off x="0" y="2038927"/>
            <a:ext cx="9144000" cy="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